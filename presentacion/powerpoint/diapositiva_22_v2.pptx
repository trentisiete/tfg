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421828356b48fb" /><Relationship Type="http://schemas.openxmlformats.org/officeDocument/2006/relationships/extended-properties" Target="/docProps/app.xml" Id="R2b2a9d6d5cf2483b" /><Relationship Type="http://schemas.openxmlformats.org/officeDocument/2006/relationships/officeDocument" Target="/ppt/presentation.xml" Id="R4312c6c422854e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4ecfbffbb040d7"/>
  </p:sldMasterIdLst>
  <p:notesMasterIdLst>
    <p:notesMasterId xmlns:r="http://schemas.openxmlformats.org/officeDocument/2006/relationships" r:id="Ra471960c1bc74b13"/>
  </p:notesMasterIdLst>
  <p:sldIdLst>
    <p:sldId xmlns:r="http://schemas.openxmlformats.org/officeDocument/2006/relationships" id="256" r:id="R13d404550fa64f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844bbcb93a4931" /><Relationship Type="http://schemas.openxmlformats.org/officeDocument/2006/relationships/slideMaster" Target="/ppt/slideMasters/slideMaster1.xml" Id="R8f4ecfbffbb040d7" /><Relationship Type="http://schemas.openxmlformats.org/officeDocument/2006/relationships/notesMaster" Target="/ppt/notesMasters/notesMaster1.xml" Id="Ra471960c1bc74b13" /><Relationship Type="http://schemas.openxmlformats.org/officeDocument/2006/relationships/presProps" Target="/ppt/presProps.xml" Id="R15b103b69f614fa5" /><Relationship Type="http://schemas.openxmlformats.org/officeDocument/2006/relationships/tableStyles" Target="/ppt/tableStyles.xml" Id="R607ff5f04322461f" /><Relationship Type="http://schemas.openxmlformats.org/officeDocument/2006/relationships/slide" Target="/ppt/slides/slide1.xml" Id="R13d404550fa64f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208f9cf05545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dd360ff3864c07" /><Relationship Type="http://schemas.openxmlformats.org/officeDocument/2006/relationships/notesMaster" Target="/ppt/notesMasters/notesMaster1.xml" Id="Rd6687b3e598e47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ab6f67fc84c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86569db2b5416e" /><Relationship Type="http://schemas.openxmlformats.org/officeDocument/2006/relationships/slideLayout" Target="/ppt/slideLayouts/slideLayout1.xml" Id="R46f207e5fe664f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f207e5fe664f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49e22541440b9" /><Relationship Type="http://schemas.openxmlformats.org/officeDocument/2006/relationships/image" Target="/ppt/media/image.png" Id="R9b39ae411c8f4d24" /><Relationship Type="http://schemas.openxmlformats.org/officeDocument/2006/relationships/notesSlide" Target="/ppt/notesSlides/notesSlide1.xml" Id="R19b4ea719d1140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761DFCA-9C7C-48EB-929D-4EB6CBC3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REAL / RESULTADOS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B1A8D0-75F5-4D36-80BE-280B6E50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1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71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Incertidumbre y pre-infill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446284B-E293-4E4B-A9E0-63F451CF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6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GP transforma predicción e incertidumbre en candidatos, pero las propuestas siguen siendo hipótesis experimentales.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0FC3F4-3497-4A69-ABFB-CED423E6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22</a:t>
            </a:r>
          </a:p>
        </p:txBody>
      </p:sp>
      <p:sp>
        <p:nvSpPr>
          <p:cNvPr id="5" name="uncertainty-title">
            <a:extLst xmlns:a="http://schemas.openxmlformats.org/drawingml/2006/main">
              <a:ext uri="{FF2B5EF4-FFF2-40B4-BE49-F238E27FC236}">
                <a16:creationId xmlns:a16="http://schemas.microsoft.com/office/drawing/2014/main" id="{CDBFEDB1-79FA-4152-A37C-9BA157ED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77863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Incertidumbre predictiva</a:t>
            </a:r>
          </a:p>
        </p:txBody>
      </p:sp>
      <p:sp>
        <p:nvSpPr>
          <p:cNvPr id="6" name="uncertainty-note">
            <a:extLst xmlns:a="http://schemas.openxmlformats.org/drawingml/2006/main">
              <a:ext uri="{FF2B5EF4-FFF2-40B4-BE49-F238E27FC236}">
                <a16:creationId xmlns:a16="http://schemas.microsoft.com/office/drawing/2014/main" id="{15D8B696-FEC1-4BA5-9631-427401F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924050"/>
            <a:ext cx="2189226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diagnóstico LODO</a:t>
            </a:r>
          </a:p>
        </p:txBody>
      </p:sp>
      <p:sp>
        <p:nvSpPr>
          <p:cNvPr id="7" name="uncertainty-rule">
            <a:extLst xmlns:a="http://schemas.openxmlformats.org/drawingml/2006/main">
              <a:ext uri="{FF2B5EF4-FFF2-40B4-BE49-F238E27FC236}">
                <a16:creationId xmlns:a16="http://schemas.microsoft.com/office/drawing/2014/main" id="{1DAE9076-23A3-44D6-A999-842B21EC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21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9ae411c8f4d24"/>
          <a:stretch xmlns:a="http://schemas.openxmlformats.org/drawingml/2006/main"/>
        </p:blipFill>
        <p:spPr>
          <a:xfrm xmlns:a="http://schemas.openxmlformats.org/drawingml/2006/main">
            <a:off x="552450" y="2256358"/>
            <a:ext cx="4514850" cy="1907135"/>
          </a:xfrm>
          <a:prstGeom xmlns:a="http://schemas.openxmlformats.org/drawingml/2006/main" prst="rect">
            <a:avLst/>
          </a:prstGeom>
        </p:spPr>
      </p:pic>
      <p:sp>
        <p:nvSpPr>
          <p:cNvPr id="9" name="unc-rule">
            <a:extLst xmlns:a="http://schemas.openxmlformats.org/drawingml/2006/main">
              <a:ext uri="{FF2B5EF4-FFF2-40B4-BE49-F238E27FC236}">
                <a16:creationId xmlns:a16="http://schemas.microsoft.com/office/drawing/2014/main" id="{EAF4AA50-E227-4FE0-AAEA-48D3EBD3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21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10" name="unc-q-label">
            <a:extLst xmlns:a="http://schemas.openxmlformats.org/drawingml/2006/main">
              <a:ext uri="{FF2B5EF4-FFF2-40B4-BE49-F238E27FC236}">
                <a16:creationId xmlns:a16="http://schemas.microsoft.com/office/drawing/2014/main" id="{DCA3A96A-7602-418B-986A-2453CF0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21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Quitina</a:t>
            </a:r>
          </a:p>
        </p:txBody>
      </p:sp>
      <p:sp>
        <p:nvSpPr>
          <p:cNvPr id="11" name="unc-q-body">
            <a:extLst xmlns:a="http://schemas.openxmlformats.org/drawingml/2006/main">
              <a:ext uri="{FF2B5EF4-FFF2-40B4-BE49-F238E27FC236}">
                <a16:creationId xmlns:a16="http://schemas.microsoft.com/office/drawing/2014/main" id="{1FF98FB5-628A-4238-8D96-58E844BE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Relación incertidumbre-error más clara; la incertidumbre funciona como señal de cautela.</a:t>
            </a:r>
          </a:p>
        </p:txBody>
      </p:sp>
      <p:sp>
        <p:nvSpPr>
          <p:cNvPr id="12" name="unc-fp-label">
            <a:extLst xmlns:a="http://schemas.openxmlformats.org/drawingml/2006/main">
              <a:ext uri="{FF2B5EF4-FFF2-40B4-BE49-F238E27FC236}">
                <a16:creationId xmlns:a16="http://schemas.microsoft.com/office/drawing/2014/main" id="{2326F737-870B-4EE8-B050-B057391D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21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FCR y proteína</a:t>
            </a:r>
          </a:p>
        </p:txBody>
      </p:sp>
      <p:sp>
        <p:nvSpPr>
          <p:cNvPr id="13" name="unc-fp-body">
            <a:extLst xmlns:a="http://schemas.openxmlformats.org/drawingml/2006/main">
              <a:ext uri="{FF2B5EF4-FFF2-40B4-BE49-F238E27FC236}">
                <a16:creationId xmlns:a16="http://schemas.microsoft.com/office/drawing/2014/main" id="{15B36EEF-6DD6-44A8-AD40-8EA91BE7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6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Calibración más débil; la incertidumbre no ordena siempre los casos difíciles.</a:t>
            </a:r>
          </a:p>
        </p:txBody>
      </p:sp>
      <p:sp>
        <p:nvSpPr>
          <p:cNvPr id="14" name="separator">
            <a:extLst xmlns:a="http://schemas.openxmlformats.org/drawingml/2006/main">
              <a:ext uri="{FF2B5EF4-FFF2-40B4-BE49-F238E27FC236}">
                <a16:creationId xmlns:a16="http://schemas.microsoft.com/office/drawing/2014/main" id="{14A7F6A4-C9BB-4EF9-8CD4-36A2941A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24050"/>
            <a:ext cx="0" cy="3562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6CC"/>
            </a:solidFill>
            <a:prstDash val="solid"/>
          </a:ln>
        </p:spPr>
      </p:sp>
      <p:sp>
        <p:nvSpPr>
          <p:cNvPr id="15" name="candidates-title">
            <a:extLst xmlns:a="http://schemas.openxmlformats.org/drawingml/2006/main">
              <a:ext uri="{FF2B5EF4-FFF2-40B4-BE49-F238E27FC236}">
                <a16:creationId xmlns:a16="http://schemas.microsoft.com/office/drawing/2014/main" id="{3913D7FF-96F1-401E-9214-ED8385FF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85950"/>
            <a:ext cx="406107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Candidatos EI prospectivos</a:t>
            </a:r>
          </a:p>
        </p:txBody>
      </p:sp>
      <p:sp>
        <p:nvSpPr>
          <p:cNvPr id="16" name="candidates-note">
            <a:extLst xmlns:a="http://schemas.openxmlformats.org/drawingml/2006/main">
              <a:ext uri="{FF2B5EF4-FFF2-40B4-BE49-F238E27FC236}">
                <a16:creationId xmlns:a16="http://schemas.microsoft.com/office/drawing/2014/main" id="{59ACD941-8553-49E4-89E3-6DB58B14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562" y="1924050"/>
            <a:ext cx="3199638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pre-infill</a:t>
            </a:r>
          </a:p>
        </p:txBody>
      </p:sp>
      <p:sp>
        <p:nvSpPr>
          <p:cNvPr id="17" name="candidates-rule">
            <a:extLst xmlns:a="http://schemas.openxmlformats.org/drawingml/2006/main">
              <a:ext uri="{FF2B5EF4-FFF2-40B4-BE49-F238E27FC236}">
                <a16:creationId xmlns:a16="http://schemas.microsoft.com/office/drawing/2014/main" id="{A74927CD-8805-4101-A524-4F6487D5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71700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18" name="cand-note">
            <a:extLst xmlns:a="http://schemas.openxmlformats.org/drawingml/2006/main">
              <a:ext uri="{FF2B5EF4-FFF2-40B4-BE49-F238E27FC236}">
                <a16:creationId xmlns:a16="http://schemas.microsoft.com/office/drawing/2014/main" id="{1B21EE70-9795-4743-A530-3EF4FEB8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86000"/>
            <a:ext cx="607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EI se usa como cribado sobre una rejilla factible no ensayada; no hay validación experimental de estos puntos.</a:t>
            </a:r>
          </a:p>
        </p:txBody>
      </p:sp>
      <p:sp>
        <p:nvSpPr>
          <p:cNvPr id="19" name="cand-header-rule">
            <a:extLst xmlns:a="http://schemas.openxmlformats.org/drawingml/2006/main">
              <a:ext uri="{FF2B5EF4-FFF2-40B4-BE49-F238E27FC236}">
                <a16:creationId xmlns:a16="http://schemas.microsoft.com/office/drawing/2014/main" id="{ED7F0014-6AA8-4D84-ACF6-AB97A62A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20" name="h1">
            <a:extLst xmlns:a="http://schemas.openxmlformats.org/drawingml/2006/main">
              <a:ext uri="{FF2B5EF4-FFF2-40B4-BE49-F238E27FC236}">
                <a16:creationId xmlns:a16="http://schemas.microsoft.com/office/drawing/2014/main" id="{26C360C0-2DC4-4972-B81D-92C900C3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289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5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5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Objetivo</a:t>
            </a:r>
          </a:p>
        </p:txBody>
      </p:sp>
      <p:sp>
        <p:nvSpPr>
          <p:cNvPr id="21" name="h2">
            <a:extLst xmlns:a="http://schemas.openxmlformats.org/drawingml/2006/main">
              <a:ext uri="{FF2B5EF4-FFF2-40B4-BE49-F238E27FC236}">
                <a16:creationId xmlns:a16="http://schemas.microsoft.com/office/drawing/2014/main" id="{4C404DAD-2A03-4FAE-8977-C58CAADD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5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5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Incumbent</a:t>
            </a:r>
          </a:p>
        </p:txBody>
      </p:sp>
      <p:sp>
        <p:nvSpPr>
          <p:cNvPr id="22" name="h3">
            <a:extLst xmlns:a="http://schemas.openxmlformats.org/drawingml/2006/main">
              <a:ext uri="{FF2B5EF4-FFF2-40B4-BE49-F238E27FC236}">
                <a16:creationId xmlns:a16="http://schemas.microsoft.com/office/drawing/2014/main" id="{458944A4-C656-43C1-8C75-5982BD84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2890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5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5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EI propone</a:t>
            </a:r>
          </a:p>
        </p:txBody>
      </p:sp>
      <p:sp>
        <p:nvSpPr>
          <p:cNvPr id="23" name="h4">
            <a:extLst xmlns:a="http://schemas.openxmlformats.org/drawingml/2006/main">
              <a:ext uri="{FF2B5EF4-FFF2-40B4-BE49-F238E27FC236}">
                <a16:creationId xmlns:a16="http://schemas.microsoft.com/office/drawing/2014/main" id="{3B10D073-54DA-4B6D-B9AB-564B01AF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289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5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5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Predicción</a:t>
            </a:r>
          </a:p>
        </p:txBody>
      </p:sp>
      <p:sp>
        <p:nvSpPr>
          <p:cNvPr id="24" name="h5">
            <a:extLst xmlns:a="http://schemas.openxmlformats.org/drawingml/2006/main">
              <a:ext uri="{FF2B5EF4-FFF2-40B4-BE49-F238E27FC236}">
                <a16:creationId xmlns:a16="http://schemas.microsoft.com/office/drawing/2014/main" id="{DDC1080E-FE3E-48EE-9F7F-297D8681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289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53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53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Sentido</a:t>
            </a:r>
          </a:p>
        </p:txBody>
      </p:sp>
      <p:sp>
        <p:nvSpPr>
          <p:cNvPr id="25" name="cand-0-target">
            <a:extLst xmlns:a="http://schemas.openxmlformats.org/drawingml/2006/main">
              <a:ext uri="{FF2B5EF4-FFF2-40B4-BE49-F238E27FC236}">
                <a16:creationId xmlns:a16="http://schemas.microsoft.com/office/drawing/2014/main" id="{BF2F2199-C5E9-4BF1-A831-19191297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194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78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78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FCR</a:t>
            </a:r>
          </a:p>
        </p:txBody>
      </p:sp>
      <p:sp>
        <p:nvSpPr>
          <p:cNvPr id="26" name="cand-0-inc">
            <a:extLst xmlns:a="http://schemas.openxmlformats.org/drawingml/2006/main">
              <a:ext uri="{FF2B5EF4-FFF2-40B4-BE49-F238E27FC236}">
                <a16:creationId xmlns:a16="http://schemas.microsoft.com/office/drawing/2014/main" id="{4811A589-FDD1-4E56-8894-EB7B0C4F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Quinoa30: 1.543</a:t>
            </a:r>
          </a:p>
        </p:txBody>
      </p:sp>
      <p:sp>
        <p:nvSpPr>
          <p:cNvPr id="27" name="cand-0-arrow">
            <a:extLst xmlns:a="http://schemas.openxmlformats.org/drawingml/2006/main">
              <a:ext uri="{FF2B5EF4-FFF2-40B4-BE49-F238E27FC236}">
                <a16:creationId xmlns:a16="http://schemas.microsoft.com/office/drawing/2014/main" id="{FF432470-DD5D-4CC3-AF98-9C6CD85D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03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28" name="cand-0-candidate">
            <a:extLst xmlns:a="http://schemas.openxmlformats.org/drawingml/2006/main">
              <a:ext uri="{FF2B5EF4-FFF2-40B4-BE49-F238E27FC236}">
                <a16:creationId xmlns:a16="http://schemas.microsoft.com/office/drawing/2014/main" id="{2C302CD2-72A4-4FEA-984F-C5C2A1E7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194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82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Quinoa16</a:t>
            </a:r>
          </a:p>
        </p:txBody>
      </p:sp>
      <p:sp>
        <p:nvSpPr>
          <p:cNvPr id="29" name="cand-0-pred">
            <a:extLst xmlns:a="http://schemas.openxmlformats.org/drawingml/2006/main">
              <a:ext uri="{FF2B5EF4-FFF2-40B4-BE49-F238E27FC236}">
                <a16:creationId xmlns:a16="http://schemas.microsoft.com/office/drawing/2014/main" id="{91EA9D78-708B-4CCE-A65F-3D084D8F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194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73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1.727 ± 0.065</a:t>
            </a:r>
          </a:p>
        </p:txBody>
      </p:sp>
      <p:sp>
        <p:nvSpPr>
          <p:cNvPr id="30" name="cand-0-meaning">
            <a:extLst xmlns:a="http://schemas.openxmlformats.org/drawingml/2006/main">
              <a:ext uri="{FF2B5EF4-FFF2-40B4-BE49-F238E27FC236}">
                <a16:creationId xmlns:a16="http://schemas.microsoft.com/office/drawing/2014/main" id="{0CAAFF5C-12F2-4036-BA95-2558A1BB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099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69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candidato exploratorio</a:t>
            </a:r>
          </a:p>
        </p:txBody>
      </p:sp>
      <p:sp>
        <p:nvSpPr>
          <p:cNvPr id="31" name="cand-rule-1">
            <a:extLst xmlns:a="http://schemas.openxmlformats.org/drawingml/2006/main">
              <a:ext uri="{FF2B5EF4-FFF2-40B4-BE49-F238E27FC236}">
                <a16:creationId xmlns:a16="http://schemas.microsoft.com/office/drawing/2014/main" id="{DB452A43-A1EB-4672-8AFE-22BB81B2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32" name="cand-1-target">
            <a:extLst xmlns:a="http://schemas.openxmlformats.org/drawingml/2006/main">
              <a:ext uri="{FF2B5EF4-FFF2-40B4-BE49-F238E27FC236}">
                <a16:creationId xmlns:a16="http://schemas.microsoft.com/office/drawing/2014/main" id="{915AE814-5BF4-4CB5-9D43-CA9D31C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90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78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78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Quitina</a:t>
            </a:r>
          </a:p>
        </p:txBody>
      </p:sp>
      <p:sp>
        <p:nvSpPr>
          <p:cNvPr id="33" name="cand-1-inc">
            <a:extLst xmlns:a="http://schemas.openxmlformats.org/drawingml/2006/main">
              <a:ext uri="{FF2B5EF4-FFF2-40B4-BE49-F238E27FC236}">
                <a16:creationId xmlns:a16="http://schemas.microsoft.com/office/drawing/2014/main" id="{2C837B07-FC7B-4A39-8D13-91613971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Orujo70: 15.318 %</a:t>
            </a:r>
          </a:p>
        </p:txBody>
      </p:sp>
      <p:sp>
        <p:nvSpPr>
          <p:cNvPr id="34" name="cand-1-arrow">
            <a:extLst xmlns:a="http://schemas.openxmlformats.org/drawingml/2006/main">
              <a:ext uri="{FF2B5EF4-FFF2-40B4-BE49-F238E27FC236}">
                <a16:creationId xmlns:a16="http://schemas.microsoft.com/office/drawing/2014/main" id="{2DB68F92-8130-4CA5-A354-D30EA5B3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718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35" name="cand-1-candidate">
            <a:extLst xmlns:a="http://schemas.openxmlformats.org/drawingml/2006/main">
              <a:ext uri="{FF2B5EF4-FFF2-40B4-BE49-F238E27FC236}">
                <a16:creationId xmlns:a16="http://schemas.microsoft.com/office/drawing/2014/main" id="{B51770A2-4534-4C33-8C79-10067096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909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82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Orujo89</a:t>
            </a:r>
          </a:p>
        </p:txBody>
      </p:sp>
      <p:sp>
        <p:nvSpPr>
          <p:cNvPr id="36" name="cand-1-pred">
            <a:extLst xmlns:a="http://schemas.openxmlformats.org/drawingml/2006/main">
              <a:ext uri="{FF2B5EF4-FFF2-40B4-BE49-F238E27FC236}">
                <a16:creationId xmlns:a16="http://schemas.microsoft.com/office/drawing/2014/main" id="{05BE4347-4880-4113-B5CF-3B66F173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909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73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12.658 ± 1.061 %</a:t>
            </a:r>
          </a:p>
        </p:txBody>
      </p:sp>
      <p:sp>
        <p:nvSpPr>
          <p:cNvPr id="37" name="cand-1-meaning">
            <a:extLst xmlns:a="http://schemas.openxmlformats.org/drawingml/2006/main">
              <a:ext uri="{FF2B5EF4-FFF2-40B4-BE49-F238E27FC236}">
                <a16:creationId xmlns:a16="http://schemas.microsoft.com/office/drawing/2014/main" id="{63EDBD68-470B-45D3-897C-29387F11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81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69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orujo alta inclusión</a:t>
            </a:r>
          </a:p>
        </p:txBody>
      </p:sp>
      <p:sp>
        <p:nvSpPr>
          <p:cNvPr id="38" name="cand-rule-2">
            <a:extLst xmlns:a="http://schemas.openxmlformats.org/drawingml/2006/main">
              <a:ext uri="{FF2B5EF4-FFF2-40B4-BE49-F238E27FC236}">
                <a16:creationId xmlns:a16="http://schemas.microsoft.com/office/drawing/2014/main" id="{1129F7D3-2370-4BC2-9A14-3BA4F135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57650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CD6CC"/>
            </a:solidFill>
            <a:prstDash val="solid"/>
          </a:ln>
        </p:spPr>
      </p:sp>
      <p:sp>
        <p:nvSpPr>
          <p:cNvPr id="39" name="cand-2-target">
            <a:extLst xmlns:a="http://schemas.openxmlformats.org/drawingml/2006/main">
              <a:ext uri="{FF2B5EF4-FFF2-40B4-BE49-F238E27FC236}">
                <a16:creationId xmlns:a16="http://schemas.microsoft.com/office/drawing/2014/main" id="{762FD12B-165A-4D5E-85C6-06C106E8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624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78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78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Proteína</a:t>
            </a:r>
          </a:p>
        </p:txBody>
      </p:sp>
      <p:sp>
        <p:nvSpPr>
          <p:cNvPr id="40" name="cand-2-inc">
            <a:extLst xmlns:a="http://schemas.openxmlformats.org/drawingml/2006/main">
              <a:ext uri="{FF2B5EF4-FFF2-40B4-BE49-F238E27FC236}">
                <a16:creationId xmlns:a16="http://schemas.microsoft.com/office/drawing/2014/main" id="{B7B42B68-3175-4AA1-B0B0-E77A214C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624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9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Orujo50: 32.147 %</a:t>
            </a:r>
          </a:p>
        </p:txBody>
      </p:sp>
      <p:sp>
        <p:nvSpPr>
          <p:cNvPr id="41" name="cand-2-arrow">
            <a:extLst xmlns:a="http://schemas.openxmlformats.org/drawingml/2006/main">
              <a:ext uri="{FF2B5EF4-FFF2-40B4-BE49-F238E27FC236}">
                <a16:creationId xmlns:a16="http://schemas.microsoft.com/office/drawing/2014/main" id="{7D5B4540-57BD-4788-99C2-6F0728CD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433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42" name="cand-2-candidate">
            <a:extLst xmlns:a="http://schemas.openxmlformats.org/drawingml/2006/main">
              <a:ext uri="{FF2B5EF4-FFF2-40B4-BE49-F238E27FC236}">
                <a16:creationId xmlns:a16="http://schemas.microsoft.com/office/drawing/2014/main" id="{DD6F9FDE-0FEF-4836-BD9B-BF25BD58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624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82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Orujo31</a:t>
            </a:r>
          </a:p>
        </p:txBody>
      </p:sp>
      <p:sp>
        <p:nvSpPr>
          <p:cNvPr id="43" name="cand-2-pred">
            <a:extLst xmlns:a="http://schemas.openxmlformats.org/drawingml/2006/main">
              <a:ext uri="{FF2B5EF4-FFF2-40B4-BE49-F238E27FC236}">
                <a16:creationId xmlns:a16="http://schemas.microsoft.com/office/drawing/2014/main" id="{8DC59294-AE35-4169-B1F7-A314E0DB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624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73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30.938 ± 0.912 %</a:t>
            </a:r>
          </a:p>
        </p:txBody>
      </p:sp>
      <p:sp>
        <p:nvSpPr>
          <p:cNvPr id="44" name="cand-2-meaning">
            <a:extLst xmlns:a="http://schemas.openxmlformats.org/drawingml/2006/main">
              <a:ext uri="{FF2B5EF4-FFF2-40B4-BE49-F238E27FC236}">
                <a16:creationId xmlns:a16="http://schemas.microsoft.com/office/drawing/2014/main" id="{5DB1B73A-8D0E-43D4-B5E9-2E505846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529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69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zona de orujo no ensayada</a:t>
            </a:r>
          </a:p>
        </p:txBody>
      </p:sp>
      <p:sp>
        <p:nvSpPr>
          <p:cNvPr id="45" name="candidate-warning-rule">
            <a:extLst xmlns:a="http://schemas.openxmlformats.org/drawingml/2006/main">
              <a:ext uri="{FF2B5EF4-FFF2-40B4-BE49-F238E27FC236}">
                <a16:creationId xmlns:a16="http://schemas.microsoft.com/office/drawing/2014/main" id="{4D39088D-E170-42F1-8435-505AAA86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19650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46" name="warning-dot">
            <a:extLst xmlns:a="http://schemas.openxmlformats.org/drawingml/2006/main">
              <a:ext uri="{FF2B5EF4-FFF2-40B4-BE49-F238E27FC236}">
                <a16:creationId xmlns:a16="http://schemas.microsoft.com/office/drawing/2014/main" id="{F9C81DD6-8A90-4646-B8A0-1C199AAE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8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andidate-warning">
            <a:extLst xmlns:a="http://schemas.openxmlformats.org/drawingml/2006/main">
              <a:ext uri="{FF2B5EF4-FFF2-40B4-BE49-F238E27FC236}">
                <a16:creationId xmlns:a16="http://schemas.microsoft.com/office/drawing/2014/main" id="{020A080F-D32D-40CD-8629-A14A3D3E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19675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4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Ningún candidato supera claramente al incumbent en media; su valor está en orientar la siguiente ronda de ensayos.</a:t>
            </a:r>
          </a:p>
        </p:txBody>
      </p:sp>
      <p:sp>
        <p:nvSpPr>
          <p:cNvPr id="48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5A73FCDD-558C-4B4F-A7CE-D3D51D87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49" name="closing">
            <a:extLst xmlns:a="http://schemas.openxmlformats.org/drawingml/2006/main">
              <a:ext uri="{FF2B5EF4-FFF2-40B4-BE49-F238E27FC236}">
                <a16:creationId xmlns:a16="http://schemas.microsoft.com/office/drawing/2014/main" id="{62A313A7-85D9-4212-B777-48A85FE2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Pre-infill: EI no valida una nueva dieta; prioriza qué formulación tendría sentido ensayar después.</a:t>
            </a:r>
          </a:p>
        </p:txBody>
      </p:sp>
    </p:spTree>
    <p:extLst>
      <p:ext uri="{BB962C8B-B14F-4D97-AF65-F5344CB8AC3E}">
        <p14:creationId xmlns:p14="http://schemas.microsoft.com/office/powerpoint/2010/main" val="1647929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2026-07-03T00:20:35.0410000Z</dcterms:created>
  <dcterms:modified xsi:type="dcterms:W3CDTF">2026-07-03T00:20:35.0410000Z</dcterms:modified>
</coreProperties>
</file>