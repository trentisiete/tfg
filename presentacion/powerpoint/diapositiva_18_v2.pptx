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d81ead6061487f" /><Relationship Type="http://schemas.openxmlformats.org/officeDocument/2006/relationships/extended-properties" Target="/docProps/app.xml" Id="R17dc9853608d45c3" /><Relationship Type="http://schemas.openxmlformats.org/officeDocument/2006/relationships/officeDocument" Target="/ppt/presentation.xml" Id="Rba64c9815a8748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7ffaf1305e49dd"/>
  </p:sldMasterIdLst>
  <p:notesMasterIdLst>
    <p:notesMasterId xmlns:r="http://schemas.openxmlformats.org/officeDocument/2006/relationships" r:id="Ra5dc6c80f03d4016"/>
  </p:notesMasterIdLst>
  <p:sldIdLst>
    <p:sldId xmlns:r="http://schemas.openxmlformats.org/officeDocument/2006/relationships" id="256" r:id="R86a8f28fc92748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484f570813415d" /><Relationship Type="http://schemas.openxmlformats.org/officeDocument/2006/relationships/slideMaster" Target="/ppt/slideMasters/slideMaster1.xml" Id="Ra47ffaf1305e49dd" /><Relationship Type="http://schemas.openxmlformats.org/officeDocument/2006/relationships/notesMaster" Target="/ppt/notesMasters/notesMaster1.xml" Id="Ra5dc6c80f03d4016" /><Relationship Type="http://schemas.openxmlformats.org/officeDocument/2006/relationships/presProps" Target="/ppt/presProps.xml" Id="Ra689e148d1324421" /><Relationship Type="http://schemas.openxmlformats.org/officeDocument/2006/relationships/tableStyles" Target="/ppt/tableStyles.xml" Id="Ree25d25f9f224a4b" /><Relationship Type="http://schemas.openxmlformats.org/officeDocument/2006/relationships/slide" Target="/ppt/slides/slide1.xml" Id="R86a8f28fc92748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83098e9bab47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c34925b9e340f0" /><Relationship Type="http://schemas.openxmlformats.org/officeDocument/2006/relationships/notesMaster" Target="/ppt/notesMasters/notesMaster1.xml" Id="Rb833ec08c9bf47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55256917e48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d25e2cb6e94525" /><Relationship Type="http://schemas.openxmlformats.org/officeDocument/2006/relationships/slideLayout" Target="/ppt/slideLayouts/slideLayout1.xml" Id="R8c4aba474f6a46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4aba474f6a46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d56cdcde3422f" /><Relationship Type="http://schemas.openxmlformats.org/officeDocument/2006/relationships/image" Target="/ppt/media/image.png" Id="R594d9c5576cc4168" /><Relationship Type="http://schemas.openxmlformats.org/officeDocument/2006/relationships/notesSlide" Target="/ppt/notesSlides/notesSlide1.xml" Id="R5154d1ca61cf4d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8BB31BB-483E-4D4E-BBEF-E01F307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1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BENCHMARKS SINTÉTICOS / RESULTADOS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A296CB-99C2-4A0F-A57E-D59E510F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8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68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Qué condiciona el rendimiento de GP + EI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1B856BD-BC59-434E-8CFC-338D0AEC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60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60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La mejora depende del paisaje objetivo, del tamaño inicial y del kernel; no hay una configuración universalmente óptima.</a:t>
            </a:r>
          </a:p>
        </p:txBody>
      </p:sp>
      <p:sp>
        <p:nvSpPr>
          <p:cNvPr id="4" name="aggregate-title">
            <a:extLst xmlns:a="http://schemas.openxmlformats.org/drawingml/2006/main">
              <a:ext uri="{FF2B5EF4-FFF2-40B4-BE49-F238E27FC236}">
                <a16:creationId xmlns:a16="http://schemas.microsoft.com/office/drawing/2014/main" id="{B20F0D04-8379-443D-9107-03F09F99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23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23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Evidencia agregada</a:t>
            </a:r>
          </a:p>
        </p:txBody>
      </p:sp>
      <p:sp>
        <p:nvSpPr>
          <p:cNvPr id="5" name="aggregate-note">
            <a:extLst xmlns:a="http://schemas.openxmlformats.org/drawingml/2006/main">
              <a:ext uri="{FF2B5EF4-FFF2-40B4-BE49-F238E27FC236}">
                <a16:creationId xmlns:a16="http://schemas.microsoft.com/office/drawing/2014/main" id="{F92800CA-54E4-4E88-B3CA-809E9FBC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85950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20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20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trayectorias activas</a:t>
            </a:r>
          </a:p>
        </p:txBody>
      </p:sp>
      <p:sp>
        <p:nvSpPr>
          <p:cNvPr id="6" name="aggregate-rule">
            <a:extLst xmlns:a="http://schemas.openxmlformats.org/drawingml/2006/main">
              <a:ext uri="{FF2B5EF4-FFF2-40B4-BE49-F238E27FC236}">
                <a16:creationId xmlns:a16="http://schemas.microsoft.com/office/drawing/2014/main" id="{D1CA5460-F663-4F9B-8141-2E35C4B2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7" name="big-stat">
            <a:extLst xmlns:a="http://schemas.openxmlformats.org/drawingml/2006/main">
              <a:ext uri="{FF2B5EF4-FFF2-40B4-BE49-F238E27FC236}">
                <a16:creationId xmlns:a16="http://schemas.microsoft.com/office/drawing/2014/main" id="{1FCB73FF-1698-4750-AD6A-95280124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52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352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316 / 372</a:t>
            </a:r>
          </a:p>
        </p:txBody>
      </p:sp>
      <p:sp>
        <p:nvSpPr>
          <p:cNvPr id="8" name="big-stat-label">
            <a:extLst xmlns:a="http://schemas.openxmlformats.org/drawingml/2006/main">
              <a:ext uri="{FF2B5EF4-FFF2-40B4-BE49-F238E27FC236}">
                <a16:creationId xmlns:a16="http://schemas.microsoft.com/office/drawing/2014/main" id="{AC05CDB8-2836-4BB6-B6F8-CC84FC33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00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trayectorias GP reducen el incumbent</a:t>
            </a:r>
          </a:p>
        </p:txBody>
      </p:sp>
      <p:sp>
        <p:nvSpPr>
          <p:cNvPr id="9" name="progress-bg">
            <a:extLst xmlns:a="http://schemas.openxmlformats.org/drawingml/2006/main">
              <a:ext uri="{FF2B5EF4-FFF2-40B4-BE49-F238E27FC236}">
                <a16:creationId xmlns:a16="http://schemas.microsoft.com/office/drawing/2014/main" id="{FE607FAD-FF26-4A22-B052-D67C2674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4171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gress-fg">
            <a:extLst xmlns:a="http://schemas.openxmlformats.org/drawingml/2006/main">
              <a:ext uri="{FF2B5EF4-FFF2-40B4-BE49-F238E27FC236}">
                <a16:creationId xmlns:a16="http://schemas.microsoft.com/office/drawing/2014/main" id="{E5E6DCA6-F352-422E-AAB9-3CD8C92F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354391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gregate-copy">
            <a:extLst xmlns:a="http://schemas.openxmlformats.org/drawingml/2006/main">
              <a:ext uri="{FF2B5EF4-FFF2-40B4-BE49-F238E27FC236}">
                <a16:creationId xmlns:a16="http://schemas.microsoft.com/office/drawing/2014/main" id="{03A1AC9D-639A-4E04-87AB-9F6CBCFC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Contraste complementario: reducción sistemática del mejor valor observado durante el infill.</a:t>
            </a:r>
          </a:p>
        </p:txBody>
      </p:sp>
      <p:sp>
        <p:nvSpPr>
          <p:cNvPr id="12" name="family-title">
            <a:extLst xmlns:a="http://schemas.openxmlformats.org/drawingml/2006/main">
              <a:ext uri="{FF2B5EF4-FFF2-40B4-BE49-F238E27FC236}">
                <a16:creationId xmlns:a16="http://schemas.microsoft.com/office/drawing/2014/main" id="{C0BA5811-B1F6-4048-9DA6-2081AAD1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335432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23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23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Por familia GP</a:t>
            </a:r>
          </a:p>
        </p:txBody>
      </p:sp>
      <p:sp>
        <p:nvSpPr>
          <p:cNvPr id="13" name="family-note">
            <a:extLst xmlns:a="http://schemas.openxmlformats.org/drawingml/2006/main">
              <a:ext uri="{FF2B5EF4-FFF2-40B4-BE49-F238E27FC236}">
                <a16:creationId xmlns:a16="http://schemas.microsoft.com/office/drawing/2014/main" id="{E0B3AFBC-4935-4809-A139-154812CF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2896" y="1885950"/>
            <a:ext cx="2813304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20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20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trayectorias que mejoran</a:t>
            </a:r>
          </a:p>
        </p:txBody>
      </p:sp>
      <p:sp>
        <p:nvSpPr>
          <p:cNvPr id="14" name="family-rule">
            <a:extLst xmlns:a="http://schemas.openxmlformats.org/drawingml/2006/main">
              <a:ext uri="{FF2B5EF4-FFF2-40B4-BE49-F238E27FC236}">
                <a16:creationId xmlns:a16="http://schemas.microsoft.com/office/drawing/2014/main" id="{F1332B2D-2E75-4E83-9BC4-D415110B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15" name="family-0-name">
            <a:extLst xmlns:a="http://schemas.openxmlformats.org/drawingml/2006/main">
              <a:ext uri="{FF2B5EF4-FFF2-40B4-BE49-F238E27FC236}">
                <a16:creationId xmlns:a16="http://schemas.microsoft.com/office/drawing/2014/main" id="{3AEF79B5-4A97-4885-81CD-42EE4F76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7647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3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3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Matérn 5/2 ARD</a:t>
            </a:r>
          </a:p>
        </p:txBody>
      </p:sp>
      <p:sp>
        <p:nvSpPr>
          <p:cNvPr id="16" name="family-0-bar-bg">
            <a:extLst xmlns:a="http://schemas.openxmlformats.org/drawingml/2006/main">
              <a:ext uri="{FF2B5EF4-FFF2-40B4-BE49-F238E27FC236}">
                <a16:creationId xmlns:a16="http://schemas.microsoft.com/office/drawing/2014/main" id="{32413D4A-FEBD-45BA-AD57-12F2A2E0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0505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amily-0-bar-fg">
            <a:extLst xmlns:a="http://schemas.openxmlformats.org/drawingml/2006/main">
              <a:ext uri="{FF2B5EF4-FFF2-40B4-BE49-F238E27FC236}">
                <a16:creationId xmlns:a16="http://schemas.microsoft.com/office/drawing/2014/main" id="{D3DB8343-F80C-45FF-81CD-8A2BEE21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0505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amily-0-count">
            <a:extLst xmlns:a="http://schemas.openxmlformats.org/drawingml/2006/main">
              <a:ext uri="{FF2B5EF4-FFF2-40B4-BE49-F238E27FC236}">
                <a16:creationId xmlns:a16="http://schemas.microsoft.com/office/drawing/2014/main" id="{B06AAE1B-607A-4D2B-89EF-974FF9B4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6695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3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3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54 / 54</a:t>
            </a:r>
          </a:p>
        </p:txBody>
      </p:sp>
      <p:sp>
        <p:nvSpPr>
          <p:cNvPr id="19" name="family-row-rule-1">
            <a:extLst xmlns:a="http://schemas.openxmlformats.org/drawingml/2006/main">
              <a:ext uri="{FF2B5EF4-FFF2-40B4-BE49-F238E27FC236}">
                <a16:creationId xmlns:a16="http://schemas.microsoft.com/office/drawing/2014/main" id="{AD6FB001-7812-4CA8-8993-A96C63CF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D6CC"/>
            </a:solidFill>
            <a:prstDash val="solid"/>
          </a:ln>
        </p:spPr>
      </p:sp>
      <p:sp>
        <p:nvSpPr>
          <p:cNvPr id="20" name="family-1-name">
            <a:extLst xmlns:a="http://schemas.openxmlformats.org/drawingml/2006/main">
              <a:ext uri="{FF2B5EF4-FFF2-40B4-BE49-F238E27FC236}">
                <a16:creationId xmlns:a16="http://schemas.microsoft.com/office/drawing/2014/main" id="{34ECC19E-EA8D-4537-890F-13BBBAF7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3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3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Matérn 3/2</a:t>
            </a:r>
          </a:p>
        </p:txBody>
      </p:sp>
      <p:sp>
        <p:nvSpPr>
          <p:cNvPr id="21" name="family-1-bar-bg">
            <a:extLst xmlns:a="http://schemas.openxmlformats.org/drawingml/2006/main">
              <a:ext uri="{FF2B5EF4-FFF2-40B4-BE49-F238E27FC236}">
                <a16:creationId xmlns:a16="http://schemas.microsoft.com/office/drawing/2014/main" id="{CBF63BF8-819A-46AC-94D4-FCA0D47B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05075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amily-1-bar-fg">
            <a:extLst xmlns:a="http://schemas.openxmlformats.org/drawingml/2006/main">
              <a:ext uri="{FF2B5EF4-FFF2-40B4-BE49-F238E27FC236}">
                <a16:creationId xmlns:a16="http://schemas.microsoft.com/office/drawing/2014/main" id="{7592B06E-B795-4481-9E64-2B893128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05075"/>
            <a:ext cx="191481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amily-1-count">
            <a:extLst xmlns:a="http://schemas.openxmlformats.org/drawingml/2006/main">
              <a:ext uri="{FF2B5EF4-FFF2-40B4-BE49-F238E27FC236}">
                <a16:creationId xmlns:a16="http://schemas.microsoft.com/office/drawing/2014/main" id="{8C9DF16D-38C1-4F8A-B4F5-DD55E119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66975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3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3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62 / 66</a:t>
            </a:r>
          </a:p>
        </p:txBody>
      </p:sp>
      <p:sp>
        <p:nvSpPr>
          <p:cNvPr id="24" name="family-row-rule-2">
            <a:extLst xmlns:a="http://schemas.openxmlformats.org/drawingml/2006/main">
              <a:ext uri="{FF2B5EF4-FFF2-40B4-BE49-F238E27FC236}">
                <a16:creationId xmlns:a16="http://schemas.microsoft.com/office/drawing/2014/main" id="{4AA84905-FF06-4652-AAEA-ED50E950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D6CC"/>
            </a:solidFill>
            <a:prstDash val="solid"/>
          </a:ln>
        </p:spPr>
      </p:sp>
      <p:sp>
        <p:nvSpPr>
          <p:cNvPr id="25" name="family-2-name">
            <a:extLst xmlns:a="http://schemas.openxmlformats.org/drawingml/2006/main">
              <a:ext uri="{FF2B5EF4-FFF2-40B4-BE49-F238E27FC236}">
                <a16:creationId xmlns:a16="http://schemas.microsoft.com/office/drawing/2014/main" id="{BFD39070-FB3F-4876-A77F-FA8FB413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7652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3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3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Matérn 5/2</a:t>
            </a:r>
          </a:p>
        </p:txBody>
      </p:sp>
      <p:sp>
        <p:nvSpPr>
          <p:cNvPr id="26" name="family-2-bar-bg">
            <a:extLst xmlns:a="http://schemas.openxmlformats.org/drawingml/2006/main">
              <a:ext uri="{FF2B5EF4-FFF2-40B4-BE49-F238E27FC236}">
                <a16:creationId xmlns:a16="http://schemas.microsoft.com/office/drawing/2014/main" id="{69BF66B1-4940-46E1-BBEF-4658810E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051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amily-2-bar-fg">
            <a:extLst xmlns:a="http://schemas.openxmlformats.org/drawingml/2006/main">
              <a:ext uri="{FF2B5EF4-FFF2-40B4-BE49-F238E27FC236}">
                <a16:creationId xmlns:a16="http://schemas.microsoft.com/office/drawing/2014/main" id="{953E0A24-031F-47EE-A50C-5582F8E8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05100"/>
            <a:ext cx="185304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amily-2-count">
            <a:extLst xmlns:a="http://schemas.openxmlformats.org/drawingml/2006/main">
              <a:ext uri="{FF2B5EF4-FFF2-40B4-BE49-F238E27FC236}">
                <a16:creationId xmlns:a16="http://schemas.microsoft.com/office/drawing/2014/main" id="{14D073F0-D902-4354-9722-73F6EFBB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3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3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60 / 66</a:t>
            </a:r>
          </a:p>
        </p:txBody>
      </p:sp>
      <p:sp>
        <p:nvSpPr>
          <p:cNvPr id="29" name="family-row-rule-3">
            <a:extLst xmlns:a="http://schemas.openxmlformats.org/drawingml/2006/main">
              <a:ext uri="{FF2B5EF4-FFF2-40B4-BE49-F238E27FC236}">
                <a16:creationId xmlns:a16="http://schemas.microsoft.com/office/drawing/2014/main" id="{F8C99616-26A6-458D-BB9B-4A6E8BD2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28925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D6CC"/>
            </a:solidFill>
            <a:prstDash val="solid"/>
          </a:ln>
        </p:spPr>
      </p:sp>
      <p:sp>
        <p:nvSpPr>
          <p:cNvPr id="30" name="family-3-name">
            <a:extLst xmlns:a="http://schemas.openxmlformats.org/drawingml/2006/main">
              <a:ext uri="{FF2B5EF4-FFF2-40B4-BE49-F238E27FC236}">
                <a16:creationId xmlns:a16="http://schemas.microsoft.com/office/drawing/2014/main" id="{05A76FC5-B333-40DE-8D58-21226912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3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3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RBF</a:t>
            </a:r>
          </a:p>
        </p:txBody>
      </p:sp>
      <p:sp>
        <p:nvSpPr>
          <p:cNvPr id="31" name="family-3-bar-bg">
            <a:extLst xmlns:a="http://schemas.openxmlformats.org/drawingml/2006/main">
              <a:ext uri="{FF2B5EF4-FFF2-40B4-BE49-F238E27FC236}">
                <a16:creationId xmlns:a16="http://schemas.microsoft.com/office/drawing/2014/main" id="{D595B524-564E-4445-9D2C-5677CA21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05125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family-3-bar-fg">
            <a:extLst xmlns:a="http://schemas.openxmlformats.org/drawingml/2006/main">
              <a:ext uri="{FF2B5EF4-FFF2-40B4-BE49-F238E27FC236}">
                <a16:creationId xmlns:a16="http://schemas.microsoft.com/office/drawing/2014/main" id="{B0C6710D-99B5-49E7-98AC-C76F72BD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05125"/>
            <a:ext cx="1822161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amily-3-count">
            <a:extLst xmlns:a="http://schemas.openxmlformats.org/drawingml/2006/main">
              <a:ext uri="{FF2B5EF4-FFF2-40B4-BE49-F238E27FC236}">
                <a16:creationId xmlns:a16="http://schemas.microsoft.com/office/drawing/2014/main" id="{C6536E10-6821-48DC-9936-1D810F0D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67025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3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3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59 / 66</a:t>
            </a:r>
          </a:p>
        </p:txBody>
      </p:sp>
      <p:sp>
        <p:nvSpPr>
          <p:cNvPr id="34" name="family-row-rule-4">
            <a:extLst xmlns:a="http://schemas.openxmlformats.org/drawingml/2006/main">
              <a:ext uri="{FF2B5EF4-FFF2-40B4-BE49-F238E27FC236}">
                <a16:creationId xmlns:a16="http://schemas.microsoft.com/office/drawing/2014/main" id="{A5E51A9E-A52D-4293-8A5D-EC65729B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D6CC"/>
            </a:solidFill>
            <a:prstDash val="solid"/>
          </a:ln>
        </p:spPr>
      </p:sp>
      <p:sp>
        <p:nvSpPr>
          <p:cNvPr id="35" name="family-4-name">
            <a:extLst xmlns:a="http://schemas.openxmlformats.org/drawingml/2006/main">
              <a:ext uri="{FF2B5EF4-FFF2-40B4-BE49-F238E27FC236}">
                <a16:creationId xmlns:a16="http://schemas.microsoft.com/office/drawing/2014/main" id="{342E4EB6-3F1E-4F3C-99DE-120E8C97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7657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3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3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RBF ARD</a:t>
            </a:r>
          </a:p>
        </p:txBody>
      </p:sp>
      <p:sp>
        <p:nvSpPr>
          <p:cNvPr id="36" name="family-4-bar-bg">
            <a:extLst xmlns:a="http://schemas.openxmlformats.org/drawingml/2006/main">
              <a:ext uri="{FF2B5EF4-FFF2-40B4-BE49-F238E27FC236}">
                <a16:creationId xmlns:a16="http://schemas.microsoft.com/office/drawing/2014/main" id="{185EE3CE-1861-4222-8392-326EC021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0515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amily-4-bar-fg">
            <a:extLst xmlns:a="http://schemas.openxmlformats.org/drawingml/2006/main">
              <a:ext uri="{FF2B5EF4-FFF2-40B4-BE49-F238E27FC236}">
                <a16:creationId xmlns:a16="http://schemas.microsoft.com/office/drawing/2014/main" id="{97574344-0179-4AFD-AF47-4FAD1F6A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05150"/>
            <a:ext cx="192510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family-4-count">
            <a:extLst xmlns:a="http://schemas.openxmlformats.org/drawingml/2006/main">
              <a:ext uri="{FF2B5EF4-FFF2-40B4-BE49-F238E27FC236}">
                <a16:creationId xmlns:a16="http://schemas.microsoft.com/office/drawing/2014/main" id="{9BD6CDC1-C3DD-48DB-91A4-5D32EF0F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6705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3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3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51 / 54</a:t>
            </a:r>
          </a:p>
        </p:txBody>
      </p:sp>
      <p:sp>
        <p:nvSpPr>
          <p:cNvPr id="39" name="family-row-rule-5">
            <a:extLst xmlns:a="http://schemas.openxmlformats.org/drawingml/2006/main">
              <a:ext uri="{FF2B5EF4-FFF2-40B4-BE49-F238E27FC236}">
                <a16:creationId xmlns:a16="http://schemas.microsoft.com/office/drawing/2014/main" id="{86112A8A-9835-4DB0-A2EB-CDB15E5E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28975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D6CC"/>
            </a:solidFill>
            <a:prstDash val="solid"/>
          </a:ln>
        </p:spPr>
      </p:sp>
      <p:sp>
        <p:nvSpPr>
          <p:cNvPr id="40" name="family-5-name">
            <a:extLst xmlns:a="http://schemas.openxmlformats.org/drawingml/2006/main">
              <a:ext uri="{FF2B5EF4-FFF2-40B4-BE49-F238E27FC236}">
                <a16:creationId xmlns:a16="http://schemas.microsoft.com/office/drawing/2014/main" id="{C2BAC332-99B2-464F-9DDC-EF444530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3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3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Lineal</a:t>
            </a:r>
          </a:p>
        </p:txBody>
      </p:sp>
      <p:sp>
        <p:nvSpPr>
          <p:cNvPr id="41" name="family-5-bar-bg">
            <a:extLst xmlns:a="http://schemas.openxmlformats.org/drawingml/2006/main">
              <a:ext uri="{FF2B5EF4-FFF2-40B4-BE49-F238E27FC236}">
                <a16:creationId xmlns:a16="http://schemas.microsoft.com/office/drawing/2014/main" id="{D2D10E5F-337D-41BB-9C55-792D9556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05175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family-5-bar-fg">
            <a:extLst xmlns:a="http://schemas.openxmlformats.org/drawingml/2006/main">
              <a:ext uri="{FF2B5EF4-FFF2-40B4-BE49-F238E27FC236}">
                <a16:creationId xmlns:a16="http://schemas.microsoft.com/office/drawing/2014/main" id="{A230C809-78D7-4A9B-8227-E5794DDB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05175"/>
            <a:ext cx="92652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amily-5-count">
            <a:extLst xmlns:a="http://schemas.openxmlformats.org/drawingml/2006/main">
              <a:ext uri="{FF2B5EF4-FFF2-40B4-BE49-F238E27FC236}">
                <a16:creationId xmlns:a16="http://schemas.microsoft.com/office/drawing/2014/main" id="{3BC2CAAB-24DC-4F33-80B6-FEE090A9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67075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3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3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30 / 66</a:t>
            </a:r>
          </a:p>
        </p:txBody>
      </p:sp>
      <p:sp>
        <p:nvSpPr>
          <p:cNvPr id="44" name="family-note">
            <a:extLst xmlns:a="http://schemas.openxmlformats.org/drawingml/2006/main">
              <a:ext uri="{FF2B5EF4-FFF2-40B4-BE49-F238E27FC236}">
                <a16:creationId xmlns:a16="http://schemas.microsoft.com/office/drawing/2014/main" id="{133C3E4D-B6B0-4B95-B3CE-5C7CF86F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33775"/>
            <a:ext cx="541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6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6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El efecto es más claro en kernels Matérn/RBF y variantes ARD; el lineal mejora menos de forma agregada.</a:t>
            </a:r>
          </a:p>
        </p:txBody>
      </p:sp>
      <p:sp>
        <p:nvSpPr>
          <p:cNvPr id="45" name="factor-top-rule">
            <a:extLst xmlns:a="http://schemas.openxmlformats.org/drawingml/2006/main">
              <a:ext uri="{FF2B5EF4-FFF2-40B4-BE49-F238E27FC236}">
                <a16:creationId xmlns:a16="http://schemas.microsoft.com/office/drawing/2014/main" id="{5CEE8ECC-1E77-4822-9D45-4CDF7D7B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46" name="factor-vline-1">
            <a:extLst xmlns:a="http://schemas.openxmlformats.org/drawingml/2006/main">
              <a:ext uri="{FF2B5EF4-FFF2-40B4-BE49-F238E27FC236}">
                <a16:creationId xmlns:a16="http://schemas.microsoft.com/office/drawing/2014/main" id="{B93B62CA-E585-49CB-9DB2-DC60E95D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81475"/>
            <a:ext cx="0" cy="1352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CD6CC"/>
            </a:solidFill>
            <a:prstDash val="solid"/>
          </a:ln>
        </p:spPr>
      </p:sp>
      <p:sp>
        <p:nvSpPr>
          <p:cNvPr id="47" name="factor-vline-2">
            <a:extLst xmlns:a="http://schemas.openxmlformats.org/drawingml/2006/main">
              <a:ext uri="{FF2B5EF4-FFF2-40B4-BE49-F238E27FC236}">
                <a16:creationId xmlns:a16="http://schemas.microsoft.com/office/drawing/2014/main" id="{16A0D199-3FAE-4F73-B9F9-7FD5C676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81475"/>
            <a:ext cx="0" cy="1352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CD6CC"/>
            </a:solidFill>
            <a:prstDash val="solid"/>
          </a:ln>
        </p:spPr>
      </p:sp>
      <p:sp>
        <p:nvSpPr>
          <p:cNvPr id="48" name="factor-benchmark-title">
            <a:extLst xmlns:a="http://schemas.openxmlformats.org/drawingml/2006/main">
              <a:ext uri="{FF2B5EF4-FFF2-40B4-BE49-F238E27FC236}">
                <a16:creationId xmlns:a16="http://schemas.microsoft.com/office/drawing/2014/main" id="{76B2BB15-D0BC-4B1E-987C-AABA4EFE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181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8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8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Benchmark y dimensión</a:t>
            </a:r>
          </a:p>
        </p:txBody>
      </p:sp>
      <p:sp>
        <p:nvSpPr>
          <p:cNvPr id="49" name="factor-benchmark-rule">
            <a:extLst xmlns:a="http://schemas.openxmlformats.org/drawingml/2006/main">
              <a:ext uri="{FF2B5EF4-FFF2-40B4-BE49-F238E27FC236}">
                <a16:creationId xmlns:a16="http://schemas.microsoft.com/office/drawing/2014/main" id="{0D8AA4EC-9028-424D-95EF-C3CD6878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3181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CD6CC"/>
            </a:solidFill>
            <a:prstDash val="solid"/>
          </a:ln>
        </p:spPr>
      </p:sp>
      <p:sp>
        <p:nvSpPr>
          <p:cNvPr id="50" name="factor-benchmark-1">
            <a:extLst xmlns:a="http://schemas.openxmlformats.org/drawingml/2006/main">
              <a:ext uri="{FF2B5EF4-FFF2-40B4-BE49-F238E27FC236}">
                <a16:creationId xmlns:a16="http://schemas.microsoft.com/office/drawing/2014/main" id="{07DA6218-9D8D-478B-B37D-F5497C40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9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9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Branin alcanza 0.898; Hartmann6 queda en 0.434.</a:t>
            </a:r>
          </a:p>
        </p:txBody>
      </p:sp>
      <p:sp>
        <p:nvSpPr>
          <p:cNvPr id="51" name="factor-benchmark-2">
            <a:extLst xmlns:a="http://schemas.openxmlformats.org/drawingml/2006/main">
              <a:ext uri="{FF2B5EF4-FFF2-40B4-BE49-F238E27FC236}">
                <a16:creationId xmlns:a16="http://schemas.microsoft.com/office/drawing/2014/main" id="{335C934A-6CB9-4792-BBCD-2662CD4C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9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9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La geometría y dimensión del problema dominan más que una decisión aislada del pipeline.</a:t>
            </a:r>
          </a:p>
        </p:txBody>
      </p:sp>
      <p:sp>
        <p:nvSpPr>
          <p:cNvPr id="52" name="factor-design-title">
            <a:extLst xmlns:a="http://schemas.openxmlformats.org/drawingml/2006/main">
              <a:ext uri="{FF2B5EF4-FFF2-40B4-BE49-F238E27FC236}">
                <a16:creationId xmlns:a16="http://schemas.microsoft.com/office/drawing/2014/main" id="{C9D02A07-1C0B-4396-A89C-8AF846DF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71950"/>
            <a:ext cx="3181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8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8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Diseño inicial</a:t>
            </a:r>
          </a:p>
        </p:txBody>
      </p:sp>
      <p:sp>
        <p:nvSpPr>
          <p:cNvPr id="53" name="factor-design-rule">
            <a:extLst xmlns:a="http://schemas.openxmlformats.org/drawingml/2006/main">
              <a:ext uri="{FF2B5EF4-FFF2-40B4-BE49-F238E27FC236}">
                <a16:creationId xmlns:a16="http://schemas.microsoft.com/office/drawing/2014/main" id="{5BABD7A1-12DB-4A00-8884-84329AF2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29125"/>
            <a:ext cx="3181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CD6CC"/>
            </a:solidFill>
            <a:prstDash val="solid"/>
          </a:ln>
        </p:spPr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d9c5576cc4168"/>
          <a:stretch xmlns:a="http://schemas.openxmlformats.org/drawingml/2006/main"/>
        </p:blipFill>
        <p:spPr>
          <a:xfrm xmlns:a="http://schemas.openxmlformats.org/drawingml/2006/main">
            <a:off x="4495800" y="4588595"/>
            <a:ext cx="1600200" cy="214460"/>
          </a:xfrm>
          <a:prstGeom xmlns:a="http://schemas.openxmlformats.org/drawingml/2006/main" prst="rect">
            <a:avLst/>
          </a:prstGeom>
        </p:spPr>
      </p:pic>
      <p:sp>
        <p:nvSpPr>
          <p:cNvPr id="55" name="factor-design-1">
            <a:extLst xmlns:a="http://schemas.openxmlformats.org/drawingml/2006/main">
              <a:ext uri="{FF2B5EF4-FFF2-40B4-BE49-F238E27FC236}">
                <a16:creationId xmlns:a16="http://schemas.microsoft.com/office/drawing/2014/main" id="{66C6DA42-5A73-414A-A653-56D0E0B8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9585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9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9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Pocos puntos: más margen relativo y más inestabilidad.</a:t>
            </a:r>
          </a:p>
        </p:txBody>
      </p:sp>
      <p:sp>
        <p:nvSpPr>
          <p:cNvPr id="56" name="factor-design-2">
            <a:extLst xmlns:a="http://schemas.openxmlformats.org/drawingml/2006/main">
              <a:ext uri="{FF2B5EF4-FFF2-40B4-BE49-F238E27FC236}">
                <a16:creationId xmlns:a16="http://schemas.microsoft.com/office/drawing/2014/main" id="{B37E71E2-55AC-4073-8784-EEF5AB74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25780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9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9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Más puntos: GP más informado, menor margen para que EI mejore.</a:t>
            </a:r>
          </a:p>
        </p:txBody>
      </p:sp>
      <p:sp>
        <p:nvSpPr>
          <p:cNvPr id="57" name="factor-kernel-title">
            <a:extLst xmlns:a="http://schemas.openxmlformats.org/drawingml/2006/main">
              <a:ext uri="{FF2B5EF4-FFF2-40B4-BE49-F238E27FC236}">
                <a16:creationId xmlns:a16="http://schemas.microsoft.com/office/drawing/2014/main" id="{1304696C-F1CC-4FC0-BC8D-BEC2407D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71950"/>
            <a:ext cx="3181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8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8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Kernel</a:t>
            </a:r>
          </a:p>
        </p:txBody>
      </p:sp>
      <p:sp>
        <p:nvSpPr>
          <p:cNvPr id="58" name="factor-kernel-rule">
            <a:extLst xmlns:a="http://schemas.openxmlformats.org/drawingml/2006/main">
              <a:ext uri="{FF2B5EF4-FFF2-40B4-BE49-F238E27FC236}">
                <a16:creationId xmlns:a16="http://schemas.microsoft.com/office/drawing/2014/main" id="{43D330F8-5EEB-4AF1-A8C8-A9B429A5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29125"/>
            <a:ext cx="3181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CD6CC"/>
            </a:solidFill>
            <a:prstDash val="solid"/>
          </a:ln>
        </p:spPr>
      </p:sp>
      <p:sp>
        <p:nvSpPr>
          <p:cNvPr id="59" name="factor-kernel-1">
            <a:extLst xmlns:a="http://schemas.openxmlformats.org/drawingml/2006/main">
              <a:ext uri="{FF2B5EF4-FFF2-40B4-BE49-F238E27FC236}">
                <a16:creationId xmlns:a16="http://schemas.microsoft.com/office/drawing/2014/main" id="{BE466B90-4E85-4642-BEFF-2887D1E9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8152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9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9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RBF y Matérn concentran los comportamientos más consistentes.</a:t>
            </a:r>
          </a:p>
        </p:txBody>
      </p:sp>
      <p:sp>
        <p:nvSpPr>
          <p:cNvPr id="60" name="factor-kernel-2">
            <a:extLst xmlns:a="http://schemas.openxmlformats.org/drawingml/2006/main">
              <a:ext uri="{FF2B5EF4-FFF2-40B4-BE49-F238E27FC236}">
                <a16:creationId xmlns:a16="http://schemas.microsoft.com/office/drawing/2014/main" id="{830F99D0-CD2A-44D5-BC33-E1FE19D3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9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9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El lineal destaca en casos concretos; ARD ayuda más en MAE que en optimización.</a:t>
            </a:r>
          </a:p>
        </p:txBody>
      </p:sp>
      <p:sp>
        <p:nvSpPr>
          <p:cNvPr id="61" name="prudence">
            <a:extLst xmlns:a="http://schemas.openxmlformats.org/drawingml/2006/main">
              <a:ext uri="{FF2B5EF4-FFF2-40B4-BE49-F238E27FC236}">
                <a16:creationId xmlns:a16="http://schemas.microsoft.com/office/drawing/2014/main" id="{86F8CF30-3E3C-4D8F-96D0-EECF9E7B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8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Interpretación prudente: sampler y ruido modifican trayectorias concretas, pero no aparecen como factores dominantes frente al benchmark, el tamaño inicial o el kernel.</a:t>
            </a:r>
          </a:p>
        </p:txBody>
      </p:sp>
      <p:sp>
        <p:nvSpPr>
          <p:cNvPr id="62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6FC22CE9-54CF-42E3-89C9-186A8DE3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63" name="closing">
            <a:extLst xmlns:a="http://schemas.openxmlformats.org/drawingml/2006/main">
              <a:ext uri="{FF2B5EF4-FFF2-40B4-BE49-F238E27FC236}">
                <a16:creationId xmlns:a16="http://schemas.microsoft.com/office/drawing/2014/main" id="{4BD04FD4-501B-4EBF-BB94-61AB4A05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62675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El éxito de SBO aparece cuando el diseño inicial, el kernel y EI encajan con la geometría del problema.</a:t>
            </a:r>
          </a:p>
        </p:txBody>
      </p:sp>
      <p:sp>
        <p:nvSpPr>
          <p:cNvPr id="6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4F0BC90-D250-4BE1-9D4E-C69179BA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191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220281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2026-07-02T20:05:01.9910000Z</dcterms:created>
  <dcterms:modified xsi:type="dcterms:W3CDTF">2026-07-02T20:05:01.9910000Z</dcterms:modified>
</coreProperties>
</file>