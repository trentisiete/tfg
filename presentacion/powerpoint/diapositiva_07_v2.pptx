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0b783b0d741ef" /><Relationship Type="http://schemas.openxmlformats.org/officeDocument/2006/relationships/extended-properties" Target="/docProps/app.xml" Id="Ra8598bd7126041d5" /><Relationship Type="http://schemas.openxmlformats.org/officeDocument/2006/relationships/officeDocument" Target="/ppt/presentation.xml" Id="R48684a4d4ed947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cf9d4e44dc498d"/>
  </p:sldMasterIdLst>
  <p:notesMasterIdLst>
    <p:notesMasterId xmlns:r="http://schemas.openxmlformats.org/officeDocument/2006/relationships" r:id="R3b21271f0e824562"/>
  </p:notesMasterIdLst>
  <p:sldIdLst>
    <p:sldId xmlns:r="http://schemas.openxmlformats.org/officeDocument/2006/relationships" id="256" r:id="R62b6a891877747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f2424adab34b53" /><Relationship Type="http://schemas.openxmlformats.org/officeDocument/2006/relationships/slideMaster" Target="/ppt/slideMasters/slideMaster1.xml" Id="R43cf9d4e44dc498d" /><Relationship Type="http://schemas.openxmlformats.org/officeDocument/2006/relationships/notesMaster" Target="/ppt/notesMasters/notesMaster1.xml" Id="R3b21271f0e824562" /><Relationship Type="http://schemas.openxmlformats.org/officeDocument/2006/relationships/presProps" Target="/ppt/presProps.xml" Id="R7bd57ecc1ffd4e8f" /><Relationship Type="http://schemas.openxmlformats.org/officeDocument/2006/relationships/tableStyles" Target="/ppt/tableStyles.xml" Id="R0d20a536b36646e8" /><Relationship Type="http://schemas.openxmlformats.org/officeDocument/2006/relationships/slide" Target="/ppt/slides/slide1.xml" Id="R62b6a891877747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4992186a449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4e6a93ad904d4b" /><Relationship Type="http://schemas.openxmlformats.org/officeDocument/2006/relationships/notesMaster" Target="/ppt/notesMasters/notesMaster1.xml" Id="R62a9b1cd78e245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ca8f974e6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695fe7019045cc" /><Relationship Type="http://schemas.openxmlformats.org/officeDocument/2006/relationships/slideLayout" Target="/ppt/slideLayouts/slideLayout1.xml" Id="R1b02be6298934b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02be6298934b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0f61fb5d84073" /><Relationship Type="http://schemas.openxmlformats.org/officeDocument/2006/relationships/image" Target="/ppt/media/image.png" Id="R93731130c27b41c8" /><Relationship Type="http://schemas.openxmlformats.org/officeDocument/2006/relationships/image" Target="/ppt/media/image2.png" Id="Rbc54672b3b65444d" /><Relationship Type="http://schemas.openxmlformats.org/officeDocument/2006/relationships/image" Target="/ppt/media/image3.png" Id="Rf97ace51f73a4d3e" /><Relationship Type="http://schemas.openxmlformats.org/officeDocument/2006/relationships/image" Target="/ppt/media/image4.png" Id="R31e453bd0714423b" /><Relationship Type="http://schemas.openxmlformats.org/officeDocument/2006/relationships/image" Target="/ppt/media/image5.png" Id="R98571bb7c192463a" /><Relationship Type="http://schemas.openxmlformats.org/officeDocument/2006/relationships/image" Target="/ppt/media/image6.png" Id="Ree9325006af747e5" /><Relationship Type="http://schemas.openxmlformats.org/officeDocument/2006/relationships/image" Target="/ppt/media/image7.png" Id="Rb6640a4ae76d446f" /><Relationship Type="http://schemas.openxmlformats.org/officeDocument/2006/relationships/image" Target="/ppt/media/image8.png" Id="Rf79681540bde4236" /><Relationship Type="http://schemas.openxmlformats.org/officeDocument/2006/relationships/image" Target="/ppt/media/image9.png" Id="R469e1dac75294a65" /><Relationship Type="http://schemas.openxmlformats.org/officeDocument/2006/relationships/image" Target="/ppt/media/image10.png" Id="R1c888b77600f40df" /><Relationship Type="http://schemas.openxmlformats.org/officeDocument/2006/relationships/notesSlide" Target="/ppt/notesSlides/notesSlide1.xml" Id="R80ac2f175bd042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B0A6623-9BF0-4322-A40C-5719FA36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PROCESO GAUSSIANO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30837D0-5B1F-4C38-A7D1-24B07EAF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888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Proceso gaussiano: una distribución sobre funciones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39BDD7B-35AC-41AA-91E3-2B93F7FB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88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388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El modelo queda definido por una media esperada y una covarianza entre puntos.</a:t>
            </a:r>
          </a:p>
        </p:txBody>
      </p:sp>
      <p:sp>
        <p:nvSpPr>
          <p:cNvPr id="4" name="separator-one">
            <a:extLst xmlns:a="http://schemas.openxmlformats.org/drawingml/2006/main">
              <a:ext uri="{FF2B5EF4-FFF2-40B4-BE49-F238E27FC236}">
                <a16:creationId xmlns:a16="http://schemas.microsoft.com/office/drawing/2014/main" id="{597F463E-1005-4161-897E-9D3966DB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5" name="separator-two">
            <a:extLst xmlns:a="http://schemas.openxmlformats.org/drawingml/2006/main">
              <a:ext uri="{FF2B5EF4-FFF2-40B4-BE49-F238E27FC236}">
                <a16:creationId xmlns:a16="http://schemas.microsoft.com/office/drawing/2014/main" id="{9C61C4E0-D7A7-412E-9A10-F7D3C9D5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0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001">
            <a:solidFill>
              <a:srgbClr val="D4CCC0"/>
            </a:solidFill>
            <a:prstDash val="solid"/>
          </a:ln>
        </p:spPr>
      </p:sp>
      <p:sp>
        <p:nvSpPr>
          <p:cNvPr id="6" name="formal-accent">
            <a:extLst xmlns:a="http://schemas.openxmlformats.org/drawingml/2006/main">
              <a:ext uri="{FF2B5EF4-FFF2-40B4-BE49-F238E27FC236}">
                <a16:creationId xmlns:a16="http://schemas.microsoft.com/office/drawing/2014/main" id="{4DFECA10-0765-47B3-8996-26AE883F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4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rmal-kicker">
            <a:extLst xmlns:a="http://schemas.openxmlformats.org/drawingml/2006/main">
              <a:ext uri="{FF2B5EF4-FFF2-40B4-BE49-F238E27FC236}">
                <a16:creationId xmlns:a16="http://schemas.microsoft.com/office/drawing/2014/main" id="{44D447DA-341B-45EB-B749-4A65B294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Definición formal</a:t>
            </a:r>
          </a:p>
        </p:txBody>
      </p:sp>
      <p:sp>
        <p:nvSpPr>
          <p:cNvPr id="8" name="formal-step-badge">
            <a:extLst xmlns:a="http://schemas.openxmlformats.org/drawingml/2006/main">
              <a:ext uri="{FF2B5EF4-FFF2-40B4-BE49-F238E27FC236}">
                <a16:creationId xmlns:a16="http://schemas.microsoft.com/office/drawing/2014/main" id="{C296FD65-917A-42AF-A66C-A86F0FD4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174C5B"/>
            </a:solidFill>
            <a:prstDash val="solid"/>
          </a:ln>
        </p:spPr>
      </p:sp>
      <p:sp>
        <p:nvSpPr>
          <p:cNvPr id="9" name="formal-step-badge-text">
            <a:extLst xmlns:a="http://schemas.openxmlformats.org/drawingml/2006/main">
              <a:ext uri="{FF2B5EF4-FFF2-40B4-BE49-F238E27FC236}">
                <a16:creationId xmlns:a16="http://schemas.microsoft.com/office/drawing/2014/main" id="{A484F6AB-F3DC-43D3-A7C3-AF4CE690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65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1</a:t>
            </a:r>
          </a:p>
        </p:txBody>
      </p:sp>
      <p:sp>
        <p:nvSpPr>
          <p:cNvPr id="10" name="formal-title">
            <a:extLst xmlns:a="http://schemas.openxmlformats.org/drawingml/2006/main">
              <a:ext uri="{FF2B5EF4-FFF2-40B4-BE49-F238E27FC236}">
                <a16:creationId xmlns:a16="http://schemas.microsoft.com/office/drawing/2014/main" id="{B936FB47-1058-4696-99F6-E0697519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714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Distribución sobre funciones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31130c27b41c8"/>
          <a:stretch xmlns:a="http://schemas.openxmlformats.org/drawingml/2006/main"/>
        </p:blipFill>
        <p:spPr>
          <a:xfrm xmlns:a="http://schemas.openxmlformats.org/drawingml/2006/main">
            <a:off x="819150" y="2952396"/>
            <a:ext cx="3219450" cy="381709"/>
          </a:xfrm>
          <a:prstGeom xmlns:a="http://schemas.openxmlformats.org/drawingml/2006/main" prst="rect">
            <a:avLst/>
          </a:prstGeom>
        </p:spPr>
      </p:pic>
      <p:sp>
        <p:nvSpPr>
          <p:cNvPr id="12" name="formal-rule-one">
            <a:extLst xmlns:a="http://schemas.openxmlformats.org/drawingml/2006/main">
              <a:ext uri="{FF2B5EF4-FFF2-40B4-BE49-F238E27FC236}">
                <a16:creationId xmlns:a16="http://schemas.microsoft.com/office/drawing/2014/main" id="{56F7AA44-F865-4821-A70C-FF84F2E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4672b3b65444d"/>
          <a:stretch xmlns:a="http://schemas.openxmlformats.org/drawingml/2006/main"/>
        </p:blipFill>
        <p:spPr>
          <a:xfrm xmlns:a="http://schemas.openxmlformats.org/drawingml/2006/main">
            <a:off x="826607" y="3638550"/>
            <a:ext cx="1509085" cy="285750"/>
          </a:xfrm>
          <a:prstGeom xmlns:a="http://schemas.openxmlformats.org/drawingml/2006/main" prst="rect">
            <a:avLst/>
          </a:prstGeom>
        </p:spPr>
      </p:pic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ace51f73a4d3e"/>
          <a:stretch xmlns:a="http://schemas.openxmlformats.org/drawingml/2006/main"/>
        </p:blipFill>
        <p:spPr>
          <a:xfrm xmlns:a="http://schemas.openxmlformats.org/drawingml/2006/main">
            <a:off x="1104751" y="4038600"/>
            <a:ext cx="2267248" cy="285750"/>
          </a:xfrm>
          <a:prstGeom xmlns:a="http://schemas.openxmlformats.org/drawingml/2006/main" prst="rect">
            <a:avLst/>
          </a:prstGeom>
        </p:spPr>
      </p:pic>
      <p:sp>
        <p:nvSpPr>
          <p:cNvPr id="15" name="formal-rule-two">
            <a:extLst xmlns:a="http://schemas.openxmlformats.org/drawingml/2006/main">
              <a:ext uri="{FF2B5EF4-FFF2-40B4-BE49-F238E27FC236}">
                <a16:creationId xmlns:a16="http://schemas.microsoft.com/office/drawing/2014/main" id="{43A4AD34-02B6-4E9D-BB3F-64D63CAA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329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6" name="formal-meaning">
            <a:extLst xmlns:a="http://schemas.openxmlformats.org/drawingml/2006/main">
              <a:ext uri="{FF2B5EF4-FFF2-40B4-BE49-F238E27FC236}">
                <a16:creationId xmlns:a16="http://schemas.microsoft.com/office/drawing/2014/main" id="{4228ADA6-6185-4D87-90C4-A05393A4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3124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Media: comportamiento esperado.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Kernel: relación entre valores de la función.</a:t>
            </a:r>
          </a:p>
        </p:txBody>
      </p:sp>
      <p:sp>
        <p:nvSpPr>
          <p:cNvPr id="17" name="finite-accent">
            <a:extLst xmlns:a="http://schemas.openxmlformats.org/drawingml/2006/main">
              <a:ext uri="{FF2B5EF4-FFF2-40B4-BE49-F238E27FC236}">
                <a16:creationId xmlns:a16="http://schemas.microsoft.com/office/drawing/2014/main" id="{A27168D4-2CA9-4BD0-817D-2849F10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2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inite-kicker">
            <a:extLst xmlns:a="http://schemas.openxmlformats.org/drawingml/2006/main">
              <a:ext uri="{FF2B5EF4-FFF2-40B4-BE49-F238E27FC236}">
                <a16:creationId xmlns:a16="http://schemas.microsoft.com/office/drawing/2014/main" id="{C71D94DA-D990-4C3C-A854-8EC3799C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3067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Definición finita</a:t>
            </a:r>
          </a:p>
        </p:txBody>
      </p:sp>
      <p:sp>
        <p:nvSpPr>
          <p:cNvPr id="19" name="finite-step-badge">
            <a:extLst xmlns:a="http://schemas.openxmlformats.org/drawingml/2006/main">
              <a:ext uri="{FF2B5EF4-FFF2-40B4-BE49-F238E27FC236}">
                <a16:creationId xmlns:a16="http://schemas.microsoft.com/office/drawing/2014/main" id="{03C3A8BF-0573-4711-95B0-E4B65858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574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C9822B"/>
            </a:solidFill>
            <a:prstDash val="solid"/>
          </a:ln>
        </p:spPr>
      </p:sp>
      <p:sp>
        <p:nvSpPr>
          <p:cNvPr id="20" name="finite-step-badge-text">
            <a:extLst xmlns:a="http://schemas.openxmlformats.org/drawingml/2006/main">
              <a:ext uri="{FF2B5EF4-FFF2-40B4-BE49-F238E27FC236}">
                <a16:creationId xmlns:a16="http://schemas.microsoft.com/office/drawing/2014/main" id="{06C075A4-1F76-40BE-AEBE-2CC9C6F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86050"/>
            <a:ext cx="228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65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765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2</a:t>
            </a:r>
          </a:p>
        </p:txBody>
      </p:sp>
      <p:sp>
        <p:nvSpPr>
          <p:cNvPr id="21" name="finite-title">
            <a:extLst xmlns:a="http://schemas.openxmlformats.org/drawingml/2006/main">
              <a:ext uri="{FF2B5EF4-FFF2-40B4-BE49-F238E27FC236}">
                <a16:creationId xmlns:a16="http://schemas.microsoft.com/office/drawing/2014/main" id="{192B3E5B-E01D-4FE1-B14C-B2F55FA2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86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5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15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Todo cálculo se hace en puntos finitos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453bd0714423b"/>
          <a:stretch xmlns:a="http://schemas.openxmlformats.org/drawingml/2006/main"/>
        </p:blipFill>
        <p:spPr>
          <a:xfrm xmlns:a="http://schemas.openxmlformats.org/drawingml/2006/main">
            <a:off x="4609111" y="2857500"/>
            <a:ext cx="1773627" cy="81915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71bb7c192463a"/>
          <a:stretch xmlns:a="http://schemas.openxmlformats.org/drawingml/2006/main"/>
        </p:blipFill>
        <p:spPr>
          <a:xfrm xmlns:a="http://schemas.openxmlformats.org/drawingml/2006/main">
            <a:off x="4542957" y="3752850"/>
            <a:ext cx="2229787" cy="400050"/>
          </a:xfrm>
          <a:prstGeom xmlns:a="http://schemas.openxmlformats.org/drawingml/2006/main" prst="rect">
            <a:avLst/>
          </a:prstGeom>
        </p:spPr>
      </p:pic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9325006af747e5"/>
          <a:stretch xmlns:a="http://schemas.openxmlformats.org/drawingml/2006/main"/>
        </p:blipFill>
        <p:spPr>
          <a:xfrm xmlns:a="http://schemas.openxmlformats.org/drawingml/2006/main">
            <a:off x="4510641" y="4267200"/>
            <a:ext cx="1665767" cy="304800"/>
          </a:xfrm>
          <a:prstGeom xmlns:a="http://schemas.openxmlformats.org/drawingml/2006/main" prst="rect">
            <a:avLst/>
          </a:prstGeom>
        </p:spPr>
      </p:pic>
      <p:sp>
        <p:nvSpPr>
          <p:cNvPr id="25" name="finite-rule">
            <a:extLst xmlns:a="http://schemas.openxmlformats.org/drawingml/2006/main">
              <a:ext uri="{FF2B5EF4-FFF2-40B4-BE49-F238E27FC236}">
                <a16:creationId xmlns:a16="http://schemas.microsoft.com/office/drawing/2014/main" id="{D12B01AE-822F-43A5-A3ED-CBEB53B2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053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26" name="finite-note">
            <a:extLst xmlns:a="http://schemas.openxmlformats.org/drawingml/2006/main">
              <a:ext uri="{FF2B5EF4-FFF2-40B4-BE49-F238E27FC236}">
                <a16:creationId xmlns:a16="http://schemas.microsoft.com/office/drawing/2014/main" id="{8B7C7E30-3776-48A7-B646-2B773575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7680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5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Para cualquier conjunto finito de puntos, los valores de la función siguen una gaussiana conjunta.</a:t>
            </a:r>
          </a:p>
        </p:txBody>
      </p:sp>
      <p:sp>
        <p:nvSpPr>
          <p:cNvPr id="27" name="visual-accent">
            <a:extLst xmlns:a="http://schemas.openxmlformats.org/drawingml/2006/main">
              <a:ext uri="{FF2B5EF4-FFF2-40B4-BE49-F238E27FC236}">
                <a16:creationId xmlns:a16="http://schemas.microsoft.com/office/drawing/2014/main" id="{D819BC41-A471-4CB1-8B98-B6D202E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4000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visual-kicker">
            <a:extLst xmlns:a="http://schemas.openxmlformats.org/drawingml/2006/main">
              <a:ext uri="{FF2B5EF4-FFF2-40B4-BE49-F238E27FC236}">
                <a16:creationId xmlns:a16="http://schemas.microsoft.com/office/drawing/2014/main" id="{3BCF666C-45C5-4FC6-BE9F-4A3C6FFD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95525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15" b="1">
                <a:solidFill>
                  <a:srgbClr val="2F7D6D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2F7D6D"/>
                </a:solidFill>
                <a:latin typeface="Google Sans"/>
                <a:ea typeface="Google Sans"/>
                <a:cs typeface="Google Sans"/>
              </a:rPr>
              <a:t>Prior GP antes de observar datos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40a4ae76d446f"/>
          <a:stretch xmlns:a="http://schemas.openxmlformats.org/drawingml/2006/main"/>
        </p:blipFill>
        <p:spPr>
          <a:xfrm xmlns:a="http://schemas.openxmlformats.org/drawingml/2006/main">
            <a:off x="7867650" y="2582936"/>
            <a:ext cx="3333750" cy="1615927"/>
          </a:xfrm>
          <a:prstGeom xmlns:a="http://schemas.openxmlformats.org/drawingml/2006/main" prst="rect">
            <a:avLst/>
          </a:prstGeom>
        </p:spPr>
      </p:pic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681540bde4236"/>
          <a:stretch xmlns:a="http://schemas.openxmlformats.org/drawingml/2006/main"/>
        </p:blipFill>
        <p:spPr>
          <a:xfrm xmlns:a="http://schemas.openxmlformats.org/drawingml/2006/main">
            <a:off x="9944100" y="2292212"/>
            <a:ext cx="1200150" cy="254277"/>
          </a:xfrm>
          <a:prstGeom xmlns:a="http://schemas.openxmlformats.org/drawingml/2006/main" prst="rect">
            <a:avLst/>
          </a:prstGeom>
        </p:spPr>
      </p:pic>
      <p:sp>
        <p:nvSpPr>
          <p:cNvPr id="31" name="legend-samples">
            <a:extLst xmlns:a="http://schemas.openxmlformats.org/drawingml/2006/main">
              <a:ext uri="{FF2B5EF4-FFF2-40B4-BE49-F238E27FC236}">
                <a16:creationId xmlns:a16="http://schemas.microsoft.com/office/drawing/2014/main" id="{70AFC25D-AAEB-4EA8-A6F3-20693E3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7E8E94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7E8E94"/>
                </a:solidFill>
                <a:latin typeface="Google Sans"/>
                <a:ea typeface="Google Sans"/>
                <a:cs typeface="Google Sans"/>
              </a:rPr>
              <a:t>funciones plausibles</a:t>
            </a:r>
          </a:p>
        </p:txBody>
      </p:sp>
      <p:sp>
        <p:nvSpPr>
          <p:cNvPr id="32" name="legend-mean-text">
            <a:extLst xmlns:a="http://schemas.openxmlformats.org/drawingml/2006/main">
              <a:ext uri="{FF2B5EF4-FFF2-40B4-BE49-F238E27FC236}">
                <a16:creationId xmlns:a16="http://schemas.microsoft.com/office/drawing/2014/main" id="{8BADA90E-DFC0-49D0-B0E3-31899EE6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672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810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media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e1dac75294a65"/>
          <a:stretch xmlns:a="http://schemas.openxmlformats.org/drawingml/2006/main"/>
        </p:blipFill>
        <p:spPr>
          <a:xfrm xmlns:a="http://schemas.openxmlformats.org/drawingml/2006/main">
            <a:off x="9945042" y="4229100"/>
            <a:ext cx="360066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legend-band">
            <a:extLst xmlns:a="http://schemas.openxmlformats.org/drawingml/2006/main">
              <a:ext uri="{FF2B5EF4-FFF2-40B4-BE49-F238E27FC236}">
                <a16:creationId xmlns:a16="http://schemas.microsoft.com/office/drawing/2014/main" id="{FA07FD19-BA57-4A03-802A-574CFA37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10" b="0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variabilidad inducida por k</a:t>
            </a:r>
          </a:p>
        </p:txBody>
      </p:sp>
      <p:sp>
        <p:nvSpPr>
          <p:cNvPr id="35" name="why-rule">
            <a:extLst xmlns:a="http://schemas.openxmlformats.org/drawingml/2006/main">
              <a:ext uri="{FF2B5EF4-FFF2-40B4-BE49-F238E27FC236}">
                <a16:creationId xmlns:a16="http://schemas.microsoft.com/office/drawing/2014/main" id="{4A090292-12D7-40B8-A783-920BB8F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053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36" name="why-title">
            <a:extLst xmlns:a="http://schemas.openxmlformats.org/drawingml/2006/main">
              <a:ext uri="{FF2B5EF4-FFF2-40B4-BE49-F238E27FC236}">
                <a16:creationId xmlns:a16="http://schemas.microsoft.com/office/drawing/2014/main" id="{BF359153-11CF-4C20-B967-B7FEE477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9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99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Por qué sirve como sustituto</a:t>
            </a:r>
          </a:p>
        </p:txBody>
      </p:sp>
      <p:sp>
        <p:nvSpPr>
          <p:cNvPr id="37" name="why-text">
            <a:extLst xmlns:a="http://schemas.openxmlformats.org/drawingml/2006/main">
              <a:ext uri="{FF2B5EF4-FFF2-40B4-BE49-F238E27FC236}">
                <a16:creationId xmlns:a16="http://schemas.microsoft.com/office/drawing/2014/main" id="{523D22EF-605F-4463-B1A3-A4F4A042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0540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1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El GP combina una predicción media con una medida de incertidumbre, algo necesario cuando cada nueva evaluación es costosa.</a:t>
            </a:r>
          </a:p>
        </p:txBody>
      </p:sp>
      <p:sp>
        <p:nvSpPr>
          <p:cNvPr id="38" name="bottom-divider">
            <a:extLst xmlns:a="http://schemas.openxmlformats.org/drawingml/2006/main">
              <a:ext uri="{FF2B5EF4-FFF2-40B4-BE49-F238E27FC236}">
                <a16:creationId xmlns:a16="http://schemas.microsoft.com/office/drawing/2014/main" id="{54B93EDC-91CA-4DC3-BD81-6AB45399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4CCC0"/>
            </a:solidFill>
            <a:prstDash val="solid"/>
          </a:ln>
        </p:spPr>
      </p:sp>
      <p:sp>
        <p:nvSpPr>
          <p:cNvPr id="39" name="bottom-kicker">
            <a:extLst xmlns:a="http://schemas.openxmlformats.org/drawingml/2006/main">
              <a:ext uri="{FF2B5EF4-FFF2-40B4-BE49-F238E27FC236}">
                <a16:creationId xmlns:a16="http://schemas.microsoft.com/office/drawing/2014/main" id="{92FAD2C3-1492-4A15-A984-47641FDA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674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Preparación</a:t>
            </a:r>
          </a:p>
        </p:txBody>
      </p:sp>
      <p:sp>
        <p:nvSpPr>
          <p:cNvPr id="40" name="takeaway-left">
            <a:extLst xmlns:a="http://schemas.openxmlformats.org/drawingml/2006/main">
              <a:ext uri="{FF2B5EF4-FFF2-40B4-BE49-F238E27FC236}">
                <a16:creationId xmlns:a16="http://schemas.microsoft.com/office/drawing/2014/main" id="{E3982E05-0C59-43A6-954E-5269AFA5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626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La forma de</a:t>
            </a:r>
          </a:p>
        </p:txBody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88b77600f40df"/>
          <a:stretch xmlns:a="http://schemas.openxmlformats.org/drawingml/2006/main"/>
        </p:blipFill>
        <p:spPr>
          <a:xfrm xmlns:a="http://schemas.openxmlformats.org/drawingml/2006/main">
            <a:off x="4261235" y="5895975"/>
            <a:ext cx="773929" cy="323850"/>
          </a:xfrm>
          <a:prstGeom xmlns:a="http://schemas.openxmlformats.org/drawingml/2006/main" prst="rect">
            <a:avLst/>
          </a:prstGeom>
        </p:spPr>
      </p:pic>
      <p:sp>
        <p:nvSpPr>
          <p:cNvPr id="42" name="takeaway-right">
            <a:extLst xmlns:a="http://schemas.openxmlformats.org/drawingml/2006/main">
              <a:ext uri="{FF2B5EF4-FFF2-40B4-BE49-F238E27FC236}">
                <a16:creationId xmlns:a16="http://schemas.microsoft.com/office/drawing/2014/main" id="{79260326-74AD-47B6-8D60-EEA9DB15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9626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determina qué funciones considera plausibles el proceso gaussiano.</a:t>
            </a:r>
          </a:p>
        </p:txBody>
      </p:sp>
      <p:sp>
        <p:nvSpPr>
          <p:cNvPr id="4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21C5A02-9043-4DFA-8385-E834613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191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20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5919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2026-07-02T07:14:50.1530000Z</dcterms:created>
  <dcterms:modified xsi:type="dcterms:W3CDTF">2026-07-02T07:14:50.1530000Z</dcterms:modified>
</coreProperties>
</file>