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b0080754b14974" /><Relationship Type="http://schemas.openxmlformats.org/officeDocument/2006/relationships/extended-properties" Target="/docProps/app.xml" Id="Ra49b9a6038694b2b" /><Relationship Type="http://schemas.openxmlformats.org/officeDocument/2006/relationships/officeDocument" Target="/ppt/presentation.xml" Id="R3c41f6979643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ce2b1e5e404d10"/>
  </p:sldMasterIdLst>
  <p:notesMasterIdLst>
    <p:notesMasterId xmlns:r="http://schemas.openxmlformats.org/officeDocument/2006/relationships" r:id="Rd0b7662e8b6c40f8"/>
  </p:notesMasterIdLst>
  <p:sldIdLst>
    <p:sldId xmlns:r="http://schemas.openxmlformats.org/officeDocument/2006/relationships" id="256" r:id="R4d8595f8f81c45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5b90f8e52e4fce" /><Relationship Type="http://schemas.openxmlformats.org/officeDocument/2006/relationships/slideMaster" Target="/ppt/slideMasters/slideMaster1.xml" Id="R67ce2b1e5e404d10" /><Relationship Type="http://schemas.openxmlformats.org/officeDocument/2006/relationships/notesMaster" Target="/ppt/notesMasters/notesMaster1.xml" Id="Rd0b7662e8b6c40f8" /><Relationship Type="http://schemas.openxmlformats.org/officeDocument/2006/relationships/presProps" Target="/ppt/presProps.xml" Id="R11443673b4d944a6" /><Relationship Type="http://schemas.openxmlformats.org/officeDocument/2006/relationships/tableStyles" Target="/ppt/tableStyles.xml" Id="Rf2398e5e7ace4d77" /><Relationship Type="http://schemas.openxmlformats.org/officeDocument/2006/relationships/slide" Target="/ppt/slides/slide1.xml" Id="R4d8595f8f81c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1aa53b2f240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2c23d347cf4055" /><Relationship Type="http://schemas.openxmlformats.org/officeDocument/2006/relationships/notesMaster" Target="/ppt/notesMasters/notesMaster1.xml" Id="R5d3651267966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6d006db684e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42ee5e0d8f4267" /><Relationship Type="http://schemas.openxmlformats.org/officeDocument/2006/relationships/slideLayout" Target="/ppt/slideLayouts/slideLayout1.xml" Id="R948a73e288f248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8a73e288f248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29c465aff4c9f" /><Relationship Type="http://schemas.openxmlformats.org/officeDocument/2006/relationships/image" Target="/ppt/media/image.png" Id="Rc9a697964a454a61" /><Relationship Type="http://schemas.openxmlformats.org/officeDocument/2006/relationships/image" Target="/ppt/media/image2.png" Id="Rdc1f352fa9ec48b0" /><Relationship Type="http://schemas.openxmlformats.org/officeDocument/2006/relationships/image" Target="/ppt/media/image3.png" Id="Rfb43feb56ffa47f0" /><Relationship Type="http://schemas.openxmlformats.org/officeDocument/2006/relationships/image" Target="/ppt/media/image4.png" Id="Rf94c6ea6dea04fb6" /><Relationship Type="http://schemas.openxmlformats.org/officeDocument/2006/relationships/image" Target="/ppt/media/image5.png" Id="Rd14574481a5a4202" /><Relationship Type="http://schemas.openxmlformats.org/officeDocument/2006/relationships/image" Target="/ppt/media/image6.png" Id="Rdeb2aa74b4d5458f" /><Relationship Type="http://schemas.openxmlformats.org/officeDocument/2006/relationships/image" Target="/ppt/media/image7.png" Id="R9466a6f5ae7e49d4" /><Relationship Type="http://schemas.openxmlformats.org/officeDocument/2006/relationships/image" Target="/ppt/media/image8.png" Id="Rb9f0be7ecbde4533" /><Relationship Type="http://schemas.openxmlformats.org/officeDocument/2006/relationships/notesSlide" Target="/ppt/notesSlides/notesSlide1.xml" Id="Rf870e0b2617c4d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A13B72E-4BB5-4023-B25C-94B3EB58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 GAUSSIANO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FF12BB-D0B9-417A-9B38-D94F12EB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 pesos gaussianos a funciones gaussianas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3F12DBD-AC80-4592-86DC-10C65871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42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Un prior gaussiano sobre w induce una distribución gaussiana sobre los valores de la función.</a:t>
            </a:r>
          </a:p>
        </p:txBody>
      </p:sp>
      <p:sp>
        <p:nvSpPr>
          <p:cNvPr id="4" name="derivation-accent">
            <a:extLst xmlns:a="http://schemas.openxmlformats.org/drawingml/2006/main">
              <a:ext uri="{FF2B5EF4-FFF2-40B4-BE49-F238E27FC236}">
                <a16:creationId xmlns:a16="http://schemas.microsoft.com/office/drawing/2014/main" id="{48D7DBDD-5819-4A6A-B03E-C260C354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rivation-title">
            <a:extLst xmlns:a="http://schemas.openxmlformats.org/drawingml/2006/main">
              <a:ext uri="{FF2B5EF4-FFF2-40B4-BE49-F238E27FC236}">
                <a16:creationId xmlns:a16="http://schemas.microsoft.com/office/drawing/2014/main" id="{82DA903D-50B1-4548-8449-0F3F1FE4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8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Derivación en puntos finitos</a:t>
            </a:r>
          </a:p>
        </p:txBody>
      </p:sp>
      <p:sp>
        <p:nvSpPr>
          <p:cNvPr id="6" name="concept-label">
            <a:extLst xmlns:a="http://schemas.openxmlformats.org/drawingml/2006/main">
              <a:ext uri="{FF2B5EF4-FFF2-40B4-BE49-F238E27FC236}">
                <a16:creationId xmlns:a16="http://schemas.microsoft.com/office/drawing/2014/main" id="{8CF0D682-E98B-4214-B5DB-919E622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Paso conceptual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697964a454a61"/>
          <a:stretch xmlns:a="http://schemas.openxmlformats.org/drawingml/2006/main"/>
        </p:blipFill>
        <p:spPr>
          <a:xfrm xmlns:a="http://schemas.openxmlformats.org/drawingml/2006/main">
            <a:off x="2343150" y="2265181"/>
            <a:ext cx="971550" cy="194038"/>
          </a:xfrm>
          <a:prstGeom xmlns:a="http://schemas.openxmlformats.org/drawingml/2006/main" prst="rect">
            <a:avLst/>
          </a:prstGeom>
        </p:spPr>
      </p:pic>
      <p:sp>
        <p:nvSpPr>
          <p:cNvPr id="8" name="concept-note">
            <a:extLst xmlns:a="http://schemas.openxmlformats.org/drawingml/2006/main">
              <a:ext uri="{FF2B5EF4-FFF2-40B4-BE49-F238E27FC236}">
                <a16:creationId xmlns:a16="http://schemas.microsoft.com/office/drawing/2014/main" id="{93B981FC-15A0-4A8C-9A51-58B82887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7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7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de incertidumbre sobre parámetros a incertidumbre sobre funciones</a:t>
            </a:r>
          </a:p>
        </p:txBody>
      </p:sp>
      <p:sp>
        <p:nvSpPr>
          <p:cNvPr id="9" name="timeline">
            <a:extLst xmlns:a="http://schemas.openxmlformats.org/drawingml/2006/main">
              <a:ext uri="{FF2B5EF4-FFF2-40B4-BE49-F238E27FC236}">
                <a16:creationId xmlns:a16="http://schemas.microsoft.com/office/drawing/2014/main" id="{C37E64BC-EE29-44C9-9FC8-F05147F9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0" cy="198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CCC0"/>
            </a:solidFill>
            <a:prstDash val="solid"/>
          </a:ln>
        </p:spPr>
      </p:sp>
      <p:sp>
        <p:nvSpPr>
          <p:cNvPr id="10" name="rule-one">
            <a:extLst xmlns:a="http://schemas.openxmlformats.org/drawingml/2006/main">
              <a:ext uri="{FF2B5EF4-FFF2-40B4-BE49-F238E27FC236}">
                <a16:creationId xmlns:a16="http://schemas.microsoft.com/office/drawing/2014/main" id="{825F316B-E595-4C10-9C4C-639C7D1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1" name="rule-two">
            <a:extLst xmlns:a="http://schemas.openxmlformats.org/drawingml/2006/main">
              <a:ext uri="{FF2B5EF4-FFF2-40B4-BE49-F238E27FC236}">
                <a16:creationId xmlns:a16="http://schemas.microsoft.com/office/drawing/2014/main" id="{36556C76-504D-47B3-9A0B-5A4EDB3D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2" name="rule-three">
            <a:extLst xmlns:a="http://schemas.openxmlformats.org/drawingml/2006/main">
              <a:ext uri="{FF2B5EF4-FFF2-40B4-BE49-F238E27FC236}">
                <a16:creationId xmlns:a16="http://schemas.microsoft.com/office/drawing/2014/main" id="{5EB3D290-BC2A-4BBB-909B-ED99833D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3" name="rule-four">
            <a:extLst xmlns:a="http://schemas.openxmlformats.org/drawingml/2006/main">
              <a:ext uri="{FF2B5EF4-FFF2-40B4-BE49-F238E27FC236}">
                <a16:creationId xmlns:a16="http://schemas.microsoft.com/office/drawing/2014/main" id="{F20E57FC-7232-484E-8350-4BBD8ADE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4" name="step-model-node">
            <a:extLst xmlns:a="http://schemas.openxmlformats.org/drawingml/2006/main">
              <a:ext uri="{FF2B5EF4-FFF2-40B4-BE49-F238E27FC236}">
                <a16:creationId xmlns:a16="http://schemas.microsoft.com/office/drawing/2014/main" id="{91D94466-1F3B-4A15-81A0-3CB55706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174C5B"/>
            </a:solidFill>
            <a:prstDash val="solid"/>
          </a:ln>
        </p:spPr>
      </p:sp>
      <p:sp>
        <p:nvSpPr>
          <p:cNvPr id="15" name="step-model-number">
            <a:extLst xmlns:a="http://schemas.openxmlformats.org/drawingml/2006/main">
              <a:ext uri="{FF2B5EF4-FFF2-40B4-BE49-F238E27FC236}">
                <a16:creationId xmlns:a16="http://schemas.microsoft.com/office/drawing/2014/main" id="{652C46C0-F86D-4478-B1C1-1F96EF2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7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7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</a:t>
            </a:r>
          </a:p>
        </p:txBody>
      </p:sp>
      <p:sp>
        <p:nvSpPr>
          <p:cNvPr id="16" name="step-model-label">
            <a:extLst xmlns:a="http://schemas.openxmlformats.org/drawingml/2006/main">
              <a:ext uri="{FF2B5EF4-FFF2-40B4-BE49-F238E27FC236}">
                <a16:creationId xmlns:a16="http://schemas.microsoft.com/office/drawing/2014/main" id="{10ADBDFE-436F-4051-B013-13BB2B49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0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Modelo lineal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f352fa9ec48b0"/>
          <a:stretch xmlns:a="http://schemas.openxmlformats.org/drawingml/2006/main"/>
        </p:blipFill>
        <p:spPr>
          <a:xfrm xmlns:a="http://schemas.openxmlformats.org/drawingml/2006/main">
            <a:off x="3143250" y="2721040"/>
            <a:ext cx="1181100" cy="311020"/>
          </a:xfrm>
          <a:prstGeom xmlns:a="http://schemas.openxmlformats.org/drawingml/2006/main" prst="rect">
            <a:avLst/>
          </a:prstGeom>
        </p:spPr>
      </p:pic>
      <p:sp>
        <p:nvSpPr>
          <p:cNvPr id="18" name="step-model-note">
            <a:extLst xmlns:a="http://schemas.openxmlformats.org/drawingml/2006/main">
              <a:ext uri="{FF2B5EF4-FFF2-40B4-BE49-F238E27FC236}">
                <a16:creationId xmlns:a16="http://schemas.microsoft.com/office/drawing/2014/main" id="{5221CAAF-0337-49DB-BAFE-C0CDEDD7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38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7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7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w define una función</a:t>
            </a:r>
          </a:p>
        </p:txBody>
      </p:sp>
      <p:sp>
        <p:nvSpPr>
          <p:cNvPr id="19" name="step-prior-node">
            <a:extLst xmlns:a="http://schemas.openxmlformats.org/drawingml/2006/main">
              <a:ext uri="{FF2B5EF4-FFF2-40B4-BE49-F238E27FC236}">
                <a16:creationId xmlns:a16="http://schemas.microsoft.com/office/drawing/2014/main" id="{A4B5E1CC-0326-46C5-926A-8D8E83A6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174C5B"/>
            </a:solidFill>
            <a:prstDash val="solid"/>
          </a:ln>
        </p:spPr>
      </p:sp>
      <p:sp>
        <p:nvSpPr>
          <p:cNvPr id="20" name="step-prior-number">
            <a:extLst xmlns:a="http://schemas.openxmlformats.org/drawingml/2006/main">
              <a:ext uri="{FF2B5EF4-FFF2-40B4-BE49-F238E27FC236}">
                <a16:creationId xmlns:a16="http://schemas.microsoft.com/office/drawing/2014/main" id="{5637568E-11A4-4EEC-ACFE-01FDB88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7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7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2</a:t>
            </a:r>
          </a:p>
        </p:txBody>
      </p:sp>
      <p:sp>
        <p:nvSpPr>
          <p:cNvPr id="21" name="step-prior-label">
            <a:extLst xmlns:a="http://schemas.openxmlformats.org/drawingml/2006/main">
              <a:ext uri="{FF2B5EF4-FFF2-40B4-BE49-F238E27FC236}">
                <a16:creationId xmlns:a16="http://schemas.microsoft.com/office/drawing/2014/main" id="{672B9E32-53EF-4AF5-82DC-08353763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Prior sobre pesos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3feb56ffa47f0"/>
          <a:stretch xmlns:a="http://schemas.openxmlformats.org/drawingml/2006/main"/>
        </p:blipFill>
        <p:spPr>
          <a:xfrm xmlns:a="http://schemas.openxmlformats.org/drawingml/2006/main">
            <a:off x="3132929" y="3276600"/>
            <a:ext cx="1449392" cy="342900"/>
          </a:xfrm>
          <a:prstGeom xmlns:a="http://schemas.openxmlformats.org/drawingml/2006/main" prst="rect">
            <a:avLst/>
          </a:prstGeom>
        </p:spPr>
      </p:pic>
      <p:sp>
        <p:nvSpPr>
          <p:cNvPr id="23" name="step-prior-note">
            <a:extLst xmlns:a="http://schemas.openxmlformats.org/drawingml/2006/main">
              <a:ext uri="{FF2B5EF4-FFF2-40B4-BE49-F238E27FC236}">
                <a16:creationId xmlns:a16="http://schemas.microsoft.com/office/drawing/2014/main" id="{B6D33F5D-40B3-4150-A934-9E72B419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7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7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distribución sobre parámetros</a:t>
            </a:r>
          </a:p>
        </p:txBody>
      </p:sp>
      <p:sp>
        <p:nvSpPr>
          <p:cNvPr id="24" name="step-values-node">
            <a:extLst xmlns:a="http://schemas.openxmlformats.org/drawingml/2006/main">
              <a:ext uri="{FF2B5EF4-FFF2-40B4-BE49-F238E27FC236}">
                <a16:creationId xmlns:a16="http://schemas.microsoft.com/office/drawing/2014/main" id="{97BC1E14-A3A1-4E8C-B3A2-92B48BB2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174C5B"/>
            </a:solidFill>
            <a:prstDash val="solid"/>
          </a:ln>
        </p:spPr>
      </p:sp>
      <p:sp>
        <p:nvSpPr>
          <p:cNvPr id="25" name="step-values-number">
            <a:extLst xmlns:a="http://schemas.openxmlformats.org/drawingml/2006/main">
              <a:ext uri="{FF2B5EF4-FFF2-40B4-BE49-F238E27FC236}">
                <a16:creationId xmlns:a16="http://schemas.microsoft.com/office/drawing/2014/main" id="{1FC6620C-7040-4B9E-A401-7ED3CC10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338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7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7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3</a:t>
            </a:r>
          </a:p>
        </p:txBody>
      </p:sp>
      <p:sp>
        <p:nvSpPr>
          <p:cNvPr id="26" name="step-values-label">
            <a:extLst xmlns:a="http://schemas.openxmlformats.org/drawingml/2006/main">
              <a:ext uri="{FF2B5EF4-FFF2-40B4-BE49-F238E27FC236}">
                <a16:creationId xmlns:a16="http://schemas.microsoft.com/office/drawing/2014/main" id="{BB666177-5582-4297-80D8-EAFCC2A6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Valores de la función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c6ea6dea04fb6"/>
          <a:stretch xmlns:a="http://schemas.openxmlformats.org/drawingml/2006/main"/>
        </p:blipFill>
        <p:spPr>
          <a:xfrm xmlns:a="http://schemas.openxmlformats.org/drawingml/2006/main">
            <a:off x="2971800" y="3874610"/>
            <a:ext cx="2686050" cy="308929"/>
          </a:xfrm>
          <a:prstGeom xmlns:a="http://schemas.openxmlformats.org/drawingml/2006/main" prst="rect">
            <a:avLst/>
          </a:prstGeom>
        </p:spPr>
      </p:pic>
      <p:sp>
        <p:nvSpPr>
          <p:cNvPr id="28" name="step-values-note">
            <a:extLst xmlns:a="http://schemas.openxmlformats.org/drawingml/2006/main">
              <a:ext uri="{FF2B5EF4-FFF2-40B4-BE49-F238E27FC236}">
                <a16:creationId xmlns:a16="http://schemas.microsoft.com/office/drawing/2014/main" id="{83C17AA5-82FD-4124-AFBA-248EA433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32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32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evaluamos f en x1,...,xn</a:t>
            </a:r>
          </a:p>
        </p:txBody>
      </p:sp>
      <p:sp>
        <p:nvSpPr>
          <p:cNvPr id="29" name="step-result-node">
            <a:extLst xmlns:a="http://schemas.openxmlformats.org/drawingml/2006/main">
              <a:ext uri="{FF2B5EF4-FFF2-40B4-BE49-F238E27FC236}">
                <a16:creationId xmlns:a16="http://schemas.microsoft.com/office/drawing/2014/main" id="{651B02CD-C427-4814-99B2-4748EFFD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C9822B"/>
            </a:solidFill>
            <a:prstDash val="solid"/>
          </a:ln>
        </p:spPr>
      </p:sp>
      <p:sp>
        <p:nvSpPr>
          <p:cNvPr id="30" name="step-result-number">
            <a:extLst xmlns:a="http://schemas.openxmlformats.org/drawingml/2006/main">
              <a:ext uri="{FF2B5EF4-FFF2-40B4-BE49-F238E27FC236}">
                <a16:creationId xmlns:a16="http://schemas.microsoft.com/office/drawing/2014/main" id="{DAB5DE9B-3735-46D6-AA44-DF3AB884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96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73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773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4</a:t>
            </a:r>
          </a:p>
        </p:txBody>
      </p:sp>
      <p:sp>
        <p:nvSpPr>
          <p:cNvPr id="31" name="result-accent">
            <a:extLst xmlns:a="http://schemas.openxmlformats.org/drawingml/2006/main">
              <a:ext uri="{FF2B5EF4-FFF2-40B4-BE49-F238E27FC236}">
                <a16:creationId xmlns:a16="http://schemas.microsoft.com/office/drawing/2014/main" id="{2CBA7B4E-5E67-4DE4-8F3F-BF990409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476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ep-result-label">
            <a:extLst xmlns:a="http://schemas.openxmlformats.org/drawingml/2006/main">
              <a:ext uri="{FF2B5EF4-FFF2-40B4-BE49-F238E27FC236}">
                <a16:creationId xmlns:a16="http://schemas.microsoft.com/office/drawing/2014/main" id="{ECFE1E95-E485-43C3-8D0B-59F95150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57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0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0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Resultado clave</a:t>
            </a:r>
          </a:p>
        </p:txBody>
      </p:sp>
      <p:sp>
        <p:nvSpPr>
          <p:cNvPr id="33" name="step-result-note">
            <a:extLst xmlns:a="http://schemas.openxmlformats.org/drawingml/2006/main">
              <a:ext uri="{FF2B5EF4-FFF2-40B4-BE49-F238E27FC236}">
                <a16:creationId xmlns:a16="http://schemas.microsoft.com/office/drawing/2014/main" id="{84A34A12-6A8F-40D9-A0EA-C5AD4E4A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863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una transformación lineal de una gaussiana sigue siendo gaussiana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574481a5a4202"/>
          <a:stretch xmlns:a="http://schemas.openxmlformats.org/drawingml/2006/main"/>
        </p:blipFill>
        <p:spPr>
          <a:xfrm xmlns:a="http://schemas.openxmlformats.org/drawingml/2006/main">
            <a:off x="4523002" y="4476750"/>
            <a:ext cx="2269695" cy="400050"/>
          </a:xfrm>
          <a:prstGeom xmlns:a="http://schemas.openxmlformats.org/drawingml/2006/main" prst="rect">
            <a:avLst/>
          </a:prstGeom>
        </p:spPr>
      </p:pic>
      <p:sp>
        <p:nvSpPr>
          <p:cNvPr id="35" name="noise-rule">
            <a:extLst xmlns:a="http://schemas.openxmlformats.org/drawingml/2006/main">
              <a:ext uri="{FF2B5EF4-FFF2-40B4-BE49-F238E27FC236}">
                <a16:creationId xmlns:a16="http://schemas.microsoft.com/office/drawing/2014/main" id="{63DDA815-891D-4386-9078-65FD0E6E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613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36" name="noise-label">
            <a:extLst xmlns:a="http://schemas.openxmlformats.org/drawingml/2006/main">
              <a:ext uri="{FF2B5EF4-FFF2-40B4-BE49-F238E27FC236}">
                <a16:creationId xmlns:a16="http://schemas.microsoft.com/office/drawing/2014/main" id="{4D762310-6D06-40CE-A103-6829DF59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673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Con ruido observacional: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2aa74b4d5458f"/>
          <a:stretch xmlns:a="http://schemas.openxmlformats.org/drawingml/2006/main"/>
        </p:blipFill>
        <p:spPr>
          <a:xfrm xmlns:a="http://schemas.openxmlformats.org/drawingml/2006/main">
            <a:off x="2720128" y="5181600"/>
            <a:ext cx="2446445" cy="323850"/>
          </a:xfrm>
          <a:prstGeom xmlns:a="http://schemas.openxmlformats.org/drawingml/2006/main" prst="rect">
            <a:avLst/>
          </a:prstGeom>
        </p:spPr>
      </p:pic>
      <p:sp>
        <p:nvSpPr>
          <p:cNvPr id="38" name="noise-keeps">
            <a:extLst xmlns:a="http://schemas.openxmlformats.org/drawingml/2006/main">
              <a:ext uri="{FF2B5EF4-FFF2-40B4-BE49-F238E27FC236}">
                <a16:creationId xmlns:a16="http://schemas.microsoft.com/office/drawing/2014/main" id="{B2E57CFF-D6C5-4C5E-B309-0E93A422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mantiene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6a6f5ae7e49d4"/>
          <a:stretch xmlns:a="http://schemas.openxmlformats.org/drawingml/2006/main"/>
        </p:blipFill>
        <p:spPr>
          <a:xfrm xmlns:a="http://schemas.openxmlformats.org/drawingml/2006/main">
            <a:off x="5772150" y="5210097"/>
            <a:ext cx="2000250" cy="266856"/>
          </a:xfrm>
          <a:prstGeom xmlns:a="http://schemas.openxmlformats.org/drawingml/2006/main" prst="rect">
            <a:avLst/>
          </a:prstGeom>
        </p:spPr>
      </p:pic>
      <p:sp>
        <p:nvSpPr>
          <p:cNvPr id="40" name="visual-accent">
            <a:extLst xmlns:a="http://schemas.openxmlformats.org/drawingml/2006/main">
              <a:ext uri="{FF2B5EF4-FFF2-40B4-BE49-F238E27FC236}">
                <a16:creationId xmlns:a16="http://schemas.microsoft.com/office/drawing/2014/main" id="{5BF5C3FB-4B0A-44B0-A96E-F6B275F5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0275"/>
            <a:ext cx="47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5E6AC19-A30E-43EF-BD9D-165DC9B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8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Muestras de w → funciones</a:t>
            </a:r>
          </a:p>
        </p:txBody>
      </p:sp>
      <p:sp>
        <p:nvSpPr>
          <p:cNvPr id="42" name="visual-subtitle">
            <a:extLst xmlns:a="http://schemas.openxmlformats.org/drawingml/2006/main">
              <a:ext uri="{FF2B5EF4-FFF2-40B4-BE49-F238E27FC236}">
                <a16:creationId xmlns:a16="http://schemas.microsoft.com/office/drawing/2014/main" id="{C3ABF031-408A-4EA2-B558-1C18A22A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2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2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muestra de pesos induce una función posible</a:t>
            </a:r>
          </a:p>
        </p:txBody>
      </p:sp>
      <p:sp>
        <p:nvSpPr>
          <p:cNvPr id="43" name="visual-frame">
            <a:extLst xmlns:a="http://schemas.openxmlformats.org/drawingml/2006/main">
              <a:ext uri="{FF2B5EF4-FFF2-40B4-BE49-F238E27FC236}">
                <a16:creationId xmlns:a16="http://schemas.microsoft.com/office/drawing/2014/main" id="{757DBC66-7FD1-4FD5-95D5-77FC612F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35433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0be7ecbde4533"/>
          <a:stretch xmlns:a="http://schemas.openxmlformats.org/drawingml/2006/main"/>
        </p:blipFill>
        <p:spPr>
          <a:xfrm xmlns:a="http://schemas.openxmlformats.org/drawingml/2006/main">
            <a:off x="8386419" y="3086100"/>
            <a:ext cx="2620061" cy="1466850"/>
          </a:xfrm>
          <a:prstGeom xmlns:a="http://schemas.openxmlformats.org/drawingml/2006/main" prst="rect">
            <a:avLst/>
          </a:prstGeom>
        </p:spPr>
      </p:pic>
      <p:sp>
        <p:nvSpPr>
          <p:cNvPr id="4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613012C7-9347-4034-96FE-03081FF4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720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líneas claras: distintas muestras de w · puntos: valores finitos f(xi)</a:t>
            </a:r>
          </a:p>
        </p:txBody>
      </p:sp>
      <p:sp>
        <p:nvSpPr>
          <p:cNvPr id="46" name="right-mini-takeaway">
            <a:extLst xmlns:a="http://schemas.openxmlformats.org/drawingml/2006/main">
              <a:ext uri="{FF2B5EF4-FFF2-40B4-BE49-F238E27FC236}">
                <a16:creationId xmlns:a16="http://schemas.microsoft.com/office/drawing/2014/main" id="{ACADE197-C2E9-4A50-8878-14C2BD13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24450"/>
            <a:ext cx="3028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cálculo sigue siendo finito: trabajamos con el vector f, no con infinitas funciones a la vez.</a:t>
            </a:r>
          </a:p>
        </p:txBody>
      </p:sp>
      <p:sp>
        <p:nvSpPr>
          <p:cNvPr id="47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C53AA556-99E3-46C8-9DFC-7E33C92D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48" name="bottom-kicker">
            <a:extLst xmlns:a="http://schemas.openxmlformats.org/drawingml/2006/main">
              <a:ext uri="{FF2B5EF4-FFF2-40B4-BE49-F238E27FC236}">
                <a16:creationId xmlns:a16="http://schemas.microsoft.com/office/drawing/2014/main" id="{1A8E13BD-6B31-4908-AEA0-6D6294E0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674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Puente hacia GP</a:t>
            </a:r>
          </a:p>
        </p:txBody>
      </p:sp>
      <p:sp>
        <p:nvSpPr>
          <p:cNvPr id="49" name="takeaway">
            <a:extLst xmlns:a="http://schemas.openxmlformats.org/drawingml/2006/main">
              <a:ext uri="{FF2B5EF4-FFF2-40B4-BE49-F238E27FC236}">
                <a16:creationId xmlns:a16="http://schemas.microsoft.com/office/drawing/2014/main" id="{75475C08-5FB5-4C6F-999E-B37FB63C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15025"/>
            <a:ext cx="7667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8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8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Si los pesos tienen un prior gaussiano, los valores de la función también son gaussianos; el GP generaliza esta idea al espacio de funciones.</a:t>
            </a:r>
          </a:p>
        </p:txBody>
      </p:sp>
      <p:sp>
        <p:nvSpPr>
          <p:cNvPr id="5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533F14-73C0-4A43-AF5B-DBF83672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9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6747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2026-07-01T19:32:18.9730000Z</dcterms:created>
  <dcterms:modified xsi:type="dcterms:W3CDTF">2026-07-01T19:32:18.9730000Z</dcterms:modified>
</coreProperties>
</file>