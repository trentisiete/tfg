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7fc2d698ff574fde" /><Relationship Type="http://schemas.openxmlformats.org/officeDocument/2006/relationships/extended-properties" Target="/docProps/app.xml" Id="Re76df4e2c9594a1f" /><Relationship Type="http://schemas.openxmlformats.org/officeDocument/2006/relationships/officeDocument" Target="/ppt/presentation.xml" Id="R92f3fc84e5314cc8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142ede32683a49a6"/>
  </p:sldMasterIdLst>
  <p:notesMasterIdLst>
    <p:notesMasterId xmlns:r="http://schemas.openxmlformats.org/officeDocument/2006/relationships" r:id="R5736b5041740459c"/>
  </p:notesMasterIdLst>
  <p:sldIdLst>
    <p:sldId xmlns:r="http://schemas.openxmlformats.org/officeDocument/2006/relationships" id="256" r:id="Rf06da24723d04c6a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da74752a6d0744b7" /><Relationship Type="http://schemas.openxmlformats.org/officeDocument/2006/relationships/slideMaster" Target="/ppt/slideMasters/slideMaster1.xml" Id="R142ede32683a49a6" /><Relationship Type="http://schemas.openxmlformats.org/officeDocument/2006/relationships/notesMaster" Target="/ppt/notesMasters/notesMaster1.xml" Id="R5736b5041740459c" /><Relationship Type="http://schemas.openxmlformats.org/officeDocument/2006/relationships/presProps" Target="/ppt/presProps.xml" Id="Rb549080a04174958" /><Relationship Type="http://schemas.openxmlformats.org/officeDocument/2006/relationships/tableStyles" Target="/ppt/tableStyles.xml" Id="R21f6c84eeef84557" /><Relationship Type="http://schemas.openxmlformats.org/officeDocument/2006/relationships/slide" Target="/ppt/slides/slide1.xml" Id="Rf06da24723d04c6a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8910a9e20733475d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403124a779dc467f" /><Relationship Type="http://schemas.openxmlformats.org/officeDocument/2006/relationships/notesMaster" Target="/ppt/notesMasters/notesMaster1.xml" Id="Rfacd25c5aee7434d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2347f9ec12645a1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71d2fb02d6214afe" /><Relationship Type="http://schemas.openxmlformats.org/officeDocument/2006/relationships/slideLayout" Target="/ppt/slideLayouts/slideLayout1.xml" Id="Rf4a77e7fc9784121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f4a77e7fc9784121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34257fdf06544d1" /><Relationship Type="http://schemas.openxmlformats.org/officeDocument/2006/relationships/image" Target="/ppt/media/image.png" Id="R158812577c7548a9" /><Relationship Type="http://schemas.openxmlformats.org/officeDocument/2006/relationships/image" Target="/ppt/media/image2.png" Id="R2a97991eeb4544a0" /><Relationship Type="http://schemas.openxmlformats.org/officeDocument/2006/relationships/image" Target="/ppt/media/image3.png" Id="R07c8f17b2b4d4866" /><Relationship Type="http://schemas.openxmlformats.org/officeDocument/2006/relationships/image" Target="/ppt/media/image4.png" Id="R4c91f51d2d704821" /><Relationship Type="http://schemas.openxmlformats.org/officeDocument/2006/relationships/image" Target="/ppt/media/image5.png" Id="R6b46e069012c4e94" /><Relationship Type="http://schemas.openxmlformats.org/officeDocument/2006/relationships/image" Target="/ppt/media/image6.png" Id="R789c53d8e2bd4b93" /><Relationship Type="http://schemas.openxmlformats.org/officeDocument/2006/relationships/image" Target="/ppt/media/image7.png" Id="R089f46c387e54343" /><Relationship Type="http://schemas.openxmlformats.org/officeDocument/2006/relationships/notesSlide" Target="/ppt/notesSlides/notesSlide1.xml" Id="R0aa25d34f50a44f2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E8E8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ection-label">
            <a:extLst xmlns:a="http://schemas.openxmlformats.org/drawingml/2006/main">
              <a:ext uri="{FF2B5EF4-FFF2-40B4-BE49-F238E27FC236}">
                <a16:creationId xmlns:a16="http://schemas.microsoft.com/office/drawing/2014/main" id="{AE8C798A-E08C-4579-8E5E-E6AC56942B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76250"/>
            <a:ext cx="2381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38" b="1">
                <a:solidFill>
                  <a:srgbClr val="174C5B"/>
                </a:solidFill>
                <a:latin typeface="Google Sans"/>
                <a:ea typeface="Google Sans"/>
                <a:cs typeface="Google Sans"/>
              </a:defRPr>
            </a:pPr>
            <a:r>
              <a:rPr sz="938" b="1">
                <a:solidFill>
                  <a:srgbClr val="174C5B"/>
                </a:solidFill>
                <a:latin typeface="Google Sans"/>
                <a:ea typeface="Google Sans"/>
                <a:cs typeface="Google Sans"/>
              </a:rPr>
              <a:t>PROCESO GAUSSIANO</a:t>
            </a:r>
          </a:p>
        </p:txBody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9EF36CA3-5821-4CC9-8B54-5216D63A30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90575"/>
            <a:ext cx="9334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96000"/>
              </a:lnSpc>
              <a:buNone/>
              <a:defRPr sz="3000" b="0">
                <a:solidFill>
                  <a:srgbClr val="1F2933"/>
                </a:solidFill>
                <a:latin typeface="Google Sans"/>
                <a:ea typeface="Google Sans"/>
                <a:cs typeface="Google Sans"/>
              </a:defRPr>
            </a:pPr>
            <a:r>
              <a:rPr sz="3000" b="0">
                <a:solidFill>
                  <a:srgbClr val="1F2933"/>
                </a:solidFill>
                <a:latin typeface="Google Sans"/>
                <a:ea typeface="Google Sans"/>
                <a:cs typeface="Google Sans"/>
              </a:rPr>
              <a:t>Del espacio de pesos al kernel</a:t>
            </a:r>
          </a:p>
        </p:txBody>
      </p:sp>
      <p:sp>
        <p:nvSpPr>
          <p:cNvPr id="3" name="subtitle">
            <a:extLst xmlns:a="http://schemas.openxmlformats.org/drawingml/2006/main">
              <a:ext uri="{FF2B5EF4-FFF2-40B4-BE49-F238E27FC236}">
                <a16:creationId xmlns:a16="http://schemas.microsoft.com/office/drawing/2014/main" id="{040E3ABB-5E54-4026-89C0-BD21B39EAC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81125"/>
            <a:ext cx="10096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88" b="0">
                <a:solidFill>
                  <a:srgbClr val="174C5B"/>
                </a:solidFill>
                <a:latin typeface="Google Sans"/>
                <a:ea typeface="Google Sans"/>
                <a:cs typeface="Google Sans"/>
              </a:defRPr>
            </a:pPr>
            <a:r>
              <a:rPr sz="1388" b="0">
                <a:solidFill>
                  <a:srgbClr val="174C5B"/>
                </a:solidFill>
                <a:latin typeface="Google Sans"/>
                <a:ea typeface="Google Sans"/>
                <a:cs typeface="Google Sans"/>
              </a:rPr>
              <a:t>Marginalizar los pesos convierte la incertidumbre sobre parámetros en covarianzas entre valores de la función.</a:t>
            </a:r>
          </a:p>
        </p:txBody>
      </p:sp>
      <p:sp>
        <p:nvSpPr>
          <p:cNvPr id="4" name="separator-one">
            <a:extLst xmlns:a="http://schemas.openxmlformats.org/drawingml/2006/main">
              <a:ext uri="{FF2B5EF4-FFF2-40B4-BE49-F238E27FC236}">
                <a16:creationId xmlns:a16="http://schemas.microsoft.com/office/drawing/2014/main" id="{8F4F4C19-1ED0-483C-9CEF-645333E100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2247900"/>
            <a:ext cx="0" cy="30289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001">
            <a:solidFill>
              <a:srgbClr val="D4CCC0"/>
            </a:solidFill>
            <a:prstDash val="solid"/>
          </a:ln>
        </p:spPr>
      </p:sp>
      <p:sp>
        <p:nvSpPr>
          <p:cNvPr id="5" name="separator-two">
            <a:extLst xmlns:a="http://schemas.openxmlformats.org/drawingml/2006/main">
              <a:ext uri="{FF2B5EF4-FFF2-40B4-BE49-F238E27FC236}">
                <a16:creationId xmlns:a16="http://schemas.microsoft.com/office/drawing/2014/main" id="{CE6E2B72-B940-4E46-8DF0-1AC8350922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67600" y="2247900"/>
            <a:ext cx="0" cy="30289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001">
            <a:solidFill>
              <a:srgbClr val="D4CCC0"/>
            </a:solidFill>
            <a:prstDash val="solid"/>
          </a:ln>
        </p:spPr>
      </p:sp>
      <p:sp>
        <p:nvSpPr>
          <p:cNvPr id="6" name="arrow-one">
            <a:extLst xmlns:a="http://schemas.openxmlformats.org/drawingml/2006/main">
              <a:ext uri="{FF2B5EF4-FFF2-40B4-BE49-F238E27FC236}">
                <a16:creationId xmlns:a16="http://schemas.microsoft.com/office/drawing/2014/main" id="{109D8E42-9F21-471B-BF7C-C28C1B35E6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76675" y="3295650"/>
            <a:ext cx="2667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950" b="1">
                <a:solidFill>
                  <a:srgbClr val="D4CCC0"/>
                </a:solidFill>
                <a:latin typeface="Google Sans"/>
                <a:ea typeface="Google Sans"/>
                <a:cs typeface="Google Sans"/>
              </a:defRPr>
            </a:pPr>
            <a:r>
              <a:rPr sz="1950" b="1">
                <a:solidFill>
                  <a:srgbClr val="D4CCC0"/>
                </a:solidFill>
                <a:latin typeface="Google Sans"/>
                <a:ea typeface="Google Sans"/>
                <a:cs typeface="Google Sans"/>
              </a:rPr>
              <a:t>→</a:t>
            </a:r>
          </a:p>
        </p:txBody>
      </p:sp>
      <p:sp>
        <p:nvSpPr>
          <p:cNvPr id="7" name="arrow-two">
            <a:extLst xmlns:a="http://schemas.openxmlformats.org/drawingml/2006/main">
              <a:ext uri="{FF2B5EF4-FFF2-40B4-BE49-F238E27FC236}">
                <a16:creationId xmlns:a16="http://schemas.microsoft.com/office/drawing/2014/main" id="{E33B8B21-4D5D-465B-BC7E-4BD48B2F88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43775" y="3295650"/>
            <a:ext cx="2667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950" b="1">
                <a:solidFill>
                  <a:srgbClr val="D4CCC0"/>
                </a:solidFill>
                <a:latin typeface="Google Sans"/>
                <a:ea typeface="Google Sans"/>
                <a:cs typeface="Google Sans"/>
              </a:defRPr>
            </a:pPr>
            <a:r>
              <a:rPr sz="1950" b="1">
                <a:solidFill>
                  <a:srgbClr val="D4CCC0"/>
                </a:solidFill>
                <a:latin typeface="Google Sans"/>
                <a:ea typeface="Google Sans"/>
                <a:cs typeface="Google Sans"/>
              </a:rPr>
              <a:t>→</a:t>
            </a:r>
          </a:p>
        </p:txBody>
      </p:sp>
      <p:sp>
        <p:nvSpPr>
          <p:cNvPr id="8" name="weights-accent">
            <a:extLst xmlns:a="http://schemas.openxmlformats.org/drawingml/2006/main">
              <a:ext uri="{FF2B5EF4-FFF2-40B4-BE49-F238E27FC236}">
                <a16:creationId xmlns:a16="http://schemas.microsoft.com/office/drawing/2014/main" id="{D93A715D-BE19-42D7-BCF9-A9D2351D5E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133600"/>
            <a:ext cx="400050" cy="571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74C5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weights-kicker">
            <a:extLst xmlns:a="http://schemas.openxmlformats.org/drawingml/2006/main">
              <a:ext uri="{FF2B5EF4-FFF2-40B4-BE49-F238E27FC236}">
                <a16:creationId xmlns:a16="http://schemas.microsoft.com/office/drawing/2014/main" id="{413F7CAE-6B6A-41A7-BE45-BD348AB6BA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295525"/>
            <a:ext cx="29718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15" b="1">
                <a:solidFill>
                  <a:srgbClr val="174C5B"/>
                </a:solidFill>
                <a:latin typeface="Google Sans"/>
                <a:ea typeface="Google Sans"/>
                <a:cs typeface="Google Sans"/>
              </a:defRPr>
            </a:pPr>
            <a:r>
              <a:rPr sz="915" b="1">
                <a:solidFill>
                  <a:srgbClr val="174C5B"/>
                </a:solidFill>
                <a:latin typeface="Google Sans"/>
                <a:ea typeface="Google Sans"/>
                <a:cs typeface="Google Sans"/>
              </a:rPr>
              <a:t>Espacio de pesos</a:t>
            </a:r>
          </a:p>
        </p:txBody>
      </p:sp>
      <p:sp>
        <p:nvSpPr>
          <p:cNvPr id="10" name="weights-step-badge">
            <a:extLst xmlns:a="http://schemas.openxmlformats.org/drawingml/2006/main">
              <a:ext uri="{FF2B5EF4-FFF2-40B4-BE49-F238E27FC236}">
                <a16:creationId xmlns:a16="http://schemas.microsoft.com/office/drawing/2014/main" id="{955E992F-2745-4C19-8E77-9774064E8F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657475"/>
            <a:ext cx="228600" cy="228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8E8E8"/>
          </a:solidFill>
          <a:ln xmlns:a="http://schemas.openxmlformats.org/drawingml/2006/main" w="13335">
            <a:solidFill>
              <a:srgbClr val="174C5B"/>
            </a:solidFill>
            <a:prstDash val="solid"/>
          </a:ln>
        </p:spPr>
      </p:sp>
      <p:sp>
        <p:nvSpPr>
          <p:cNvPr id="11" name="weights-step-badge-text">
            <a:extLst xmlns:a="http://schemas.openxmlformats.org/drawingml/2006/main">
              <a:ext uri="{FF2B5EF4-FFF2-40B4-BE49-F238E27FC236}">
                <a16:creationId xmlns:a16="http://schemas.microsoft.com/office/drawing/2014/main" id="{A1E358ED-2455-42A0-9F88-83DB780285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686050"/>
            <a:ext cx="2286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765" b="1">
                <a:solidFill>
                  <a:srgbClr val="174C5B"/>
                </a:solidFill>
                <a:latin typeface="Google Sans"/>
                <a:ea typeface="Google Sans"/>
                <a:cs typeface="Google Sans"/>
              </a:defRPr>
            </a:pPr>
            <a:r>
              <a:rPr sz="765" b="1">
                <a:solidFill>
                  <a:srgbClr val="174C5B"/>
                </a:solidFill>
                <a:latin typeface="Google Sans"/>
                <a:ea typeface="Google Sans"/>
                <a:cs typeface="Google Sans"/>
              </a:rPr>
              <a:t>1</a:t>
            </a:r>
          </a:p>
        </p:txBody>
      </p:sp>
      <p:sp>
        <p:nvSpPr>
          <p:cNvPr id="12" name="weights-title">
            <a:extLst xmlns:a="http://schemas.openxmlformats.org/drawingml/2006/main">
              <a:ext uri="{FF2B5EF4-FFF2-40B4-BE49-F238E27FC236}">
                <a16:creationId xmlns:a16="http://schemas.microsoft.com/office/drawing/2014/main" id="{7DFE6C9F-D6DB-4E21-A380-67B2D572AF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686050"/>
            <a:ext cx="2095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0">
                <a:solidFill>
                  <a:srgbClr val="1F2933"/>
                </a:solidFill>
                <a:latin typeface="Google Sans"/>
                <a:ea typeface="Google Sans"/>
                <a:cs typeface="Google Sans"/>
              </a:defRPr>
            </a:pPr>
            <a:r>
              <a:rPr sz="1200" b="0">
                <a:solidFill>
                  <a:srgbClr val="1F2933"/>
                </a:solidFill>
                <a:latin typeface="Google Sans"/>
                <a:ea typeface="Google Sans"/>
                <a:cs typeface="Google Sans"/>
              </a:rPr>
              <a:t>Modelo en pesos</a:t>
            </a:r>
          </a:p>
        </p:txBody>
      </p:sp>
      <p:pic>
        <p:nvPicPr>
          <p:cNvPr id="5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58812577c7548a9"/>
          <a:stretch xmlns:a="http://schemas.openxmlformats.org/drawingml/2006/main"/>
        </p:blipFill>
        <p:spPr>
          <a:xfrm xmlns:a="http://schemas.openxmlformats.org/drawingml/2006/main">
            <a:off x="1205078" y="2990850"/>
            <a:ext cx="1952294" cy="400050"/>
          </a:xfrm>
          <a:prstGeom xmlns:a="http://schemas.openxmlformats.org/drawingml/2006/main" prst="rect">
            <a:avLst/>
          </a:prstGeom>
        </p:spPr>
      </p:pic>
      <p:pic>
        <p:nvPicPr>
          <p:cNvPr id="5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a97991eeb4544a0"/>
          <a:stretch xmlns:a="http://schemas.openxmlformats.org/drawingml/2006/main"/>
        </p:blipFill>
        <p:spPr>
          <a:xfrm xmlns:a="http://schemas.openxmlformats.org/drawingml/2006/main">
            <a:off x="1327946" y="3581400"/>
            <a:ext cx="1706558" cy="400050"/>
          </a:xfrm>
          <a:prstGeom xmlns:a="http://schemas.openxmlformats.org/drawingml/2006/main" prst="rect">
            <a:avLst/>
          </a:prstGeom>
        </p:spPr>
      </p:pic>
      <p:sp>
        <p:nvSpPr>
          <p:cNvPr id="15" name="weights-rule">
            <a:extLst xmlns:a="http://schemas.openxmlformats.org/drawingml/2006/main">
              <a:ext uri="{FF2B5EF4-FFF2-40B4-BE49-F238E27FC236}">
                <a16:creationId xmlns:a16="http://schemas.microsoft.com/office/drawing/2014/main" id="{1C756BD0-E735-4551-B9E9-474C97AB03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210050"/>
            <a:ext cx="2971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DAD1"/>
            </a:solidFill>
            <a:prstDash val="solid"/>
          </a:ln>
        </p:spPr>
      </p:sp>
      <p:sp>
        <p:nvSpPr>
          <p:cNvPr id="16" name="weights-note">
            <a:extLst xmlns:a="http://schemas.openxmlformats.org/drawingml/2006/main">
              <a:ext uri="{FF2B5EF4-FFF2-40B4-BE49-F238E27FC236}">
                <a16:creationId xmlns:a16="http://schemas.microsoft.com/office/drawing/2014/main" id="{AB265F36-3D8F-4E91-80C7-A2E39175E5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400550"/>
            <a:ext cx="28003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98" b="0">
                <a:solidFill>
                  <a:srgbClr val="5F6368"/>
                </a:solidFill>
                <a:latin typeface="Google Sans"/>
                <a:ea typeface="Google Sans"/>
                <a:cs typeface="Google Sans"/>
              </a:defRPr>
            </a:pPr>
            <a:r>
              <a:rPr sz="998" b="0">
                <a:solidFill>
                  <a:srgbClr val="5F6368"/>
                </a:solidFill>
                <a:latin typeface="Google Sans"/>
                <a:ea typeface="Google Sans"/>
                <a:cs typeface="Google Sans"/>
              </a:rPr>
              <a:t>Cada muestra de w genera una función.</a:t>
            </a:r>
          </a:p>
        </p:txBody>
      </p:sp>
      <p:sp>
        <p:nvSpPr>
          <p:cNvPr id="17" name="marginal-accent">
            <a:extLst xmlns:a="http://schemas.openxmlformats.org/drawingml/2006/main">
              <a:ext uri="{FF2B5EF4-FFF2-40B4-BE49-F238E27FC236}">
                <a16:creationId xmlns:a16="http://schemas.microsoft.com/office/drawing/2014/main" id="{0727113E-3BC8-40F8-88B3-576036863E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8150" y="2133600"/>
            <a:ext cx="400050" cy="571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C9822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marginal-kicker">
            <a:extLst xmlns:a="http://schemas.openxmlformats.org/drawingml/2006/main">
              <a:ext uri="{FF2B5EF4-FFF2-40B4-BE49-F238E27FC236}">
                <a16:creationId xmlns:a16="http://schemas.microsoft.com/office/drawing/2014/main" id="{35C4DA58-6F09-4BB1-8B75-1A181CCD2F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8150" y="2295525"/>
            <a:ext cx="29718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15" b="1">
                <a:solidFill>
                  <a:srgbClr val="C9822B"/>
                </a:solidFill>
                <a:latin typeface="Google Sans"/>
                <a:ea typeface="Google Sans"/>
                <a:cs typeface="Google Sans"/>
              </a:defRPr>
            </a:pPr>
            <a:r>
              <a:rPr sz="915" b="1">
                <a:solidFill>
                  <a:srgbClr val="C9822B"/>
                </a:solidFill>
                <a:latin typeface="Google Sans"/>
                <a:ea typeface="Google Sans"/>
                <a:cs typeface="Google Sans"/>
              </a:rPr>
              <a:t>De pesos a valores de función</a:t>
            </a:r>
          </a:p>
        </p:txBody>
      </p:sp>
      <p:sp>
        <p:nvSpPr>
          <p:cNvPr id="19" name="marginal-step-badge">
            <a:extLst xmlns:a="http://schemas.openxmlformats.org/drawingml/2006/main">
              <a:ext uri="{FF2B5EF4-FFF2-40B4-BE49-F238E27FC236}">
                <a16:creationId xmlns:a16="http://schemas.microsoft.com/office/drawing/2014/main" id="{FB0F5951-CDAB-4F81-9BDB-4A54BCD499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8150" y="2657475"/>
            <a:ext cx="228600" cy="228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8E8E8"/>
          </a:solidFill>
          <a:ln xmlns:a="http://schemas.openxmlformats.org/drawingml/2006/main" w="13335">
            <a:solidFill>
              <a:srgbClr val="C9822B"/>
            </a:solidFill>
            <a:prstDash val="solid"/>
          </a:ln>
        </p:spPr>
      </p:sp>
      <p:sp>
        <p:nvSpPr>
          <p:cNvPr id="20" name="marginal-step-badge-text">
            <a:extLst xmlns:a="http://schemas.openxmlformats.org/drawingml/2006/main">
              <a:ext uri="{FF2B5EF4-FFF2-40B4-BE49-F238E27FC236}">
                <a16:creationId xmlns:a16="http://schemas.microsoft.com/office/drawing/2014/main" id="{85EF3D82-2D8E-48E8-B39D-E6C831557F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8150" y="2686050"/>
            <a:ext cx="2286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765" b="1">
                <a:solidFill>
                  <a:srgbClr val="C9822B"/>
                </a:solidFill>
                <a:latin typeface="Google Sans"/>
                <a:ea typeface="Google Sans"/>
                <a:cs typeface="Google Sans"/>
              </a:defRPr>
            </a:pPr>
            <a:r>
              <a:rPr sz="765" b="1">
                <a:solidFill>
                  <a:srgbClr val="C9822B"/>
                </a:solidFill>
                <a:latin typeface="Google Sans"/>
                <a:ea typeface="Google Sans"/>
                <a:cs typeface="Google Sans"/>
              </a:rPr>
              <a:t>2</a:t>
            </a:r>
          </a:p>
        </p:txBody>
      </p:sp>
      <p:sp>
        <p:nvSpPr>
          <p:cNvPr id="21" name="marginal-title">
            <a:extLst xmlns:a="http://schemas.openxmlformats.org/drawingml/2006/main">
              <a:ext uri="{FF2B5EF4-FFF2-40B4-BE49-F238E27FC236}">
                <a16:creationId xmlns:a16="http://schemas.microsoft.com/office/drawing/2014/main" id="{4B59EFD7-1B70-4416-9076-C74C27D55C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2686050"/>
            <a:ext cx="2571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0">
                <a:solidFill>
                  <a:srgbClr val="1F2933"/>
                </a:solidFill>
                <a:latin typeface="Google Sans"/>
                <a:ea typeface="Google Sans"/>
                <a:cs typeface="Google Sans"/>
              </a:defRPr>
            </a:pPr>
            <a:r>
              <a:rPr sz="1200" b="0">
                <a:solidFill>
                  <a:srgbClr val="1F2933"/>
                </a:solidFill>
                <a:latin typeface="Google Sans"/>
                <a:ea typeface="Google Sans"/>
                <a:cs typeface="Google Sans"/>
              </a:rPr>
              <a:t>Miramos valores de la función</a:t>
            </a:r>
          </a:p>
        </p:txBody>
      </p:sp>
      <p:pic>
        <p:nvPicPr>
          <p:cNvPr id="6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7c8f17b2b4d4866"/>
          <a:stretch xmlns:a="http://schemas.openxmlformats.org/drawingml/2006/main"/>
        </p:blipFill>
        <p:spPr>
          <a:xfrm xmlns:a="http://schemas.openxmlformats.org/drawingml/2006/main">
            <a:off x="4346742" y="2933700"/>
            <a:ext cx="2774616" cy="800100"/>
          </a:xfrm>
          <a:prstGeom xmlns:a="http://schemas.openxmlformats.org/drawingml/2006/main" prst="rect">
            <a:avLst/>
          </a:prstGeom>
        </p:spPr>
      </p:pic>
      <p:pic>
        <p:nvPicPr>
          <p:cNvPr id="6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c91f51d2d704821"/>
          <a:stretch xmlns:a="http://schemas.openxmlformats.org/drawingml/2006/main"/>
        </p:blipFill>
        <p:spPr>
          <a:xfrm xmlns:a="http://schemas.openxmlformats.org/drawingml/2006/main">
            <a:off x="4307454" y="3790950"/>
            <a:ext cx="2853191" cy="438150"/>
          </a:xfrm>
          <a:prstGeom xmlns:a="http://schemas.openxmlformats.org/drawingml/2006/main" prst="rect">
            <a:avLst/>
          </a:prstGeom>
        </p:spPr>
      </p:pic>
      <p:sp>
        <p:nvSpPr>
          <p:cNvPr id="24" name="marginal-rule">
            <a:extLst xmlns:a="http://schemas.openxmlformats.org/drawingml/2006/main">
              <a:ext uri="{FF2B5EF4-FFF2-40B4-BE49-F238E27FC236}">
                <a16:creationId xmlns:a16="http://schemas.microsoft.com/office/drawing/2014/main" id="{52CC29BA-A38C-4128-A9EF-1F3BB2CF49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8150" y="4210050"/>
            <a:ext cx="2971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DAD1"/>
            </a:solidFill>
            <a:prstDash val="solid"/>
          </a:ln>
        </p:spPr>
      </p:sp>
      <p:sp>
        <p:nvSpPr>
          <p:cNvPr id="25" name="marginal-note">
            <a:extLst xmlns:a="http://schemas.openxmlformats.org/drawingml/2006/main">
              <a:ext uri="{FF2B5EF4-FFF2-40B4-BE49-F238E27FC236}">
                <a16:creationId xmlns:a16="http://schemas.microsoft.com/office/drawing/2014/main" id="{59BC0D68-BA16-4B55-99E7-A079BDFFA2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8150" y="4400550"/>
            <a:ext cx="28003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53" b="0">
                <a:solidFill>
                  <a:srgbClr val="5F6368"/>
                </a:solidFill>
                <a:latin typeface="Google Sans"/>
                <a:ea typeface="Google Sans"/>
                <a:cs typeface="Google Sans"/>
              </a:defRPr>
            </a:pPr>
            <a:r>
              <a:rPr sz="953" b="0">
                <a:solidFill>
                  <a:srgbClr val="5F6368"/>
                </a:solidFill>
                <a:latin typeface="Google Sans"/>
                <a:ea typeface="Google Sans"/>
                <a:cs typeface="Google Sans"/>
              </a:rPr>
              <a:t>La incertidumbre sobre w induce una distribución sobre los valores de la función.</a:t>
            </a:r>
          </a:p>
        </p:txBody>
      </p:sp>
      <p:sp>
        <p:nvSpPr>
          <p:cNvPr id="26" name="random-weights-label">
            <a:extLst xmlns:a="http://schemas.openxmlformats.org/drawingml/2006/main">
              <a:ext uri="{FF2B5EF4-FFF2-40B4-BE49-F238E27FC236}">
                <a16:creationId xmlns:a16="http://schemas.microsoft.com/office/drawing/2014/main" id="{25C9C8D2-149F-4BCD-96FD-A38FFEF35D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8150" y="4933950"/>
            <a:ext cx="29718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975" b="0">
                <a:solidFill>
                  <a:srgbClr val="1F2933"/>
                </a:solidFill>
                <a:latin typeface="Google Sans"/>
                <a:ea typeface="Google Sans"/>
                <a:cs typeface="Google Sans"/>
              </a:defRPr>
            </a:pPr>
            <a:r>
              <a:rPr sz="975" b="0">
                <a:solidFill>
                  <a:srgbClr val="1F2933"/>
                </a:solidFill>
                <a:latin typeface="Google Sans"/>
                <a:ea typeface="Google Sans"/>
                <a:cs typeface="Google Sans"/>
              </a:rPr>
              <a:t>pesos aleatorios → valores de función aleatorios</a:t>
            </a:r>
          </a:p>
        </p:txBody>
      </p:sp>
      <p:sp>
        <p:nvSpPr>
          <p:cNvPr id="27" name="kernel-accent">
            <a:extLst xmlns:a="http://schemas.openxmlformats.org/drawingml/2006/main">
              <a:ext uri="{FF2B5EF4-FFF2-40B4-BE49-F238E27FC236}">
                <a16:creationId xmlns:a16="http://schemas.microsoft.com/office/drawing/2014/main" id="{7ED3D13F-AF96-42C0-A24C-92645E1DBB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2133600"/>
            <a:ext cx="400050" cy="571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F7D6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" name="kernel-kicker">
            <a:extLst xmlns:a="http://schemas.openxmlformats.org/drawingml/2006/main">
              <a:ext uri="{FF2B5EF4-FFF2-40B4-BE49-F238E27FC236}">
                <a16:creationId xmlns:a16="http://schemas.microsoft.com/office/drawing/2014/main" id="{2643837D-FBD3-4AD9-985E-B5A561047C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2295525"/>
            <a:ext cx="29718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15" b="1">
                <a:solidFill>
                  <a:srgbClr val="2F7D6D"/>
                </a:solidFill>
                <a:latin typeface="Google Sans"/>
                <a:ea typeface="Google Sans"/>
                <a:cs typeface="Google Sans"/>
              </a:defRPr>
            </a:pPr>
            <a:r>
              <a:rPr sz="915" b="1">
                <a:solidFill>
                  <a:srgbClr val="2F7D6D"/>
                </a:solidFill>
                <a:latin typeface="Google Sans"/>
                <a:ea typeface="Google Sans"/>
                <a:cs typeface="Google Sans"/>
              </a:rPr>
              <a:t>Kernel / espacio de funciones</a:t>
            </a:r>
          </a:p>
        </p:txBody>
      </p:sp>
      <p:sp>
        <p:nvSpPr>
          <p:cNvPr id="29" name="kernel-step-badge">
            <a:extLst xmlns:a="http://schemas.openxmlformats.org/drawingml/2006/main">
              <a:ext uri="{FF2B5EF4-FFF2-40B4-BE49-F238E27FC236}">
                <a16:creationId xmlns:a16="http://schemas.microsoft.com/office/drawing/2014/main" id="{2551BB32-1177-43FF-919C-CDCB259334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2657475"/>
            <a:ext cx="228600" cy="228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8E8E8"/>
          </a:solidFill>
          <a:ln xmlns:a="http://schemas.openxmlformats.org/drawingml/2006/main" w="13335">
            <a:solidFill>
              <a:srgbClr val="2F7D6D"/>
            </a:solidFill>
            <a:prstDash val="solid"/>
          </a:ln>
        </p:spPr>
      </p:sp>
      <p:sp>
        <p:nvSpPr>
          <p:cNvPr id="30" name="kernel-step-badge-text">
            <a:extLst xmlns:a="http://schemas.openxmlformats.org/drawingml/2006/main">
              <a:ext uri="{FF2B5EF4-FFF2-40B4-BE49-F238E27FC236}">
                <a16:creationId xmlns:a16="http://schemas.microsoft.com/office/drawing/2014/main" id="{31286B31-FB64-4039-A32D-38DEC2059D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2686050"/>
            <a:ext cx="2286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765" b="1">
                <a:solidFill>
                  <a:srgbClr val="2F7D6D"/>
                </a:solidFill>
                <a:latin typeface="Google Sans"/>
                <a:ea typeface="Google Sans"/>
                <a:cs typeface="Google Sans"/>
              </a:defRPr>
            </a:pPr>
            <a:r>
              <a:rPr sz="765" b="1">
                <a:solidFill>
                  <a:srgbClr val="2F7D6D"/>
                </a:solidFill>
                <a:latin typeface="Google Sans"/>
                <a:ea typeface="Google Sans"/>
                <a:cs typeface="Google Sans"/>
              </a:rPr>
              <a:t>3</a:t>
            </a:r>
          </a:p>
        </p:txBody>
      </p:sp>
      <p:sp>
        <p:nvSpPr>
          <p:cNvPr id="31" name="kernel-title">
            <a:extLst xmlns:a="http://schemas.openxmlformats.org/drawingml/2006/main">
              <a:ext uri="{FF2B5EF4-FFF2-40B4-BE49-F238E27FC236}">
                <a16:creationId xmlns:a16="http://schemas.microsoft.com/office/drawing/2014/main" id="{B63287EC-F4DB-4F5C-BA70-0B67D2D9B1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2686050"/>
            <a:ext cx="26193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0">
                <a:solidFill>
                  <a:srgbClr val="1F2933"/>
                </a:solidFill>
                <a:latin typeface="Google Sans"/>
                <a:ea typeface="Google Sans"/>
                <a:cs typeface="Google Sans"/>
              </a:defRPr>
            </a:pPr>
            <a:r>
              <a:rPr sz="1200" b="0">
                <a:solidFill>
                  <a:srgbClr val="1F2933"/>
                </a:solidFill>
                <a:latin typeface="Google Sans"/>
                <a:ea typeface="Google Sans"/>
                <a:cs typeface="Google Sans"/>
              </a:rPr>
              <a:t>El kernel encapsula la covarianza</a:t>
            </a:r>
          </a:p>
        </p:txBody>
      </p:sp>
      <p:pic>
        <p:nvPicPr>
          <p:cNvPr id="7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b46e069012c4e94"/>
          <a:stretch xmlns:a="http://schemas.openxmlformats.org/drawingml/2006/main"/>
        </p:blipFill>
        <p:spPr>
          <a:xfrm xmlns:a="http://schemas.openxmlformats.org/drawingml/2006/main">
            <a:off x="7639050" y="2975930"/>
            <a:ext cx="3219450" cy="277489"/>
          </a:xfrm>
          <a:prstGeom xmlns:a="http://schemas.openxmlformats.org/drawingml/2006/main" prst="rect">
            <a:avLst/>
          </a:prstGeom>
        </p:spPr>
      </p:pic>
      <p:pic>
        <p:nvPicPr>
          <p:cNvPr id="7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89c53d8e2bd4b93"/>
          <a:stretch xmlns:a="http://schemas.openxmlformats.org/drawingml/2006/main"/>
        </p:blipFill>
        <p:spPr>
          <a:xfrm xmlns:a="http://schemas.openxmlformats.org/drawingml/2006/main">
            <a:off x="8534400" y="3434646"/>
            <a:ext cx="1314450" cy="293508"/>
          </a:xfrm>
          <a:prstGeom xmlns:a="http://schemas.openxmlformats.org/drawingml/2006/main" prst="rect">
            <a:avLst/>
          </a:prstGeom>
        </p:spPr>
      </p:pic>
      <p:pic>
        <p:nvPicPr>
          <p:cNvPr id="7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89f46c387e54343"/>
          <a:stretch xmlns:a="http://schemas.openxmlformats.org/drawingml/2006/main"/>
        </p:blipFill>
        <p:spPr>
          <a:xfrm xmlns:a="http://schemas.openxmlformats.org/drawingml/2006/main">
            <a:off x="8341089" y="3829050"/>
            <a:ext cx="1777271" cy="400050"/>
          </a:xfrm>
          <a:prstGeom xmlns:a="http://schemas.openxmlformats.org/drawingml/2006/main" prst="rect">
            <a:avLst/>
          </a:prstGeom>
        </p:spPr>
      </p:pic>
      <p:sp>
        <p:nvSpPr>
          <p:cNvPr id="35" name="kernel-rule">
            <a:extLst xmlns:a="http://schemas.openxmlformats.org/drawingml/2006/main">
              <a:ext uri="{FF2B5EF4-FFF2-40B4-BE49-F238E27FC236}">
                <a16:creationId xmlns:a16="http://schemas.microsoft.com/office/drawing/2014/main" id="{B774C60B-7919-451B-BE3E-CA45657502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4362450"/>
            <a:ext cx="2971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DAD1"/>
            </a:solidFill>
            <a:prstDash val="solid"/>
          </a:ln>
        </p:spPr>
      </p:sp>
      <p:sp>
        <p:nvSpPr>
          <p:cNvPr id="36" name="kernel-note">
            <a:extLst xmlns:a="http://schemas.openxmlformats.org/drawingml/2006/main">
              <a:ext uri="{FF2B5EF4-FFF2-40B4-BE49-F238E27FC236}">
                <a16:creationId xmlns:a16="http://schemas.microsoft.com/office/drawing/2014/main" id="{CB687635-B6DC-4F12-971C-AAB573041B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4552950"/>
            <a:ext cx="29146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23" b="0">
                <a:solidFill>
                  <a:srgbClr val="5F6368"/>
                </a:solidFill>
                <a:latin typeface="Google Sans"/>
                <a:ea typeface="Google Sans"/>
                <a:cs typeface="Google Sans"/>
              </a:defRPr>
            </a:pPr>
            <a:r>
              <a:rPr sz="923" b="0">
                <a:solidFill>
                  <a:srgbClr val="5F6368"/>
                </a:solidFill>
                <a:latin typeface="Google Sans"/>
                <a:ea typeface="Google Sans"/>
                <a:cs typeface="Google Sans"/>
              </a:rPr>
              <a:t>A partir de aquí podemos elegir k directamente, sin construir ϕ ni trabajar con w.</a:t>
            </a:r>
          </a:p>
        </p:txBody>
      </p:sp>
      <p:sp>
        <p:nvSpPr>
          <p:cNvPr id="37" name="kernel-extra">
            <a:extLst xmlns:a="http://schemas.openxmlformats.org/drawingml/2006/main">
              <a:ext uri="{FF2B5EF4-FFF2-40B4-BE49-F238E27FC236}">
                <a16:creationId xmlns:a16="http://schemas.microsoft.com/office/drawing/2014/main" id="{80078C81-EBDF-42FE-842C-21267E4114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5010150"/>
            <a:ext cx="29146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15" b="0">
                <a:solidFill>
                  <a:srgbClr val="5F6368"/>
                </a:solidFill>
                <a:latin typeface="Google Sans"/>
                <a:ea typeface="Google Sans"/>
                <a:cs typeface="Google Sans"/>
              </a:defRPr>
            </a:pPr>
            <a:r>
              <a:rPr sz="915" b="0">
                <a:solidFill>
                  <a:srgbClr val="5F6368"/>
                </a:solidFill>
                <a:latin typeface="Google Sans"/>
                <a:ea typeface="Google Sans"/>
                <a:cs typeface="Google Sans"/>
              </a:rPr>
              <a:t>Todo lo necesario para definir la distribución de los valores está en K.</a:t>
            </a:r>
          </a:p>
        </p:txBody>
      </p:sp>
      <p:sp>
        <p:nvSpPr>
          <p:cNvPr id="38" name="kernel-claim">
            <a:extLst xmlns:a="http://schemas.openxmlformats.org/drawingml/2006/main">
              <a:ext uri="{FF2B5EF4-FFF2-40B4-BE49-F238E27FC236}">
                <a16:creationId xmlns:a16="http://schemas.microsoft.com/office/drawing/2014/main" id="{1915AEA2-5E4F-4409-82EB-0607B1E87D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5257800"/>
            <a:ext cx="29718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53" b="1">
                <a:solidFill>
                  <a:srgbClr val="1F2933"/>
                </a:solidFill>
                <a:latin typeface="Google Sans"/>
                <a:ea typeface="Google Sans"/>
                <a:cs typeface="Google Sans"/>
              </a:defRPr>
            </a:pPr>
            <a:r>
              <a:rPr sz="953" b="1">
                <a:solidFill>
                  <a:srgbClr val="1F2933"/>
                </a:solidFill>
                <a:latin typeface="Google Sans"/>
                <a:ea typeface="Google Sans"/>
                <a:cs typeface="Google Sans"/>
              </a:rPr>
              <a:t>El prior se define sobre los valores de la función, no sobre pesos explícitos.</a:t>
            </a:r>
          </a:p>
        </p:txBody>
      </p:sp>
      <p:sp>
        <p:nvSpPr>
          <p:cNvPr id="39" name="bottom-divider">
            <a:extLst xmlns:a="http://schemas.openxmlformats.org/drawingml/2006/main">
              <a:ext uri="{FF2B5EF4-FFF2-40B4-BE49-F238E27FC236}">
                <a16:creationId xmlns:a16="http://schemas.microsoft.com/office/drawing/2014/main" id="{2B3803C6-EAF5-45A0-AE0D-0AACF846E0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848350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478">
            <a:solidFill>
              <a:srgbClr val="D4CCC0"/>
            </a:solidFill>
            <a:prstDash val="solid"/>
          </a:ln>
        </p:spPr>
      </p:sp>
      <p:sp>
        <p:nvSpPr>
          <p:cNvPr id="40" name="bottom-kicker">
            <a:extLst xmlns:a="http://schemas.openxmlformats.org/drawingml/2006/main">
              <a:ext uri="{FF2B5EF4-FFF2-40B4-BE49-F238E27FC236}">
                <a16:creationId xmlns:a16="http://schemas.microsoft.com/office/drawing/2014/main" id="{1A185D8C-62F6-41BF-A67E-E74ABDF81E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6067425"/>
            <a:ext cx="2000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0">
                <a:solidFill>
                  <a:srgbClr val="174C5B"/>
                </a:solidFill>
                <a:latin typeface="Google Sans"/>
                <a:ea typeface="Google Sans"/>
                <a:cs typeface="Google Sans"/>
              </a:defRPr>
            </a:pPr>
            <a:r>
              <a:rPr sz="1200" b="0">
                <a:solidFill>
                  <a:srgbClr val="174C5B"/>
                </a:solidFill>
                <a:latin typeface="Google Sans"/>
                <a:ea typeface="Google Sans"/>
                <a:cs typeface="Google Sans"/>
              </a:rPr>
              <a:t>Idea clave</a:t>
            </a:r>
          </a:p>
        </p:txBody>
      </p:sp>
      <p:sp>
        <p:nvSpPr>
          <p:cNvPr id="41" name="takeaway">
            <a:extLst xmlns:a="http://schemas.openxmlformats.org/drawingml/2006/main">
              <a:ext uri="{FF2B5EF4-FFF2-40B4-BE49-F238E27FC236}">
                <a16:creationId xmlns:a16="http://schemas.microsoft.com/office/drawing/2014/main" id="{22C8E68B-753F-45A0-A199-A8B6044230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5962650"/>
            <a:ext cx="7667625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500" b="1">
                <a:solidFill>
                  <a:srgbClr val="1F2933"/>
                </a:solidFill>
                <a:latin typeface="Google Sans"/>
                <a:ea typeface="Google Sans"/>
                <a:cs typeface="Google Sans"/>
              </a:defRPr>
            </a:pPr>
            <a:r>
              <a:rPr sz="1500" b="1">
                <a:solidFill>
                  <a:srgbClr val="1F2933"/>
                </a:solidFill>
                <a:latin typeface="Google Sans"/>
                <a:ea typeface="Google Sans"/>
                <a:cs typeface="Google Sans"/>
              </a:rPr>
              <a:t>El kernel permite sustituir los pesos por una matriz de covarianzas entre valores de la función.</a:t>
            </a:r>
          </a:p>
        </p:txBody>
      </p:sp>
      <p:sp>
        <p:nvSpPr>
          <p:cNvPr id="42" name="slide-number">
            <a:extLst xmlns:a="http://schemas.openxmlformats.org/drawingml/2006/main">
              <a:ext uri="{FF2B5EF4-FFF2-40B4-BE49-F238E27FC236}">
                <a16:creationId xmlns:a16="http://schemas.microsoft.com/office/drawing/2014/main" id="{91E351E2-6CD1-4395-9592-FFFC1D1817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58600" y="6191250"/>
            <a:ext cx="171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200" b="0">
                <a:solidFill>
                  <a:srgbClr val="1F2933"/>
                </a:solidFill>
                <a:latin typeface="Google Sans"/>
                <a:ea typeface="Google Sans"/>
                <a:cs typeface="Google Sans"/>
              </a:defRPr>
            </a:pPr>
            <a:r>
              <a:rPr sz="1200" b="0">
                <a:solidFill>
                  <a:srgbClr val="1F2933"/>
                </a:solidFill>
                <a:latin typeface="Google Sans"/>
                <a:ea typeface="Google Sans"/>
                <a:cs typeface="Google Sans"/>
              </a:rPr>
              <a:t>6</a:t>
            </a:r>
          </a:p>
        </p:txBody>
      </p:sp>
    </p:spTree>
    <p:extLst>
      <p:ext uri="{BB962C8B-B14F-4D97-AF65-F5344CB8AC3E}">
        <p14:creationId xmlns:p14="http://schemas.microsoft.com/office/powerpoint/2010/main" val="1161578195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2026-07-01T21:59:15.6250000Z</dcterms:created>
  <dcterms:modified xsi:type="dcterms:W3CDTF">2026-07-01T21:59:15.6250000Z</dcterms:modified>
</coreProperties>
</file>