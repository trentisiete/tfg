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c0d10fc279436a" /><Relationship Type="http://schemas.openxmlformats.org/officeDocument/2006/relationships/extended-properties" Target="/docProps/app.xml" Id="Rd0f21d31d0ed45ad" /><Relationship Type="http://schemas.openxmlformats.org/officeDocument/2006/relationships/officeDocument" Target="/ppt/presentation.xml" Id="R34855bc6cc5349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aee6888cec407b"/>
  </p:sldMasterIdLst>
  <p:notesMasterIdLst>
    <p:notesMasterId xmlns:r="http://schemas.openxmlformats.org/officeDocument/2006/relationships" r:id="R52ea7aca1840453f"/>
  </p:notesMasterIdLst>
  <p:sldIdLst>
    <p:sldId xmlns:r="http://schemas.openxmlformats.org/officeDocument/2006/relationships" id="256" r:id="R5a2efde80c564b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207a7a24840fb" /><Relationship Type="http://schemas.openxmlformats.org/officeDocument/2006/relationships/slideMaster" Target="/ppt/slideMasters/slideMaster1.xml" Id="R31aee6888cec407b" /><Relationship Type="http://schemas.openxmlformats.org/officeDocument/2006/relationships/notesMaster" Target="/ppt/notesMasters/notesMaster1.xml" Id="R52ea7aca1840453f" /><Relationship Type="http://schemas.openxmlformats.org/officeDocument/2006/relationships/presProps" Target="/ppt/presProps.xml" Id="R7d1924edd9ca45ca" /><Relationship Type="http://schemas.openxmlformats.org/officeDocument/2006/relationships/tableStyles" Target="/ppt/tableStyles.xml" Id="R36b474ea34144b84" /><Relationship Type="http://schemas.openxmlformats.org/officeDocument/2006/relationships/slide" Target="/ppt/slides/slide1.xml" Id="R5a2efde80c564b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0368a4b62b41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0da336e19c499d" /><Relationship Type="http://schemas.openxmlformats.org/officeDocument/2006/relationships/notesMaster" Target="/ppt/notesMasters/notesMaster1.xml" Id="R7b77588f4dcc48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e3550f6a645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8eb0d302f24d5b" /><Relationship Type="http://schemas.openxmlformats.org/officeDocument/2006/relationships/slideLayout" Target="/ppt/slideLayouts/slideLayout1.xml" Id="R562742de107c46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2742de107c46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60e4061194232" /><Relationship Type="http://schemas.openxmlformats.org/officeDocument/2006/relationships/image" Target="/ppt/media/image.png" Id="Re01d5550cdc842cd" /><Relationship Type="http://schemas.openxmlformats.org/officeDocument/2006/relationships/image" Target="/ppt/media/image2.png" Id="R78535b3eed48448c" /><Relationship Type="http://schemas.openxmlformats.org/officeDocument/2006/relationships/notesSlide" Target="/ppt/notesSlides/notesSlide1.xml" Id="R95a6a9e166c44f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3FE36D5-2C4D-4B41-A38C-44DF8E1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ANEXO A.6 / BENCHMARKS SINTÉTICOS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8F35D4-45EA-4EFA-96A8-DA25DB34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2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62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Diagnóstico predictivo y probabilístico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5FB06E5-3536-4442-AF99-920E218E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8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8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infill no solo se evalúa por el MAE: también importa si mejora la distribución predictiva y la calibración de la incertidumbre.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d5550cdc842cd"/>
          <a:stretch xmlns:a="http://schemas.openxmlformats.org/drawingml/2006/main"/>
        </p:blipFill>
        <p:spPr>
          <a:xfrm xmlns:a="http://schemas.openxmlformats.org/drawingml/2006/main">
            <a:off x="457200" y="1658490"/>
            <a:ext cx="7524750" cy="5141220"/>
          </a:xfrm>
          <a:prstGeom xmlns:a="http://schemas.openxmlformats.org/drawingml/2006/main" prst="rect">
            <a:avLst/>
          </a:prstGeom>
        </p:spPr>
      </p:pic>
      <p:sp>
        <p:nvSpPr>
          <p:cNvPr id="5" name="simultaneous-improvement-label">
            <a:extLst xmlns:a="http://schemas.openxmlformats.org/drawingml/2006/main">
              <a:ext uri="{FF2B5EF4-FFF2-40B4-BE49-F238E27FC236}">
                <a16:creationId xmlns:a16="http://schemas.microsoft.com/office/drawing/2014/main" id="{0B694D13-7D6E-42C0-9A0B-F59D206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10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810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Mejora simultánea</a:t>
            </a:r>
          </a:p>
        </p:txBody>
      </p:sp>
      <p:sp>
        <p:nvSpPr>
          <p:cNvPr id="6" name="simultaneous-rule">
            <a:extLst xmlns:a="http://schemas.openxmlformats.org/drawingml/2006/main">
              <a:ext uri="{FF2B5EF4-FFF2-40B4-BE49-F238E27FC236}">
                <a16:creationId xmlns:a16="http://schemas.microsoft.com/office/drawing/2014/main" id="{96AB91C8-BED3-4DA7-8683-16DD2F82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051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7D6D"/>
            </a:solidFill>
            <a:prstDash val="solid"/>
          </a:ln>
        </p:spPr>
      </p:sp>
      <p:sp>
        <p:nvSpPr>
          <p:cNvPr id="7" name="separator">
            <a:extLst xmlns:a="http://schemas.openxmlformats.org/drawingml/2006/main">
              <a:ext uri="{FF2B5EF4-FFF2-40B4-BE49-F238E27FC236}">
                <a16:creationId xmlns:a16="http://schemas.microsoft.com/office/drawing/2014/main" id="{991F1C8E-FA69-4C30-AEE7-E28BFC11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6CC"/>
            </a:solidFill>
            <a:prstDash val="solid"/>
          </a:ln>
        </p:spPr>
      </p:sp>
      <p:sp>
        <p:nvSpPr>
          <p:cNvPr id="8" name="how-title">
            <a:extLst xmlns:a="http://schemas.openxmlformats.org/drawingml/2006/main">
              <a:ext uri="{FF2B5EF4-FFF2-40B4-BE49-F238E27FC236}">
                <a16:creationId xmlns:a16="http://schemas.microsoft.com/office/drawing/2014/main" id="{B3C6593A-0153-4CD2-8632-4E7757E1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11150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Cómo leer la figura</a:t>
            </a:r>
          </a:p>
        </p:txBody>
      </p:sp>
      <p:sp>
        <p:nvSpPr>
          <p:cNvPr id="9" name="how-note">
            <a:extLst xmlns:a="http://schemas.openxmlformats.org/drawingml/2006/main">
              <a:ext uri="{FF2B5EF4-FFF2-40B4-BE49-F238E27FC236}">
                <a16:creationId xmlns:a16="http://schemas.microsoft.com/office/drawing/2014/main" id="{4243A5E5-6BFA-4C4D-B9F3-06763F82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469" y="1847850"/>
            <a:ext cx="1676781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1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1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diagnóstico</a:t>
            </a:r>
          </a:p>
        </p:txBody>
      </p:sp>
      <p:sp>
        <p:nvSpPr>
          <p:cNvPr id="10" name="how-rule">
            <a:extLst xmlns:a="http://schemas.openxmlformats.org/drawingml/2006/main">
              <a:ext uri="{FF2B5EF4-FFF2-40B4-BE49-F238E27FC236}">
                <a16:creationId xmlns:a16="http://schemas.microsoft.com/office/drawing/2014/main" id="{EA97DC47-1BE3-4B89-8F1B-43B8A18A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8597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1" name="read-x-label">
            <a:extLst xmlns:a="http://schemas.openxmlformats.org/drawingml/2006/main">
              <a:ext uri="{FF2B5EF4-FFF2-40B4-BE49-F238E27FC236}">
                <a16:creationId xmlns:a16="http://schemas.microsoft.com/office/drawing/2014/main" id="{7064FF68-13B9-4A23-9D6B-9FB23493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838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9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9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Izquierda</a:t>
            </a:r>
          </a:p>
        </p:txBody>
      </p:sp>
      <p:sp>
        <p:nvSpPr>
          <p:cNvPr id="12" name="read-x-body">
            <a:extLst xmlns:a="http://schemas.openxmlformats.org/drawingml/2006/main">
              <a:ext uri="{FF2B5EF4-FFF2-40B4-BE49-F238E27FC236}">
                <a16:creationId xmlns:a16="http://schemas.microsoft.com/office/drawing/2014/main" id="{14150CFF-3D64-4700-8BE4-417E9266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menor error medio.</a:t>
            </a:r>
          </a:p>
        </p:txBody>
      </p:sp>
      <p:sp>
        <p:nvSpPr>
          <p:cNvPr id="13" name="read-y-label">
            <a:extLst xmlns:a="http://schemas.openxmlformats.org/drawingml/2006/main">
              <a:ext uri="{FF2B5EF4-FFF2-40B4-BE49-F238E27FC236}">
                <a16:creationId xmlns:a16="http://schemas.microsoft.com/office/drawing/2014/main" id="{D3B7BCE9-F014-421F-B9AA-AF38E403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838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9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9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Abajo</a:t>
            </a:r>
          </a:p>
        </p:txBody>
      </p:sp>
      <p:sp>
        <p:nvSpPr>
          <p:cNvPr id="14" name="read-y-body">
            <a:extLst xmlns:a="http://schemas.openxmlformats.org/drawingml/2006/main">
              <a:ext uri="{FF2B5EF4-FFF2-40B4-BE49-F238E27FC236}">
                <a16:creationId xmlns:a16="http://schemas.microsoft.com/office/drawing/2014/main" id="{AD6EF2D6-F376-478D-AB93-BC19DC22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0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mejor diagnóstico probabilístico.</a:t>
            </a:r>
          </a:p>
        </p:txBody>
      </p:sp>
      <p:sp>
        <p:nvSpPr>
          <p:cNvPr id="15" name="read-color-label">
            <a:extLst xmlns:a="http://schemas.openxmlformats.org/drawingml/2006/main">
              <a:ext uri="{FF2B5EF4-FFF2-40B4-BE49-F238E27FC236}">
                <a16:creationId xmlns:a16="http://schemas.microsoft.com/office/drawing/2014/main" id="{4B40AAC7-C472-474A-8361-CD966388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838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9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9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Color bajo</a:t>
            </a:r>
          </a:p>
        </p:txBody>
      </p:sp>
      <p:sp>
        <p:nvSpPr>
          <p:cNvPr id="16" name="read-color-body">
            <a:extLst xmlns:a="http://schemas.openxmlformats.org/drawingml/2006/main">
              <a:ext uri="{FF2B5EF4-FFF2-40B4-BE49-F238E27FC236}">
                <a16:creationId xmlns:a16="http://schemas.microsoft.com/office/drawing/2014/main" id="{D33746E3-17CB-43CC-98DB-EE99671A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cobertura más cercana al 95 %.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35b3eed48448c"/>
          <a:stretch xmlns:a="http://schemas.openxmlformats.org/drawingml/2006/main"/>
        </p:blipFill>
        <p:spPr>
          <a:xfrm xmlns:a="http://schemas.openxmlformats.org/drawingml/2006/main">
            <a:off x="9225266" y="3209925"/>
            <a:ext cx="1418617" cy="238125"/>
          </a:xfrm>
          <a:prstGeom xmlns:a="http://schemas.openxmlformats.org/drawingml/2006/main" prst="rect">
            <a:avLst/>
          </a:prstGeom>
        </p:spPr>
      </p:pic>
      <p:sp>
        <p:nvSpPr>
          <p:cNvPr id="18" name="read-quadrant">
            <a:extLst xmlns:a="http://schemas.openxmlformats.org/drawingml/2006/main">
              <a:ext uri="{FF2B5EF4-FFF2-40B4-BE49-F238E27FC236}">
                <a16:creationId xmlns:a16="http://schemas.microsoft.com/office/drawing/2014/main" id="{7AB8738C-1E18-4CFB-905C-D81A4EBA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Cuadrante inferior izquierdo: mejora simultánea frente al diseño inicial.</a:t>
            </a:r>
          </a:p>
        </p:txBody>
      </p:sp>
      <p:sp>
        <p:nvSpPr>
          <p:cNvPr id="19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A1BAAFD2-F178-48E4-BF15-F86E8113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211150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Lectura</a:t>
            </a:r>
          </a:p>
        </p:txBody>
      </p:sp>
      <p:sp>
        <p:nvSpPr>
          <p:cNvPr id="20" name="reading-note">
            <a:extLst xmlns:a="http://schemas.openxmlformats.org/drawingml/2006/main">
              <a:ext uri="{FF2B5EF4-FFF2-40B4-BE49-F238E27FC236}">
                <a16:creationId xmlns:a16="http://schemas.microsoft.com/office/drawing/2014/main" id="{26D8112C-E7F9-458C-87F9-34A7BCF2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469" y="4152900"/>
            <a:ext cx="1676781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1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1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resultado</a:t>
            </a:r>
          </a:p>
        </p:txBody>
      </p:sp>
      <p:sp>
        <p:nvSpPr>
          <p:cNvPr id="21" name="reading-rule">
            <a:extLst xmlns:a="http://schemas.openxmlformats.org/drawingml/2006/main">
              <a:ext uri="{FF2B5EF4-FFF2-40B4-BE49-F238E27FC236}">
                <a16:creationId xmlns:a16="http://schemas.microsoft.com/office/drawing/2014/main" id="{67459B3A-3EB6-4223-ABDE-1E3A44D5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910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22" name="reading-body">
            <a:extLst xmlns:a="http://schemas.openxmlformats.org/drawingml/2006/main">
              <a:ext uri="{FF2B5EF4-FFF2-40B4-BE49-F238E27FC236}">
                <a16:creationId xmlns:a16="http://schemas.microsoft.com/office/drawing/2014/main" id="{DFC8A92D-1BF4-4498-B6D5-22B4FCBD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Los cuatro benchmarks acaban en zona de mejora simultánea.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Borehole: mayor mejora en MAE y NLPD, pero con subcobertura.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Forrester: mejora marcada en NLPD.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Hartmann6: comportamiento más equilibrado.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Branin: mejora más suave y trayectoria menos directa.</a:t>
            </a:r>
          </a:p>
        </p:txBody>
      </p:sp>
      <p:sp>
        <p:nvSpPr>
          <p:cNvPr id="23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D7046E3B-0BAB-415F-8E4A-0DADBF41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293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24" name="closing">
            <a:extLst xmlns:a="http://schemas.openxmlformats.org/drawingml/2006/main">
              <a:ext uri="{FF2B5EF4-FFF2-40B4-BE49-F238E27FC236}">
                <a16:creationId xmlns:a16="http://schemas.microsoft.com/office/drawing/2014/main" id="{94207C04-5F3C-489C-944F-754D75E0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48375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32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32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Reducir MAE no garantiza incertidumbre bien calibrada: precisión, NLPD y cobertura deben analizarse conjuntamente.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C17325-34D4-4DD0-B9F5-77855455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8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A.6</a:t>
            </a:r>
          </a:p>
        </p:txBody>
      </p:sp>
    </p:spTree>
    <p:extLst>
      <p:ext uri="{BB962C8B-B14F-4D97-AF65-F5344CB8AC3E}">
        <p14:creationId xmlns:p14="http://schemas.microsoft.com/office/powerpoint/2010/main" val="287024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2026-07-03T00:21:55.3740000Z</dcterms:created>
  <dcterms:modified xsi:type="dcterms:W3CDTF">2026-07-03T00:21:55.3750000Z</dcterms:modified>
</coreProperties>
</file>