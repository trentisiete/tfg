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51eec13524dcb" /><Relationship Type="http://schemas.openxmlformats.org/officeDocument/2006/relationships/extended-properties" Target="/docProps/app.xml" Id="R1b9c7f1c79e24db2" /><Relationship Type="http://schemas.openxmlformats.org/officeDocument/2006/relationships/officeDocument" Target="/ppt/presentation.xml" Id="Rb7806b655c4041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5a8089c57540d4"/>
  </p:sldMasterIdLst>
  <p:notesMasterIdLst>
    <p:notesMasterId xmlns:r="http://schemas.openxmlformats.org/officeDocument/2006/relationships" r:id="Re3ed8fd313914c0f"/>
  </p:notesMasterIdLst>
  <p:sldIdLst>
    <p:sldId xmlns:r="http://schemas.openxmlformats.org/officeDocument/2006/relationships" id="256" r:id="R576b53f38b224a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d9cc7cb6794730" /><Relationship Type="http://schemas.openxmlformats.org/officeDocument/2006/relationships/slideMaster" Target="/ppt/slideMasters/slideMaster1.xml" Id="R915a8089c57540d4" /><Relationship Type="http://schemas.openxmlformats.org/officeDocument/2006/relationships/notesMaster" Target="/ppt/notesMasters/notesMaster1.xml" Id="Re3ed8fd313914c0f" /><Relationship Type="http://schemas.openxmlformats.org/officeDocument/2006/relationships/presProps" Target="/ppt/presProps.xml" Id="R3938f1d6f14f4faa" /><Relationship Type="http://schemas.openxmlformats.org/officeDocument/2006/relationships/tableStyles" Target="/ppt/tableStyles.xml" Id="R08267f061b9149e4" /><Relationship Type="http://schemas.openxmlformats.org/officeDocument/2006/relationships/slide" Target="/ppt/slides/slide1.xml" Id="R576b53f38b224a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8de4e71c742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c1aebde08e4267" /><Relationship Type="http://schemas.openxmlformats.org/officeDocument/2006/relationships/notesMaster" Target="/ppt/notesMasters/notesMaster1.xml" Id="Raf0384a122134c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e357111664b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0a42c9e5f74e3e" /><Relationship Type="http://schemas.openxmlformats.org/officeDocument/2006/relationships/slideLayout" Target="/ppt/slideLayouts/slideLayout1.xml" Id="R2b19430e2d044e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19430e2d044e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7ea2eccd24dd0" /><Relationship Type="http://schemas.openxmlformats.org/officeDocument/2006/relationships/image" Target="/ppt/media/image.png" Id="R9e6d7178b3194291" /><Relationship Type="http://schemas.openxmlformats.org/officeDocument/2006/relationships/image" Target="/ppt/media/image2.png" Id="R67667394f9a241fc" /><Relationship Type="http://schemas.openxmlformats.org/officeDocument/2006/relationships/image" Target="/ppt/media/image3.png" Id="Ra3662b6b39644b64" /><Relationship Type="http://schemas.openxmlformats.org/officeDocument/2006/relationships/image" Target="/ppt/media/image4.png" Id="R0641fef30e9b44d0" /><Relationship Type="http://schemas.openxmlformats.org/officeDocument/2006/relationships/image" Target="/ppt/media/image5.png" Id="R98d6f3540d9d4844" /><Relationship Type="http://schemas.openxmlformats.org/officeDocument/2006/relationships/image" Target="/ppt/media/image6.png" Id="R6d8325acd37447c9" /><Relationship Type="http://schemas.openxmlformats.org/officeDocument/2006/relationships/image" Target="/ppt/media/image7.png" Id="Rfcdaed5e3f2347a8" /><Relationship Type="http://schemas.openxmlformats.org/officeDocument/2006/relationships/image" Target="/ppt/media/image8.png" Id="Ra72e98ab89d44d6d" /><Relationship Type="http://schemas.openxmlformats.org/officeDocument/2006/relationships/notesSlide" Target="/ppt/notesSlides/notesSlide1.xml" Id="R6813cf062f1040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C8904D3-F041-4EBF-B9DB-D97688B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 GAUSSIANO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29FA42-1EA6-4E9B-A388-3F32A879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30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 pesos gaussianos a funciones gaussianas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B0D7A08-CDD0-4ED8-9FA8-6AAF082B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425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Un prior gaussiano sobre w induce una distribución gaussiana sobre los valores de la función.</a:t>
            </a:r>
          </a:p>
        </p:txBody>
      </p:sp>
      <p:sp>
        <p:nvSpPr>
          <p:cNvPr id="4" name="left-section-accent">
            <a:extLst xmlns:a="http://schemas.openxmlformats.org/drawingml/2006/main">
              <a:ext uri="{FF2B5EF4-FFF2-40B4-BE49-F238E27FC236}">
                <a16:creationId xmlns:a16="http://schemas.microsoft.com/office/drawing/2014/main" id="{3629090C-CC40-45CE-A2B3-654CAA7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7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ft-section-title">
            <a:extLst xmlns:a="http://schemas.openxmlformats.org/drawingml/2006/main">
              <a:ext uri="{FF2B5EF4-FFF2-40B4-BE49-F238E27FC236}">
                <a16:creationId xmlns:a16="http://schemas.microsoft.com/office/drawing/2014/main" id="{36F0D9D5-BEEB-4221-86C3-968AB6B7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2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Derivación en puntos finitos</a:t>
            </a:r>
          </a:p>
        </p:txBody>
      </p:sp>
      <p:sp>
        <p:nvSpPr>
          <p:cNvPr id="6" name="concept-label">
            <a:extLst xmlns:a="http://schemas.openxmlformats.org/drawingml/2006/main">
              <a:ext uri="{FF2B5EF4-FFF2-40B4-BE49-F238E27FC236}">
                <a16:creationId xmlns:a16="http://schemas.microsoft.com/office/drawing/2014/main" id="{D5681091-04FF-47BA-A067-ADE38A4E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98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Paso conceptual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d7178b3194291"/>
          <a:stretch xmlns:a="http://schemas.openxmlformats.org/drawingml/2006/main"/>
        </p:blipFill>
        <p:spPr>
          <a:xfrm xmlns:a="http://schemas.openxmlformats.org/drawingml/2006/main">
            <a:off x="2343150" y="2335523"/>
            <a:ext cx="914400" cy="186703"/>
          </a:xfrm>
          <a:prstGeom xmlns:a="http://schemas.openxmlformats.org/drawingml/2006/main" prst="rect">
            <a:avLst/>
          </a:prstGeom>
        </p:spPr>
      </p:pic>
      <p:sp>
        <p:nvSpPr>
          <p:cNvPr id="8" name="concept-note">
            <a:extLst xmlns:a="http://schemas.openxmlformats.org/drawingml/2006/main">
              <a:ext uri="{FF2B5EF4-FFF2-40B4-BE49-F238E27FC236}">
                <a16:creationId xmlns:a16="http://schemas.microsoft.com/office/drawing/2014/main" id="{96331236-8103-4BB8-A877-AD017190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90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8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pasamos de incertidumbre sobre pesos a incertidumbre sobre funciones</a:t>
            </a:r>
          </a:p>
        </p:txBody>
      </p:sp>
      <p:sp>
        <p:nvSpPr>
          <p:cNvPr id="9" name="rule-top">
            <a:extLst xmlns:a="http://schemas.openxmlformats.org/drawingml/2006/main">
              <a:ext uri="{FF2B5EF4-FFF2-40B4-BE49-F238E27FC236}">
                <a16:creationId xmlns:a16="http://schemas.microsoft.com/office/drawing/2014/main" id="{3D461845-1430-4203-88CE-25B20757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595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10" name="step-model-number">
            <a:extLst xmlns:a="http://schemas.openxmlformats.org/drawingml/2006/main">
              <a:ext uri="{FF2B5EF4-FFF2-40B4-BE49-F238E27FC236}">
                <a16:creationId xmlns:a16="http://schemas.microsoft.com/office/drawing/2014/main" id="{CD33F771-CBD7-411C-BA7D-CE12D089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1</a:t>
            </a:r>
          </a:p>
        </p:txBody>
      </p:sp>
      <p:sp>
        <p:nvSpPr>
          <p:cNvPr id="11" name="step-model-label">
            <a:extLst xmlns:a="http://schemas.openxmlformats.org/drawingml/2006/main">
              <a:ext uri="{FF2B5EF4-FFF2-40B4-BE49-F238E27FC236}">
                <a16:creationId xmlns:a16="http://schemas.microsoft.com/office/drawing/2014/main" id="{FBB91A7B-1BEC-4DC2-A1BD-3759F2C1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05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Modelo lineal</a:t>
            </a:r>
          </a:p>
        </p:txBody>
      </p:sp>
      <p:sp>
        <p:nvSpPr>
          <p:cNvPr id="12" name="step-model-note">
            <a:extLst xmlns:a="http://schemas.openxmlformats.org/drawingml/2006/main">
              <a:ext uri="{FF2B5EF4-FFF2-40B4-BE49-F238E27FC236}">
                <a16:creationId xmlns:a16="http://schemas.microsoft.com/office/drawing/2014/main" id="{423FAD6D-E987-4D84-ADE1-DD1328D2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432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cada w define una función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67394f9a241fc"/>
          <a:stretch xmlns:a="http://schemas.openxmlformats.org/drawingml/2006/main"/>
        </p:blipFill>
        <p:spPr>
          <a:xfrm xmlns:a="http://schemas.openxmlformats.org/drawingml/2006/main">
            <a:off x="2952750" y="2847828"/>
            <a:ext cx="1066800" cy="286045"/>
          </a:xfrm>
          <a:prstGeom xmlns:a="http://schemas.openxmlformats.org/drawingml/2006/main" prst="rect">
            <a:avLst/>
          </a:prstGeom>
        </p:spPr>
      </p:pic>
      <p:sp>
        <p:nvSpPr>
          <p:cNvPr id="14" name="rule-model">
            <a:extLst xmlns:a="http://schemas.openxmlformats.org/drawingml/2006/main">
              <a:ext uri="{FF2B5EF4-FFF2-40B4-BE49-F238E27FC236}">
                <a16:creationId xmlns:a16="http://schemas.microsoft.com/office/drawing/2014/main" id="{C68B74C8-C2A3-45E1-8159-382EE391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595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5" name="step-prior-number">
            <a:extLst xmlns:a="http://schemas.openxmlformats.org/drawingml/2006/main">
              <a:ext uri="{FF2B5EF4-FFF2-40B4-BE49-F238E27FC236}">
                <a16:creationId xmlns:a16="http://schemas.microsoft.com/office/drawing/2014/main" id="{0998BCD4-C551-4EE1-9179-05D85B69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2</a:t>
            </a:r>
          </a:p>
        </p:txBody>
      </p:sp>
      <p:sp>
        <p:nvSpPr>
          <p:cNvPr id="16" name="step-prior-label">
            <a:extLst xmlns:a="http://schemas.openxmlformats.org/drawingml/2006/main">
              <a:ext uri="{FF2B5EF4-FFF2-40B4-BE49-F238E27FC236}">
                <a16:creationId xmlns:a16="http://schemas.microsoft.com/office/drawing/2014/main" id="{6AACD7C6-5D3C-4A08-97DE-67B4EB57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76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Prior gaussiano</a:t>
            </a:r>
          </a:p>
        </p:txBody>
      </p:sp>
      <p:sp>
        <p:nvSpPr>
          <p:cNvPr id="17" name="step-prior-note">
            <a:extLst xmlns:a="http://schemas.openxmlformats.org/drawingml/2006/main">
              <a:ext uri="{FF2B5EF4-FFF2-40B4-BE49-F238E27FC236}">
                <a16:creationId xmlns:a16="http://schemas.microsoft.com/office/drawing/2014/main" id="{6465546A-A0EF-4D43-A836-A9BC8563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14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incertidumbre sobre los parámetros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62b6b39644b64"/>
          <a:stretch xmlns:a="http://schemas.openxmlformats.org/drawingml/2006/main"/>
        </p:blipFill>
        <p:spPr>
          <a:xfrm xmlns:a="http://schemas.openxmlformats.org/drawingml/2006/main">
            <a:off x="2952750" y="3415515"/>
            <a:ext cx="1219200" cy="293670"/>
          </a:xfrm>
          <a:prstGeom xmlns:a="http://schemas.openxmlformats.org/drawingml/2006/main" prst="rect">
            <a:avLst/>
          </a:prstGeom>
        </p:spPr>
      </p:pic>
      <p:sp>
        <p:nvSpPr>
          <p:cNvPr id="19" name="rule-prior">
            <a:extLst xmlns:a="http://schemas.openxmlformats.org/drawingml/2006/main">
              <a:ext uri="{FF2B5EF4-FFF2-40B4-BE49-F238E27FC236}">
                <a16:creationId xmlns:a16="http://schemas.microsoft.com/office/drawing/2014/main" id="{16F0B23E-E730-40F7-AF55-EC522148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595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20" name="step-values-number">
            <a:extLst xmlns:a="http://schemas.openxmlformats.org/drawingml/2006/main">
              <a:ext uri="{FF2B5EF4-FFF2-40B4-BE49-F238E27FC236}">
                <a16:creationId xmlns:a16="http://schemas.microsoft.com/office/drawing/2014/main" id="{468343D8-7B30-44D5-968E-49F00A8A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3</a:t>
            </a:r>
          </a:p>
        </p:txBody>
      </p:sp>
      <p:sp>
        <p:nvSpPr>
          <p:cNvPr id="21" name="step-values-label">
            <a:extLst xmlns:a="http://schemas.openxmlformats.org/drawingml/2006/main">
              <a:ext uri="{FF2B5EF4-FFF2-40B4-BE49-F238E27FC236}">
                <a16:creationId xmlns:a16="http://schemas.microsoft.com/office/drawing/2014/main" id="{1A3B41AF-521C-45D4-9154-D11A554B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48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9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Valores de la función</a:t>
            </a:r>
          </a:p>
        </p:txBody>
      </p:sp>
      <p:sp>
        <p:nvSpPr>
          <p:cNvPr id="22" name="step-values-note">
            <a:extLst xmlns:a="http://schemas.openxmlformats.org/drawingml/2006/main">
              <a:ext uri="{FF2B5EF4-FFF2-40B4-BE49-F238E27FC236}">
                <a16:creationId xmlns:a16="http://schemas.microsoft.com/office/drawing/2014/main" id="{568FD7A7-AF88-4616-9DAA-1777F746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862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evaluamos f en x1,...,xn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1fef30e9b44d0"/>
          <a:stretch xmlns:a="http://schemas.openxmlformats.org/drawingml/2006/main"/>
        </p:blipFill>
        <p:spPr>
          <a:xfrm xmlns:a="http://schemas.openxmlformats.org/drawingml/2006/main">
            <a:off x="2914650" y="4007905"/>
            <a:ext cx="2305050" cy="270940"/>
          </a:xfrm>
          <a:prstGeom xmlns:a="http://schemas.openxmlformats.org/drawingml/2006/main" prst="rect">
            <a:avLst/>
          </a:prstGeom>
        </p:spPr>
      </p:pic>
      <p:sp>
        <p:nvSpPr>
          <p:cNvPr id="24" name="rule-values">
            <a:extLst xmlns:a="http://schemas.openxmlformats.org/drawingml/2006/main">
              <a:ext uri="{FF2B5EF4-FFF2-40B4-BE49-F238E27FC236}">
                <a16:creationId xmlns:a16="http://schemas.microsoft.com/office/drawing/2014/main" id="{26F3BA1B-22F1-4C35-B1A3-FB8FF7BD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595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25" name="result-accent">
            <a:extLst xmlns:a="http://schemas.openxmlformats.org/drawingml/2006/main">
              <a:ext uri="{FF2B5EF4-FFF2-40B4-BE49-F238E27FC236}">
                <a16:creationId xmlns:a16="http://schemas.microsoft.com/office/drawing/2014/main" id="{85F8AB9B-D490-49D7-8CA7-19EEED15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47625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sult-number">
            <a:extLst xmlns:a="http://schemas.openxmlformats.org/drawingml/2006/main">
              <a:ext uri="{FF2B5EF4-FFF2-40B4-BE49-F238E27FC236}">
                <a16:creationId xmlns:a16="http://schemas.microsoft.com/office/drawing/2014/main" id="{D9A8A93B-1F08-491D-A4DE-4A73CF31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38675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7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4</a:t>
            </a:r>
          </a:p>
        </p:txBody>
      </p:sp>
      <p:sp>
        <p:nvSpPr>
          <p:cNvPr id="27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04B8F6B9-205F-4B82-9D13-1D912297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29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0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100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Resultado clave</a:t>
            </a:r>
          </a:p>
        </p:txBody>
      </p:sp>
      <p:sp>
        <p:nvSpPr>
          <p:cNvPr id="28" name="result-note">
            <a:extLst xmlns:a="http://schemas.openxmlformats.org/drawingml/2006/main">
              <a:ext uri="{FF2B5EF4-FFF2-40B4-BE49-F238E27FC236}">
                <a16:creationId xmlns:a16="http://schemas.microsoft.com/office/drawing/2014/main" id="{54CF159E-A55F-45B6-845C-2CE21080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una transformación lineal de una gaussiana sigue siendo gaussiana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6f3540d9d4844"/>
          <a:stretch xmlns:a="http://schemas.openxmlformats.org/drawingml/2006/main"/>
        </p:blipFill>
        <p:spPr>
          <a:xfrm xmlns:a="http://schemas.openxmlformats.org/drawingml/2006/main">
            <a:off x="4680361" y="4667250"/>
            <a:ext cx="1802579" cy="323850"/>
          </a:xfrm>
          <a:prstGeom xmlns:a="http://schemas.openxmlformats.org/drawingml/2006/main" prst="rect">
            <a:avLst/>
          </a:prstGeom>
        </p:spPr>
      </p:pic>
      <p:sp>
        <p:nvSpPr>
          <p:cNvPr id="30" name="rule-noise">
            <a:extLst xmlns:a="http://schemas.openxmlformats.org/drawingml/2006/main">
              <a:ext uri="{FF2B5EF4-FFF2-40B4-BE49-F238E27FC236}">
                <a16:creationId xmlns:a16="http://schemas.microsoft.com/office/drawing/2014/main" id="{3FD8EFA2-DA8C-4BC6-94EE-2743E794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595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31" name="noise-label">
            <a:extLst xmlns:a="http://schemas.openxmlformats.org/drawingml/2006/main">
              <a:ext uri="{FF2B5EF4-FFF2-40B4-BE49-F238E27FC236}">
                <a16:creationId xmlns:a16="http://schemas.microsoft.com/office/drawing/2014/main" id="{0B642086-E3DB-45DC-A95B-0F909CE5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67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85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Con ruido observacional: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325acd37447c9"/>
          <a:stretch xmlns:a="http://schemas.openxmlformats.org/drawingml/2006/main"/>
        </p:blipFill>
        <p:spPr>
          <a:xfrm xmlns:a="http://schemas.openxmlformats.org/drawingml/2006/main">
            <a:off x="2788323" y="5391150"/>
            <a:ext cx="728905" cy="238125"/>
          </a:xfrm>
          <a:prstGeom xmlns:a="http://schemas.openxmlformats.org/drawingml/2006/main" prst="rect">
            <a:avLst/>
          </a:prstGeom>
        </p:spPr>
      </p:pic>
      <p:sp>
        <p:nvSpPr>
          <p:cNvPr id="33" name="noise-note">
            <a:extLst xmlns:a="http://schemas.openxmlformats.org/drawingml/2006/main">
              <a:ext uri="{FF2B5EF4-FFF2-40B4-BE49-F238E27FC236}">
                <a16:creationId xmlns:a16="http://schemas.microsoft.com/office/drawing/2014/main" id="{5A934DFC-206F-456C-9F52-043AFEC2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6735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4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se suma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aed5e3f2347a8"/>
          <a:stretch xmlns:a="http://schemas.openxmlformats.org/drawingml/2006/main"/>
        </p:blipFill>
        <p:spPr>
          <a:xfrm xmlns:a="http://schemas.openxmlformats.org/drawingml/2006/main">
            <a:off x="4537333" y="5391150"/>
            <a:ext cx="1688584" cy="238125"/>
          </a:xfrm>
          <a:prstGeom xmlns:a="http://schemas.openxmlformats.org/drawingml/2006/main" prst="rect">
            <a:avLst/>
          </a:prstGeom>
        </p:spPr>
      </p:pic>
      <p:sp>
        <p:nvSpPr>
          <p:cNvPr id="35" name="visual-accent">
            <a:extLst xmlns:a="http://schemas.openxmlformats.org/drawingml/2006/main">
              <a:ext uri="{FF2B5EF4-FFF2-40B4-BE49-F238E27FC236}">
                <a16:creationId xmlns:a16="http://schemas.microsoft.com/office/drawing/2014/main" id="{C2F93F9F-B1B4-42A3-A265-7A774DD6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52675"/>
            <a:ext cx="47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B0FEB192-4ED3-4CF4-A82C-EAD0C7AF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2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Intuición visual</a:t>
            </a:r>
          </a:p>
        </p:txBody>
      </p:sp>
      <p:sp>
        <p:nvSpPr>
          <p:cNvPr id="37" name="visual-body">
            <a:extLst xmlns:a="http://schemas.openxmlformats.org/drawingml/2006/main">
              <a:ext uri="{FF2B5EF4-FFF2-40B4-BE49-F238E27FC236}">
                <a16:creationId xmlns:a16="http://schemas.microsoft.com/office/drawing/2014/main" id="{CE8B4214-78DB-4F12-A826-76EFC22D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2914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6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6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Muestras de w → funciones posibles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e98ab89d44d6d"/>
          <a:stretch xmlns:a="http://schemas.openxmlformats.org/drawingml/2006/main"/>
        </p:blipFill>
        <p:spPr>
          <a:xfrm xmlns:a="http://schemas.openxmlformats.org/drawingml/2006/main">
            <a:off x="8212469" y="3028950"/>
            <a:ext cx="2510763" cy="1524000"/>
          </a:xfrm>
          <a:prstGeom xmlns:a="http://schemas.openxmlformats.org/drawingml/2006/main" prst="rect">
            <a:avLst/>
          </a:prstGeom>
        </p:spPr>
      </p:pic>
      <p:sp>
        <p:nvSpPr>
          <p:cNvPr id="39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1CE0035B-9337-4A36-856C-DCE5F5C2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5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5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cada línea viene de una muestra distinta de w</a:t>
            </a:r>
          </a:p>
        </p:txBody>
      </p:sp>
      <p:sp>
        <p:nvSpPr>
          <p:cNvPr id="40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EEADF04A-7137-4C21-ACCA-0FA1409F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41" name="bottom-kicker">
            <a:extLst xmlns:a="http://schemas.openxmlformats.org/drawingml/2006/main">
              <a:ext uri="{FF2B5EF4-FFF2-40B4-BE49-F238E27FC236}">
                <a16:creationId xmlns:a16="http://schemas.microsoft.com/office/drawing/2014/main" id="{AB2AF3FE-246C-4183-911C-D364F1BD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674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Decisión 1: modelo</a:t>
            </a:r>
          </a:p>
        </p:txBody>
      </p:sp>
      <p:sp>
        <p:nvSpPr>
          <p:cNvPr id="42" name="takeaway">
            <a:extLst xmlns:a="http://schemas.openxmlformats.org/drawingml/2006/main">
              <a:ext uri="{FF2B5EF4-FFF2-40B4-BE49-F238E27FC236}">
                <a16:creationId xmlns:a16="http://schemas.microsoft.com/office/drawing/2014/main" id="{4BD8E359-D3DA-48AC-AD0B-F121B4DD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15025"/>
            <a:ext cx="7667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4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4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Si los pesos tienen un prior gaussiano, los valores de la función también son gaussianos; el GP generaliza esta idea al espacio de funciones.</a:t>
            </a:r>
          </a:p>
        </p:txBody>
      </p:sp>
      <p:sp>
        <p:nvSpPr>
          <p:cNvPr id="4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60BE4C-3347-4928-AD62-C42BF1F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191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75940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2026-07-01T19:17:45.3120000Z</dcterms:created>
  <dcterms:modified xsi:type="dcterms:W3CDTF">2026-07-01T19:17:45.3120000Z</dcterms:modified>
</coreProperties>
</file>