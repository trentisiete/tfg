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0156def4974600" /><Relationship Type="http://schemas.openxmlformats.org/officeDocument/2006/relationships/extended-properties" Target="/docProps/app.xml" Id="R0cb3194b891941c0" /><Relationship Type="http://schemas.openxmlformats.org/officeDocument/2006/relationships/officeDocument" Target="/ppt/presentation.xml" Id="R96d63434ba354f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c4f49fb47d4920"/>
  </p:sldMasterIdLst>
  <p:notesMasterIdLst>
    <p:notesMasterId xmlns:r="http://schemas.openxmlformats.org/officeDocument/2006/relationships" r:id="R6182ffc506194d3c"/>
  </p:notesMasterIdLst>
  <p:sldIdLst>
    <p:sldId xmlns:r="http://schemas.openxmlformats.org/officeDocument/2006/relationships" id="256" r:id="R2bf32bf7629a4b0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aed9bc61454ab0" /><Relationship Type="http://schemas.openxmlformats.org/officeDocument/2006/relationships/slideMaster" Target="/ppt/slideMasters/slideMaster1.xml" Id="R20c4f49fb47d4920" /><Relationship Type="http://schemas.openxmlformats.org/officeDocument/2006/relationships/notesMaster" Target="/ppt/notesMasters/notesMaster1.xml" Id="R6182ffc506194d3c" /><Relationship Type="http://schemas.openxmlformats.org/officeDocument/2006/relationships/presProps" Target="/ppt/presProps.xml" Id="Re7c092ded3ee4c8d" /><Relationship Type="http://schemas.openxmlformats.org/officeDocument/2006/relationships/tableStyles" Target="/ppt/tableStyles.xml" Id="R8fa2e229d67d4477" /><Relationship Type="http://schemas.openxmlformats.org/officeDocument/2006/relationships/slide" Target="/ppt/slides/slide1.xml" Id="R2bf32bf7629a4b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921125547f45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c781d6101f4849" /><Relationship Type="http://schemas.openxmlformats.org/officeDocument/2006/relationships/notesMaster" Target="/ppt/notesMasters/notesMaster1.xml" Id="Ra30cd31cb3434a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530b3780e74e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9e186925614e56" /><Relationship Type="http://schemas.openxmlformats.org/officeDocument/2006/relationships/slideLayout" Target="/ppt/slideLayouts/slideLayout1.xml" Id="Recee91df2b4f43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ee91df2b4f43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6490f08da47dd" /><Relationship Type="http://schemas.openxmlformats.org/officeDocument/2006/relationships/image" Target="/ppt/media/image.png" Id="R332d365d185a4e00" /><Relationship Type="http://schemas.openxmlformats.org/officeDocument/2006/relationships/image" Target="/ppt/media/image2.png" Id="R68b39b568d4e4040" /><Relationship Type="http://schemas.openxmlformats.org/officeDocument/2006/relationships/image" Target="/ppt/media/image3.png" Id="Rf26f82cc0d9d4da6" /><Relationship Type="http://schemas.openxmlformats.org/officeDocument/2006/relationships/image" Target="/ppt/media/image4.png" Id="R6ef2395c27734cf5" /><Relationship Type="http://schemas.openxmlformats.org/officeDocument/2006/relationships/image" Target="/ppt/media/image5.png" Id="R9c37c2fb485a4e63" /><Relationship Type="http://schemas.openxmlformats.org/officeDocument/2006/relationships/image" Target="/ppt/media/image6.png" Id="R23abe1b207f84059" /><Relationship Type="http://schemas.openxmlformats.org/officeDocument/2006/relationships/notesSlide" Target="/ppt/notesSlides/notesSlide1.xml" Id="R35c27505e83842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AF42A10-E9C5-49F2-8799-3A0C19F7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PROCESO GAUSSIANO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A1645AE-8A21-4A30-AA2F-DA374CA4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88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2888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Familias de kernel: qué hipótesis introducen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4DADE91-CFB1-40BE-B2A1-1946BC41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65" b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365" b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No son intercambiables: cada familia fija una regularidad distinta para el sustituto.</a:t>
            </a:r>
          </a:p>
        </p:txBody>
      </p:sp>
      <p:sp>
        <p:nvSpPr>
          <p:cNvPr id="4" name="main-separator">
            <a:extLst xmlns:a="http://schemas.openxmlformats.org/drawingml/2006/main">
              <a:ext uri="{FF2B5EF4-FFF2-40B4-BE49-F238E27FC236}">
                <a16:creationId xmlns:a16="http://schemas.microsoft.com/office/drawing/2014/main" id="{71DD3829-3457-460E-93B2-4F0BF007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152650"/>
            <a:ext cx="0" cy="3371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4CCC0"/>
            </a:solidFill>
            <a:prstDash val="solid"/>
          </a:ln>
        </p:spPr>
      </p:sp>
      <p:sp>
        <p:nvSpPr>
          <p:cNvPr id="5" name="catalog-accent">
            <a:extLst xmlns:a="http://schemas.openxmlformats.org/drawingml/2006/main">
              <a:ext uri="{FF2B5EF4-FFF2-40B4-BE49-F238E27FC236}">
                <a16:creationId xmlns:a16="http://schemas.microsoft.com/office/drawing/2014/main" id="{2A8DCCD0-376D-45FF-901D-F3448EB5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4000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talog-title">
            <a:extLst xmlns:a="http://schemas.openxmlformats.org/drawingml/2006/main">
              <a:ext uri="{FF2B5EF4-FFF2-40B4-BE49-F238E27FC236}">
                <a16:creationId xmlns:a16="http://schemas.microsoft.com/office/drawing/2014/main" id="{E9059417-611C-47EB-AE8D-A6FCD129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Catálogo como sesgo inductivo</a:t>
            </a:r>
          </a:p>
        </p:txBody>
      </p:sp>
      <p:sp>
        <p:nvSpPr>
          <p:cNvPr id="7" name="linear-accent">
            <a:extLst xmlns:a="http://schemas.openxmlformats.org/drawingml/2006/main">
              <a:ext uri="{FF2B5EF4-FFF2-40B4-BE49-F238E27FC236}">
                <a16:creationId xmlns:a16="http://schemas.microsoft.com/office/drawing/2014/main" id="{6A80200E-F5F2-4010-B05E-BE3406C0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2857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inear-title">
            <a:extLst xmlns:a="http://schemas.openxmlformats.org/drawingml/2006/main">
              <a:ext uri="{FF2B5EF4-FFF2-40B4-BE49-F238E27FC236}">
                <a16:creationId xmlns:a16="http://schemas.microsoft.com/office/drawing/2014/main" id="{0A2931FE-14B7-46C2-A747-1230C8A9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6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06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Lineal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2d365d185a4e00"/>
          <a:stretch xmlns:a="http://schemas.openxmlformats.org/drawingml/2006/main"/>
        </p:blipFill>
        <p:spPr>
          <a:xfrm xmlns:a="http://schemas.openxmlformats.org/drawingml/2006/main">
            <a:off x="982756" y="2857500"/>
            <a:ext cx="358588" cy="266700"/>
          </a:xfrm>
          <a:prstGeom xmlns:a="http://schemas.openxmlformats.org/drawingml/2006/main" prst="rect">
            <a:avLst/>
          </a:prstGeom>
        </p:spPr>
      </p:pic>
      <p:sp>
        <p:nvSpPr>
          <p:cNvPr id="10" name="linear-hypothesis">
            <a:extLst xmlns:a="http://schemas.openxmlformats.org/drawingml/2006/main">
              <a:ext uri="{FF2B5EF4-FFF2-40B4-BE49-F238E27FC236}">
                <a16:creationId xmlns:a16="http://schemas.microsoft.com/office/drawing/2014/main" id="{2A6CF05E-E4E6-42AA-A31A-360F3C66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657475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8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88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tendencia global aproximadamente lineal</a:t>
            </a:r>
          </a:p>
        </p:txBody>
      </p:sp>
      <p:sp>
        <p:nvSpPr>
          <p:cNvPr id="11" name="linear-use">
            <a:extLst xmlns:a="http://schemas.openxmlformats.org/drawingml/2006/main">
              <a:ext uri="{FF2B5EF4-FFF2-40B4-BE49-F238E27FC236}">
                <a16:creationId xmlns:a16="http://schemas.microsoft.com/office/drawing/2014/main" id="{A07AC891-97B9-4E9C-BCEB-A15A809C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93370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útil si el efecto principal esperado es casi aditivo o monotónico.</a:t>
            </a:r>
          </a:p>
        </p:txBody>
      </p:sp>
      <p:sp>
        <p:nvSpPr>
          <p:cNvPr id="12" name="linear-rule">
            <a:extLst xmlns:a="http://schemas.openxmlformats.org/drawingml/2006/main">
              <a:ext uri="{FF2B5EF4-FFF2-40B4-BE49-F238E27FC236}">
                <a16:creationId xmlns:a16="http://schemas.microsoft.com/office/drawing/2014/main" id="{8A465CF9-62D3-4D72-BA22-80293EE0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3867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sp>
        <p:nvSpPr>
          <p:cNvPr id="13" name="rbf-accent">
            <a:extLst xmlns:a="http://schemas.openxmlformats.org/drawingml/2006/main">
              <a:ext uri="{FF2B5EF4-FFF2-40B4-BE49-F238E27FC236}">
                <a16:creationId xmlns:a16="http://schemas.microsoft.com/office/drawing/2014/main" id="{EC492CE0-6CC6-400B-925C-74FF5CF4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2857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bf-title">
            <a:extLst xmlns:a="http://schemas.openxmlformats.org/drawingml/2006/main">
              <a:ext uri="{FF2B5EF4-FFF2-40B4-BE49-F238E27FC236}">
                <a16:creationId xmlns:a16="http://schemas.microsoft.com/office/drawing/2014/main" id="{C0858D12-EB31-420A-9077-EE277663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6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06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RBF</a:t>
            </a:r>
          </a:p>
        </p:txBody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b39b568d4e4040"/>
          <a:stretch xmlns:a="http://schemas.openxmlformats.org/drawingml/2006/main"/>
        </p:blipFill>
        <p:spPr>
          <a:xfrm xmlns:a="http://schemas.openxmlformats.org/drawingml/2006/main">
            <a:off x="920244" y="3609975"/>
            <a:ext cx="521712" cy="266700"/>
          </a:xfrm>
          <a:prstGeom xmlns:a="http://schemas.openxmlformats.org/drawingml/2006/main" prst="rect">
            <a:avLst/>
          </a:prstGeom>
        </p:spPr>
      </p:pic>
      <p:sp>
        <p:nvSpPr>
          <p:cNvPr id="16" name="rbf-hypothesis">
            <a:extLst xmlns:a="http://schemas.openxmlformats.org/drawingml/2006/main">
              <a:ext uri="{FF2B5EF4-FFF2-40B4-BE49-F238E27FC236}">
                <a16:creationId xmlns:a16="http://schemas.microsoft.com/office/drawing/2014/main" id="{E0F2220D-D619-4F47-8A46-3B2A4FDD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419475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8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88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funciones muy suaves</a:t>
            </a:r>
          </a:p>
        </p:txBody>
      </p:sp>
      <p:sp>
        <p:nvSpPr>
          <p:cNvPr id="17" name="rbf-use">
            <a:extLst xmlns:a="http://schemas.openxmlformats.org/drawingml/2006/main">
              <a:ext uri="{FF2B5EF4-FFF2-40B4-BE49-F238E27FC236}">
                <a16:creationId xmlns:a16="http://schemas.microsoft.com/office/drawing/2014/main" id="{E3E53ABA-48BF-489C-85C0-E6F9440A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69570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prior fuerte: cambios graduales y correlación que decae con la distancia.</a:t>
            </a:r>
          </a:p>
        </p:txBody>
      </p:sp>
      <p:sp>
        <p:nvSpPr>
          <p:cNvPr id="18" name="rbf-rule">
            <a:extLst xmlns:a="http://schemas.openxmlformats.org/drawingml/2006/main">
              <a:ext uri="{FF2B5EF4-FFF2-40B4-BE49-F238E27FC236}">
                <a16:creationId xmlns:a16="http://schemas.microsoft.com/office/drawing/2014/main" id="{0799BD7C-5F8B-45E8-A6BD-A6712FDD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3867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sp>
        <p:nvSpPr>
          <p:cNvPr id="19" name="matern-accent">
            <a:extLst xmlns:a="http://schemas.openxmlformats.org/drawingml/2006/main">
              <a:ext uri="{FF2B5EF4-FFF2-40B4-BE49-F238E27FC236}">
                <a16:creationId xmlns:a16="http://schemas.microsoft.com/office/drawing/2014/main" id="{44FF1F77-912D-4A52-B750-CCA6054C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2857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matern-title">
            <a:extLst xmlns:a="http://schemas.openxmlformats.org/drawingml/2006/main">
              <a:ext uri="{FF2B5EF4-FFF2-40B4-BE49-F238E27FC236}">
                <a16:creationId xmlns:a16="http://schemas.microsoft.com/office/drawing/2014/main" id="{20F157C0-69B5-4E54-9CFE-1EADF968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65" b="1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1065" b="1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Matérn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6f82cc0d9d4da6"/>
          <a:stretch xmlns:a="http://schemas.openxmlformats.org/drawingml/2006/main"/>
        </p:blipFill>
        <p:spPr>
          <a:xfrm xmlns:a="http://schemas.openxmlformats.org/drawingml/2006/main">
            <a:off x="838200" y="4413368"/>
            <a:ext cx="876300" cy="183915"/>
          </a:xfrm>
          <a:prstGeom xmlns:a="http://schemas.openxmlformats.org/drawingml/2006/main" prst="rect">
            <a:avLst/>
          </a:prstGeom>
        </p:spPr>
      </p:pic>
      <p:sp>
        <p:nvSpPr>
          <p:cNvPr id="22" name="matern-hypothesis">
            <a:extLst xmlns:a="http://schemas.openxmlformats.org/drawingml/2006/main">
              <a:ext uri="{FF2B5EF4-FFF2-40B4-BE49-F238E27FC236}">
                <a16:creationId xmlns:a16="http://schemas.microsoft.com/office/drawing/2014/main" id="{31D37B27-9CB5-4169-8566-49530117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181475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8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88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suavidad regulable, menos rígida</a:t>
            </a:r>
          </a:p>
        </p:txBody>
      </p:sp>
      <p:sp>
        <p:nvSpPr>
          <p:cNvPr id="23" name="matern-use">
            <a:extLst xmlns:a="http://schemas.openxmlformats.org/drawingml/2006/main">
              <a:ext uri="{FF2B5EF4-FFF2-40B4-BE49-F238E27FC236}">
                <a16:creationId xmlns:a16="http://schemas.microsoft.com/office/drawing/2014/main" id="{18A57E9F-D9B6-4E69-8D1E-A503E0E0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45770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interesante cuando se esperan cambios locales o menor regularidad que RBF.</a:t>
            </a:r>
          </a:p>
        </p:txBody>
      </p:sp>
      <p:sp>
        <p:nvSpPr>
          <p:cNvPr id="24" name="matern-rule">
            <a:extLst xmlns:a="http://schemas.openxmlformats.org/drawingml/2006/main">
              <a:ext uri="{FF2B5EF4-FFF2-40B4-BE49-F238E27FC236}">
                <a16:creationId xmlns:a16="http://schemas.microsoft.com/office/drawing/2014/main" id="{7FCD0DEF-E14C-49AF-A781-852A39E2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9650"/>
            <a:ext cx="3867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sp>
        <p:nvSpPr>
          <p:cNvPr id="25" name="white-accent">
            <a:extLst xmlns:a="http://schemas.openxmlformats.org/drawingml/2006/main">
              <a:ext uri="{FF2B5EF4-FFF2-40B4-BE49-F238E27FC236}">
                <a16:creationId xmlns:a16="http://schemas.microsoft.com/office/drawing/2014/main" id="{E2E4BCE5-AD54-47E2-96CB-32A95C58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2857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F63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hite-title">
            <a:extLst xmlns:a="http://schemas.openxmlformats.org/drawingml/2006/main">
              <a:ext uri="{FF2B5EF4-FFF2-40B4-BE49-F238E27FC236}">
                <a16:creationId xmlns:a16="http://schemas.microsoft.com/office/drawing/2014/main" id="{CFC826CE-5F8B-406A-940F-A1757E89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65" b="1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1065" b="1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White</a:t>
            </a:r>
          </a:p>
        </p:txBody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2395c27734cf5"/>
          <a:stretch xmlns:a="http://schemas.openxmlformats.org/drawingml/2006/main"/>
        </p:blipFill>
        <p:spPr>
          <a:xfrm xmlns:a="http://schemas.openxmlformats.org/drawingml/2006/main">
            <a:off x="961985" y="5143500"/>
            <a:ext cx="533479" cy="247650"/>
          </a:xfrm>
          <a:prstGeom xmlns:a="http://schemas.openxmlformats.org/drawingml/2006/main" prst="rect">
            <a:avLst/>
          </a:prstGeom>
        </p:spPr>
      </p:pic>
      <p:sp>
        <p:nvSpPr>
          <p:cNvPr id="28" name="white-hypothesis">
            <a:extLst xmlns:a="http://schemas.openxmlformats.org/drawingml/2006/main">
              <a:ext uri="{FF2B5EF4-FFF2-40B4-BE49-F238E27FC236}">
                <a16:creationId xmlns:a16="http://schemas.microsoft.com/office/drawing/2014/main" id="{FA013F94-DEA7-46A7-8125-780C0546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943475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8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88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ruido observacional independiente</a:t>
            </a:r>
          </a:p>
        </p:txBody>
      </p:sp>
      <p:sp>
        <p:nvSpPr>
          <p:cNvPr id="29" name="white-use">
            <a:extLst xmlns:a="http://schemas.openxmlformats.org/drawingml/2006/main">
              <a:ext uri="{FF2B5EF4-FFF2-40B4-BE49-F238E27FC236}">
                <a16:creationId xmlns:a16="http://schemas.microsoft.com/office/drawing/2014/main" id="{67F23746-1E5A-4B73-A0D6-8AABCFB2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1970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modela varianza local sin imponer estructura funcional suave.</a:t>
            </a:r>
          </a:p>
        </p:txBody>
      </p:sp>
      <p:sp>
        <p:nvSpPr>
          <p:cNvPr id="30" name="white-rule">
            <a:extLst xmlns:a="http://schemas.openxmlformats.org/drawingml/2006/main">
              <a:ext uri="{FF2B5EF4-FFF2-40B4-BE49-F238E27FC236}">
                <a16:creationId xmlns:a16="http://schemas.microsoft.com/office/drawing/2014/main" id="{E36E1080-10C4-4F75-A649-36340AD4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81650"/>
            <a:ext cx="3867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sp>
        <p:nvSpPr>
          <p:cNvPr id="31" name="ard-dot">
            <a:extLst xmlns:a="http://schemas.openxmlformats.org/drawingml/2006/main">
              <a:ext uri="{FF2B5EF4-FFF2-40B4-BE49-F238E27FC236}">
                <a16:creationId xmlns:a16="http://schemas.microsoft.com/office/drawing/2014/main" id="{098A3B01-F46B-45F7-822F-D83B18A8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71438" cy="714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ard-title">
            <a:extLst xmlns:a="http://schemas.openxmlformats.org/drawingml/2006/main">
              <a:ext uri="{FF2B5EF4-FFF2-40B4-BE49-F238E27FC236}">
                <a16:creationId xmlns:a16="http://schemas.microsoft.com/office/drawing/2014/main" id="{73D5A948-7E71-4BCE-A660-D1628890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65" b="1">
                <a:solidFill>
                  <a:srgbClr val="2F7D6D"/>
                </a:solidFill>
                <a:latin typeface="Google Sans"/>
                <a:ea typeface="Google Sans"/>
                <a:cs typeface="Google Sans"/>
              </a:defRPr>
            </a:pPr>
            <a:r>
              <a:rPr sz="1065" b="1">
                <a:solidFill>
                  <a:srgbClr val="2F7D6D"/>
                </a:solidFill>
                <a:latin typeface="Google Sans"/>
                <a:ea typeface="Google Sans"/>
                <a:cs typeface="Google Sans"/>
              </a:rPr>
              <a:t>ARD</a:t>
            </a:r>
          </a:p>
        </p:txBody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37c2fb485a4e63"/>
          <a:stretch xmlns:a="http://schemas.openxmlformats.org/drawingml/2006/main"/>
        </p:blipFill>
        <p:spPr>
          <a:xfrm xmlns:a="http://schemas.openxmlformats.org/drawingml/2006/main">
            <a:off x="1504950" y="5583725"/>
            <a:ext cx="1257300" cy="205400"/>
          </a:xfrm>
          <a:prstGeom xmlns:a="http://schemas.openxmlformats.org/drawingml/2006/main" prst="rect">
            <a:avLst/>
          </a:prstGeom>
        </p:spPr>
      </p:pic>
      <p:sp>
        <p:nvSpPr>
          <p:cNvPr id="34" name="ard-hypothesis">
            <a:extLst xmlns:a="http://schemas.openxmlformats.org/drawingml/2006/main">
              <a:ext uri="{FF2B5EF4-FFF2-40B4-BE49-F238E27FC236}">
                <a16:creationId xmlns:a16="http://schemas.microsoft.com/office/drawing/2014/main" id="{36F3CE26-0A87-4978-823D-20C6C9DF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0070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8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88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una longitud de escala por dimensión</a:t>
            </a:r>
          </a:p>
        </p:txBody>
      </p:sp>
      <p:sp>
        <p:nvSpPr>
          <p:cNvPr id="35" name="ard-use">
            <a:extLst xmlns:a="http://schemas.openxmlformats.org/drawingml/2006/main">
              <a:ext uri="{FF2B5EF4-FFF2-40B4-BE49-F238E27FC236}">
                <a16:creationId xmlns:a16="http://schemas.microsoft.com/office/drawing/2014/main" id="{1A99C605-D81E-4D4A-9C23-8BCFFD7B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102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permite distinta relevancia por variable de entrada.</a:t>
            </a:r>
          </a:p>
        </p:txBody>
      </p:sp>
      <p:sp>
        <p:nvSpPr>
          <p:cNvPr id="36" name="comparison-accent">
            <a:extLst xmlns:a="http://schemas.openxmlformats.org/drawingml/2006/main">
              <a:ext uri="{FF2B5EF4-FFF2-40B4-BE49-F238E27FC236}">
                <a16:creationId xmlns:a16="http://schemas.microsoft.com/office/drawing/2014/main" id="{F766FF1E-151D-4CCA-B78C-7A5DB868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57400"/>
            <a:ext cx="4000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omparison-title">
            <a:extLst xmlns:a="http://schemas.openxmlformats.org/drawingml/2006/main">
              <a:ext uri="{FF2B5EF4-FFF2-40B4-BE49-F238E27FC236}">
                <a16:creationId xmlns:a16="http://schemas.microsoft.com/office/drawing/2014/main" id="{7C48137E-5AEC-49BF-82AC-459E8B0D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228850"/>
            <a:ext cx="577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1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Misma función, dos hipótesis de regularidad</a:t>
            </a:r>
          </a:p>
        </p:txBody>
      </p:sp>
      <p:sp>
        <p:nvSpPr>
          <p:cNvPr id="38" name="comparison-frame">
            <a:extLst xmlns:a="http://schemas.openxmlformats.org/drawingml/2006/main">
              <a:ext uri="{FF2B5EF4-FFF2-40B4-BE49-F238E27FC236}">
                <a16:creationId xmlns:a16="http://schemas.microsoft.com/office/drawing/2014/main" id="{CF57BA2B-07BC-4244-A67E-08F73FEF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52700"/>
            <a:ext cx="569595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abe1b207f84059"/>
          <a:stretch xmlns:a="http://schemas.openxmlformats.org/drawingml/2006/main"/>
        </p:blipFill>
        <p:spPr>
          <a:xfrm xmlns:a="http://schemas.openxmlformats.org/drawingml/2006/main">
            <a:off x="5856265" y="2647950"/>
            <a:ext cx="4346620" cy="2876550"/>
          </a:xfrm>
          <a:prstGeom xmlns:a="http://schemas.openxmlformats.org/drawingml/2006/main" prst="rect">
            <a:avLst/>
          </a:prstGeom>
        </p:spPr>
      </p:pic>
      <p:sp>
        <p:nvSpPr>
          <p:cNvPr id="40" name="fig-note-dot-rbf">
            <a:extLst xmlns:a="http://schemas.openxmlformats.org/drawingml/2006/main">
              <a:ext uri="{FF2B5EF4-FFF2-40B4-BE49-F238E27FC236}">
                <a16:creationId xmlns:a16="http://schemas.microsoft.com/office/drawing/2014/main" id="{0550B8FA-635A-408E-B0D0-C2E6209D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791200"/>
            <a:ext cx="71438" cy="714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fig-note-rbf">
            <a:extLst xmlns:a="http://schemas.openxmlformats.org/drawingml/2006/main">
              <a:ext uri="{FF2B5EF4-FFF2-40B4-BE49-F238E27FC236}">
                <a16:creationId xmlns:a16="http://schemas.microsoft.com/office/drawing/2014/main" id="{B4F05221-6231-4B3D-87EC-52F2821C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734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6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RBF suaviza más: extrapola con regularidad global.</a:t>
            </a:r>
          </a:p>
        </p:txBody>
      </p:sp>
      <p:sp>
        <p:nvSpPr>
          <p:cNvPr id="42" name="fig-note-dot-matern">
            <a:extLst xmlns:a="http://schemas.openxmlformats.org/drawingml/2006/main">
              <a:ext uri="{FF2B5EF4-FFF2-40B4-BE49-F238E27FC236}">
                <a16:creationId xmlns:a16="http://schemas.microsoft.com/office/drawing/2014/main" id="{8E010300-DBC6-4D43-8080-521D9E80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791200"/>
            <a:ext cx="71438" cy="714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fig-note-matern">
            <a:extLst xmlns:a="http://schemas.openxmlformats.org/drawingml/2006/main">
              <a:ext uri="{FF2B5EF4-FFF2-40B4-BE49-F238E27FC236}">
                <a16:creationId xmlns:a16="http://schemas.microsoft.com/office/drawing/2014/main" id="{9F9932A8-2C75-4910-B19E-895DF755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7340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6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Matérn 3/2 admite variación local sin exigir suavidad infinita.</a:t>
            </a:r>
          </a:p>
        </p:txBody>
      </p:sp>
      <p:sp>
        <p:nvSpPr>
          <p:cNvPr id="44" name="bottom-divider">
            <a:extLst xmlns:a="http://schemas.openxmlformats.org/drawingml/2006/main">
              <a:ext uri="{FF2B5EF4-FFF2-40B4-BE49-F238E27FC236}">
                <a16:creationId xmlns:a16="http://schemas.microsoft.com/office/drawing/2014/main" id="{2DCDAE84-0555-4907-9627-C52D9AC8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4CCC0"/>
            </a:solidFill>
            <a:prstDash val="solid"/>
          </a:ln>
        </p:spPr>
      </p:sp>
      <p:sp>
        <p:nvSpPr>
          <p:cNvPr id="45" name="takeaway-left">
            <a:extLst xmlns:a="http://schemas.openxmlformats.org/drawingml/2006/main">
              <a:ext uri="{FF2B5EF4-FFF2-40B4-BE49-F238E27FC236}">
                <a16:creationId xmlns:a16="http://schemas.microsoft.com/office/drawing/2014/main" id="{6315744D-51B6-4E70-AFC6-D453B9A5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3341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40" b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140" b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Idea clave</a:t>
            </a:r>
          </a:p>
        </p:txBody>
      </p:sp>
      <p:sp>
        <p:nvSpPr>
          <p:cNvPr id="46" name="takeaway">
            <a:extLst xmlns:a="http://schemas.openxmlformats.org/drawingml/2006/main">
              <a:ext uri="{FF2B5EF4-FFF2-40B4-BE49-F238E27FC236}">
                <a16:creationId xmlns:a16="http://schemas.microsoft.com/office/drawing/2014/main" id="{A4B7B39D-B778-42CA-877A-0304F585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286500"/>
            <a:ext cx="766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42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Elegir un kernel es elegir qué regularidad puede aprender el sustituto con pocos datos.</a:t>
            </a:r>
          </a:p>
        </p:txBody>
      </p:sp>
      <p:sp>
        <p:nvSpPr>
          <p:cNvPr id="4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6FE7994-65E7-4C9A-904E-0647AB13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61912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0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6730139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2026-07-02T08:39:10.5920000Z</dcterms:created>
  <dcterms:modified xsi:type="dcterms:W3CDTF">2026-07-02T08:39:10.5920000Z</dcterms:modified>
</coreProperties>
</file>