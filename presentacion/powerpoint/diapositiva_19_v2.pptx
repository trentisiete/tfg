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407becdd4f4fec" /><Relationship Type="http://schemas.openxmlformats.org/officeDocument/2006/relationships/extended-properties" Target="/docProps/app.xml" Id="R527fdbb166be4483" /><Relationship Type="http://schemas.openxmlformats.org/officeDocument/2006/relationships/officeDocument" Target="/ppt/presentation.xml" Id="R76b7fc27fb084d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c034ad48ea45e1"/>
  </p:sldMasterIdLst>
  <p:notesMasterIdLst>
    <p:notesMasterId xmlns:r="http://schemas.openxmlformats.org/officeDocument/2006/relationships" r:id="Ra4cb5c31e3a3433a"/>
  </p:notesMasterIdLst>
  <p:sldIdLst>
    <p:sldId xmlns:r="http://schemas.openxmlformats.org/officeDocument/2006/relationships" id="256" r:id="R1a512d6c1ed645d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b38a272b8645d5" /><Relationship Type="http://schemas.openxmlformats.org/officeDocument/2006/relationships/slideMaster" Target="/ppt/slideMasters/slideMaster1.xml" Id="R24c034ad48ea45e1" /><Relationship Type="http://schemas.openxmlformats.org/officeDocument/2006/relationships/notesMaster" Target="/ppt/notesMasters/notesMaster1.xml" Id="Ra4cb5c31e3a3433a" /><Relationship Type="http://schemas.openxmlformats.org/officeDocument/2006/relationships/presProps" Target="/ppt/presProps.xml" Id="Rf70de8566c6543c7" /><Relationship Type="http://schemas.openxmlformats.org/officeDocument/2006/relationships/tableStyles" Target="/ppt/tableStyles.xml" Id="Rf97f58df97cc42ba" /><Relationship Type="http://schemas.openxmlformats.org/officeDocument/2006/relationships/slide" Target="/ppt/slides/slide1.xml" Id="R1a512d6c1ed645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9bcc420c8a46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8ce5aaaaf14a15" /><Relationship Type="http://schemas.openxmlformats.org/officeDocument/2006/relationships/notesMaster" Target="/ppt/notesMasters/notesMaster1.xml" Id="R1acb4e9037e648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8e803122ff4d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0bf5b3c5394044" /><Relationship Type="http://schemas.openxmlformats.org/officeDocument/2006/relationships/slideLayout" Target="/ppt/slideLayouts/slideLayout1.xml" Id="R631df750ff0b41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1df750ff0b41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18bfb0783b4b95" /><Relationship Type="http://schemas.openxmlformats.org/officeDocument/2006/relationships/image" Target="/ppt/media/image.png" Id="R9c07c21b51df41c2" /><Relationship Type="http://schemas.openxmlformats.org/officeDocument/2006/relationships/image" Target="/ppt/media/image2.png" Id="R4a0e322b795e460b" /><Relationship Type="http://schemas.openxmlformats.org/officeDocument/2006/relationships/image" Target="/ppt/media/image3.png" Id="R50585de4910c4c35" /><Relationship Type="http://schemas.openxmlformats.org/officeDocument/2006/relationships/image" Target="/ppt/media/image4.png" Id="R4a435fed39ab441c" /><Relationship Type="http://schemas.openxmlformats.org/officeDocument/2006/relationships/image" Target="/ppt/media/image5.png" Id="R86759d7357194cbc" /><Relationship Type="http://schemas.openxmlformats.org/officeDocument/2006/relationships/image" Target="/ppt/media/image6.png" Id="R68c70f5026094b51" /><Relationship Type="http://schemas.openxmlformats.org/officeDocument/2006/relationships/notesSlide" Target="/ppt/notesSlides/notesSlide1.xml" Id="R3375e0660f294c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E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FCD62B6-22D8-4965-9A6A-D0734649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15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15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CASO REAL / VALIDACIÓN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44FA9C1-3931-49E4-9235-901C7E97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75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2775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Validación Leave-One-Diet-Out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856CC1CE-86BE-4376-9379-6FF0A09A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275" b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El test externo es una dieta completa; los hiperparámetros se seleccionan solo con las dietas restantes.</a:t>
            </a:r>
          </a:p>
        </p:txBody>
      </p:sp>
      <p:sp>
        <p:nvSpPr>
          <p:cNvPr id="4" name="grouped-title">
            <a:extLst xmlns:a="http://schemas.openxmlformats.org/drawingml/2006/main">
              <a:ext uri="{FF2B5EF4-FFF2-40B4-BE49-F238E27FC236}">
                <a16:creationId xmlns:a16="http://schemas.microsoft.com/office/drawing/2014/main" id="{66FCE6FD-53F7-45D2-BCCA-8D73E2DF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30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230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Datos agrupados</a:t>
            </a:r>
          </a:p>
        </p:txBody>
      </p:sp>
      <p:sp>
        <p:nvSpPr>
          <p:cNvPr id="5" name="grouped-note">
            <a:extLst xmlns:a="http://schemas.openxmlformats.org/drawingml/2006/main">
              <a:ext uri="{FF2B5EF4-FFF2-40B4-BE49-F238E27FC236}">
                <a16:creationId xmlns:a16="http://schemas.microsoft.com/office/drawing/2014/main" id="{02428388-19B2-410E-8A4A-2648B9DC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1905000"/>
            <a:ext cx="15144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35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735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no filas sueltas</a:t>
            </a:r>
          </a:p>
        </p:txBody>
      </p:sp>
      <p:sp>
        <p:nvSpPr>
          <p:cNvPr id="6" name="grouped-rule">
            <a:extLst xmlns:a="http://schemas.openxmlformats.org/drawingml/2006/main">
              <a:ext uri="{FF2B5EF4-FFF2-40B4-BE49-F238E27FC236}">
                <a16:creationId xmlns:a16="http://schemas.microsoft.com/office/drawing/2014/main" id="{076B2503-EE2D-4B7B-AC5D-EF43481D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CFC7BA"/>
            </a:solidFill>
            <a:prstDash val="solid"/>
          </a:ln>
        </p:spPr>
      </p:sp>
      <p:pic>
        <p:nvPicPr>
          <p:cNvPr id="1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07c21b51df41c2"/>
          <a:stretch xmlns:a="http://schemas.openxmlformats.org/drawingml/2006/main"/>
        </p:blipFill>
        <p:spPr>
          <a:xfrm xmlns:a="http://schemas.openxmlformats.org/drawingml/2006/main">
            <a:off x="685800" y="2279175"/>
            <a:ext cx="2171700" cy="280350"/>
          </a:xfrm>
          <a:prstGeom xmlns:a="http://schemas.openxmlformats.org/drawingml/2006/main" prst="rect">
            <a:avLst/>
          </a:prstGeom>
        </p:spPr>
      </p:pic>
      <p:sp>
        <p:nvSpPr>
          <p:cNvPr id="8" name="grouped-copy">
            <a:extLst xmlns:a="http://schemas.openxmlformats.org/drawingml/2006/main">
              <a:ext uri="{FF2B5EF4-FFF2-40B4-BE49-F238E27FC236}">
                <a16:creationId xmlns:a16="http://schemas.microsoft.com/office/drawing/2014/main" id="{AFA19531-2E14-41DD-8289-097D1514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25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Las tres réplicas de una dieta permanecen juntas en cada partición.</a:t>
            </a:r>
          </a:p>
        </p:txBody>
      </p:sp>
      <p:sp>
        <p:nvSpPr>
          <p:cNvPr id="9" name="legend-train-dot">
            <a:extLst xmlns:a="http://schemas.openxmlformats.org/drawingml/2006/main">
              <a:ext uri="{FF2B5EF4-FFF2-40B4-BE49-F238E27FC236}">
                <a16:creationId xmlns:a16="http://schemas.microsoft.com/office/drawing/2014/main" id="{57E82539-3613-42AD-936A-2017D8DF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egend-train-text">
            <a:extLst xmlns:a="http://schemas.openxmlformats.org/drawingml/2006/main">
              <a:ext uri="{FF2B5EF4-FFF2-40B4-BE49-F238E27FC236}">
                <a16:creationId xmlns:a16="http://schemas.microsoft.com/office/drawing/2014/main" id="{AD1C244A-3579-462A-8FF0-240672FE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28950"/>
            <a:ext cx="457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90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690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train</a:t>
            </a:r>
          </a:p>
        </p:txBody>
      </p:sp>
      <p:sp>
        <p:nvSpPr>
          <p:cNvPr id="11" name="legend-test-dot">
            <a:extLst xmlns:a="http://schemas.openxmlformats.org/drawingml/2006/main">
              <a:ext uri="{FF2B5EF4-FFF2-40B4-BE49-F238E27FC236}">
                <a16:creationId xmlns:a16="http://schemas.microsoft.com/office/drawing/2014/main" id="{104078E5-6936-45C1-9E52-3A07D29F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67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legend-test-text">
            <a:extLst xmlns:a="http://schemas.openxmlformats.org/drawingml/2006/main">
              <a:ext uri="{FF2B5EF4-FFF2-40B4-BE49-F238E27FC236}">
                <a16:creationId xmlns:a16="http://schemas.microsoft.com/office/drawing/2014/main" id="{FD97D4D2-1E57-42C6-A620-D5FE6FBA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028950"/>
            <a:ext cx="7810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90" b="1">
                <a:solidFill>
                  <a:srgbClr val="C9822B"/>
                </a:solidFill>
                <a:latin typeface="Google Sans"/>
                <a:ea typeface="Google Sans"/>
                <a:cs typeface="Google Sans"/>
              </a:defRPr>
            </a:pPr>
            <a:r>
              <a:rPr sz="690" b="1">
                <a:solidFill>
                  <a:srgbClr val="C9822B"/>
                </a:solidFill>
                <a:latin typeface="Google Sans"/>
                <a:ea typeface="Google Sans"/>
                <a:cs typeface="Google Sans"/>
              </a:rPr>
              <a:t>test externo</a:t>
            </a:r>
          </a:p>
        </p:txBody>
      </p:sp>
      <p:sp>
        <p:nvSpPr>
          <p:cNvPr id="13" name="diet-0-label">
            <a:extLst xmlns:a="http://schemas.openxmlformats.org/drawingml/2006/main">
              <a:ext uri="{FF2B5EF4-FFF2-40B4-BE49-F238E27FC236}">
                <a16:creationId xmlns:a16="http://schemas.microsoft.com/office/drawing/2014/main" id="{88D16C7D-90F3-4239-AE51-EDF61CE4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000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9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69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D1</a:t>
            </a:r>
          </a:p>
        </p:txBody>
      </p:sp>
      <p:sp>
        <p:nvSpPr>
          <p:cNvPr id="14" name="diet-0-replica-0">
            <a:extLst xmlns:a="http://schemas.openxmlformats.org/drawingml/2006/main">
              <a:ext uri="{FF2B5EF4-FFF2-40B4-BE49-F238E27FC236}">
                <a16:creationId xmlns:a16="http://schemas.microsoft.com/office/drawing/2014/main" id="{0A087061-3B72-4176-B543-55AF626B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29025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iet-0-replica-1">
            <a:extLst xmlns:a="http://schemas.openxmlformats.org/drawingml/2006/main">
              <a:ext uri="{FF2B5EF4-FFF2-40B4-BE49-F238E27FC236}">
                <a16:creationId xmlns:a16="http://schemas.microsoft.com/office/drawing/2014/main" id="{EFFE7AD5-BF1B-4C7B-94CA-F1551C77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629025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diet-0-replica-2">
            <a:extLst xmlns:a="http://schemas.openxmlformats.org/drawingml/2006/main">
              <a:ext uri="{FF2B5EF4-FFF2-40B4-BE49-F238E27FC236}">
                <a16:creationId xmlns:a16="http://schemas.microsoft.com/office/drawing/2014/main" id="{9BF9FA8A-5863-44C4-962B-3643D0D5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29025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diet-1-label">
            <a:extLst xmlns:a="http://schemas.openxmlformats.org/drawingml/2006/main">
              <a:ext uri="{FF2B5EF4-FFF2-40B4-BE49-F238E27FC236}">
                <a16:creationId xmlns:a16="http://schemas.microsoft.com/office/drawing/2014/main" id="{F19E73E5-146F-4155-85FA-3A126880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29000"/>
            <a:ext cx="4000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9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69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D2</a:t>
            </a:r>
          </a:p>
        </p:txBody>
      </p:sp>
      <p:sp>
        <p:nvSpPr>
          <p:cNvPr id="18" name="diet-1-replica-0">
            <a:extLst xmlns:a="http://schemas.openxmlformats.org/drawingml/2006/main">
              <a:ext uri="{FF2B5EF4-FFF2-40B4-BE49-F238E27FC236}">
                <a16:creationId xmlns:a16="http://schemas.microsoft.com/office/drawing/2014/main" id="{7B3E720C-0DBF-4A7E-91B1-7676C462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29025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diet-1-replica-1">
            <a:extLst xmlns:a="http://schemas.openxmlformats.org/drawingml/2006/main">
              <a:ext uri="{FF2B5EF4-FFF2-40B4-BE49-F238E27FC236}">
                <a16:creationId xmlns:a16="http://schemas.microsoft.com/office/drawing/2014/main" id="{85EA63DD-8F6C-45DF-874F-D311EFD2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629025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iet-1-replica-2">
            <a:extLst xmlns:a="http://schemas.openxmlformats.org/drawingml/2006/main">
              <a:ext uri="{FF2B5EF4-FFF2-40B4-BE49-F238E27FC236}">
                <a16:creationId xmlns:a16="http://schemas.microsoft.com/office/drawing/2014/main" id="{4CA9473D-58BB-4074-950B-0BDA1432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629025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diet-2-label">
            <a:extLst xmlns:a="http://schemas.openxmlformats.org/drawingml/2006/main">
              <a:ext uri="{FF2B5EF4-FFF2-40B4-BE49-F238E27FC236}">
                <a16:creationId xmlns:a16="http://schemas.microsoft.com/office/drawing/2014/main" id="{DAED150B-4AA9-4435-9F69-2A36D191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29000"/>
            <a:ext cx="4000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9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69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D3</a:t>
            </a:r>
          </a:p>
        </p:txBody>
      </p:sp>
      <p:sp>
        <p:nvSpPr>
          <p:cNvPr id="22" name="diet-2-replica-0">
            <a:extLst xmlns:a="http://schemas.openxmlformats.org/drawingml/2006/main">
              <a:ext uri="{FF2B5EF4-FFF2-40B4-BE49-F238E27FC236}">
                <a16:creationId xmlns:a16="http://schemas.microsoft.com/office/drawing/2014/main" id="{27B6B204-173F-482C-8B61-F473F0C0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29025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diet-2-replica-1">
            <a:extLst xmlns:a="http://schemas.openxmlformats.org/drawingml/2006/main">
              <a:ext uri="{FF2B5EF4-FFF2-40B4-BE49-F238E27FC236}">
                <a16:creationId xmlns:a16="http://schemas.microsoft.com/office/drawing/2014/main" id="{91881223-D317-4092-B05E-864BB223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629025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diet-2-replica-2">
            <a:extLst xmlns:a="http://schemas.openxmlformats.org/drawingml/2006/main">
              <a:ext uri="{FF2B5EF4-FFF2-40B4-BE49-F238E27FC236}">
                <a16:creationId xmlns:a16="http://schemas.microsoft.com/office/drawing/2014/main" id="{3BC85AEC-49A7-4953-9BAD-E1BFF2D4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629025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diet-3-label">
            <a:extLst xmlns:a="http://schemas.openxmlformats.org/drawingml/2006/main">
              <a:ext uri="{FF2B5EF4-FFF2-40B4-BE49-F238E27FC236}">
                <a16:creationId xmlns:a16="http://schemas.microsoft.com/office/drawing/2014/main" id="{5BA89282-3083-49C5-9033-F2E4DEE9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29000"/>
            <a:ext cx="4000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9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69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D4</a:t>
            </a:r>
          </a:p>
        </p:txBody>
      </p:sp>
      <p:sp>
        <p:nvSpPr>
          <p:cNvPr id="26" name="diet-3-replica-0">
            <a:extLst xmlns:a="http://schemas.openxmlformats.org/drawingml/2006/main">
              <a:ext uri="{FF2B5EF4-FFF2-40B4-BE49-F238E27FC236}">
                <a16:creationId xmlns:a16="http://schemas.microsoft.com/office/drawing/2014/main" id="{55E196E6-2CC4-47DB-AE58-69435A04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629025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diet-3-replica-1">
            <a:extLst xmlns:a="http://schemas.openxmlformats.org/drawingml/2006/main">
              <a:ext uri="{FF2B5EF4-FFF2-40B4-BE49-F238E27FC236}">
                <a16:creationId xmlns:a16="http://schemas.microsoft.com/office/drawing/2014/main" id="{78B06185-BDC4-45FF-BFDB-9A50696D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629025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diet-3-replica-2">
            <a:extLst xmlns:a="http://schemas.openxmlformats.org/drawingml/2006/main">
              <a:ext uri="{FF2B5EF4-FFF2-40B4-BE49-F238E27FC236}">
                <a16:creationId xmlns:a16="http://schemas.microsoft.com/office/drawing/2014/main" id="{6F407711-535A-484B-BA7B-68586F46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29025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diet-4-label">
            <a:extLst xmlns:a="http://schemas.openxmlformats.org/drawingml/2006/main">
              <a:ext uri="{FF2B5EF4-FFF2-40B4-BE49-F238E27FC236}">
                <a16:creationId xmlns:a16="http://schemas.microsoft.com/office/drawing/2014/main" id="{AEC765F1-15D7-4880-89CE-A0E83A96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000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9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69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D5</a:t>
            </a:r>
          </a:p>
        </p:txBody>
      </p:sp>
      <p:sp>
        <p:nvSpPr>
          <p:cNvPr id="30" name="diet-4-replica-0">
            <a:extLst xmlns:a="http://schemas.openxmlformats.org/drawingml/2006/main">
              <a:ext uri="{FF2B5EF4-FFF2-40B4-BE49-F238E27FC236}">
                <a16:creationId xmlns:a16="http://schemas.microsoft.com/office/drawing/2014/main" id="{AA386BF4-6C0D-488D-BF4A-BE721731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diet-4-replica-1">
            <a:extLst xmlns:a="http://schemas.openxmlformats.org/drawingml/2006/main">
              <a:ext uri="{FF2B5EF4-FFF2-40B4-BE49-F238E27FC236}">
                <a16:creationId xmlns:a16="http://schemas.microsoft.com/office/drawing/2014/main" id="{BD9BB0E9-B603-4B15-97E9-7C699CD6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105275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diet-4-replica-2">
            <a:extLst xmlns:a="http://schemas.openxmlformats.org/drawingml/2006/main">
              <a:ext uri="{FF2B5EF4-FFF2-40B4-BE49-F238E27FC236}">
                <a16:creationId xmlns:a16="http://schemas.microsoft.com/office/drawing/2014/main" id="{621BF2D9-2581-498D-8FC8-A7F47375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05275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diet-5-label">
            <a:extLst xmlns:a="http://schemas.openxmlformats.org/drawingml/2006/main">
              <a:ext uri="{FF2B5EF4-FFF2-40B4-BE49-F238E27FC236}">
                <a16:creationId xmlns:a16="http://schemas.microsoft.com/office/drawing/2014/main" id="{0AAAE6C3-60C7-4458-97A5-AE171D0D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05250"/>
            <a:ext cx="4000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9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69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D6</a:t>
            </a:r>
          </a:p>
        </p:txBody>
      </p:sp>
      <p:sp>
        <p:nvSpPr>
          <p:cNvPr id="34" name="diet-5-replica-0">
            <a:extLst xmlns:a="http://schemas.openxmlformats.org/drawingml/2006/main">
              <a:ext uri="{FF2B5EF4-FFF2-40B4-BE49-F238E27FC236}">
                <a16:creationId xmlns:a16="http://schemas.microsoft.com/office/drawing/2014/main" id="{901BD287-E7F5-4071-8954-53783F82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05275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diet-5-replica-1">
            <a:extLst xmlns:a="http://schemas.openxmlformats.org/drawingml/2006/main">
              <a:ext uri="{FF2B5EF4-FFF2-40B4-BE49-F238E27FC236}">
                <a16:creationId xmlns:a16="http://schemas.microsoft.com/office/drawing/2014/main" id="{D9FC2DEE-9892-4811-BFDE-89DE678A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105275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diet-5-replica-2">
            <a:extLst xmlns:a="http://schemas.openxmlformats.org/drawingml/2006/main">
              <a:ext uri="{FF2B5EF4-FFF2-40B4-BE49-F238E27FC236}">
                <a16:creationId xmlns:a16="http://schemas.microsoft.com/office/drawing/2014/main" id="{166AEDD7-42EF-4AAA-AECF-A3FA7E88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05275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diet-6-label">
            <a:extLst xmlns:a="http://schemas.openxmlformats.org/drawingml/2006/main">
              <a:ext uri="{FF2B5EF4-FFF2-40B4-BE49-F238E27FC236}">
                <a16:creationId xmlns:a16="http://schemas.microsoft.com/office/drawing/2014/main" id="{7053B961-8DA4-4786-A959-48153160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05250"/>
            <a:ext cx="4000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90" b="1">
                <a:solidFill>
                  <a:srgbClr val="C9822B"/>
                </a:solidFill>
                <a:latin typeface="Google Sans"/>
                <a:ea typeface="Google Sans"/>
                <a:cs typeface="Google Sans"/>
              </a:defRPr>
            </a:pPr>
            <a:r>
              <a:rPr sz="690" b="1">
                <a:solidFill>
                  <a:srgbClr val="C9822B"/>
                </a:solidFill>
                <a:latin typeface="Google Sans"/>
                <a:ea typeface="Google Sans"/>
                <a:cs typeface="Google Sans"/>
              </a:rPr>
              <a:t>Dk</a:t>
            </a:r>
          </a:p>
        </p:txBody>
      </p:sp>
      <p:sp>
        <p:nvSpPr>
          <p:cNvPr id="38" name="diet-6-replica-0">
            <a:extLst xmlns:a="http://schemas.openxmlformats.org/drawingml/2006/main">
              <a:ext uri="{FF2B5EF4-FFF2-40B4-BE49-F238E27FC236}">
                <a16:creationId xmlns:a16="http://schemas.microsoft.com/office/drawing/2014/main" id="{67BCA6B5-F719-444C-BA39-5926D24F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05275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diet-6-replica-1">
            <a:extLst xmlns:a="http://schemas.openxmlformats.org/drawingml/2006/main">
              <a:ext uri="{FF2B5EF4-FFF2-40B4-BE49-F238E27FC236}">
                <a16:creationId xmlns:a16="http://schemas.microsoft.com/office/drawing/2014/main" id="{C3161F5D-E65F-4B79-8936-8637F011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105275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diet-6-replica-2">
            <a:extLst xmlns:a="http://schemas.openxmlformats.org/drawingml/2006/main">
              <a:ext uri="{FF2B5EF4-FFF2-40B4-BE49-F238E27FC236}">
                <a16:creationId xmlns:a16="http://schemas.microsoft.com/office/drawing/2014/main" id="{F5363177-6696-49A8-8429-DE814F7A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105275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diet-6-outer-test-line">
            <a:extLst xmlns:a="http://schemas.openxmlformats.org/drawingml/2006/main">
              <a:ext uri="{FF2B5EF4-FFF2-40B4-BE49-F238E27FC236}">
                <a16:creationId xmlns:a16="http://schemas.microsoft.com/office/drawing/2014/main" id="{DE4A0C75-0DE6-454F-AE05-00BE2D8F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48150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9822B"/>
            </a:solidFill>
            <a:prstDash val="solid"/>
          </a:ln>
        </p:spPr>
      </p:sp>
      <p:sp>
        <p:nvSpPr>
          <p:cNvPr id="42" name="diet-7-label">
            <a:extLst xmlns:a="http://schemas.openxmlformats.org/drawingml/2006/main">
              <a:ext uri="{FF2B5EF4-FFF2-40B4-BE49-F238E27FC236}">
                <a16:creationId xmlns:a16="http://schemas.microsoft.com/office/drawing/2014/main" id="{EF6A61C3-684B-4146-88C0-CB8CA699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905250"/>
            <a:ext cx="4000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9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69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D8</a:t>
            </a:r>
          </a:p>
        </p:txBody>
      </p:sp>
      <p:sp>
        <p:nvSpPr>
          <p:cNvPr id="43" name="diet-7-replica-0">
            <a:extLst xmlns:a="http://schemas.openxmlformats.org/drawingml/2006/main">
              <a:ext uri="{FF2B5EF4-FFF2-40B4-BE49-F238E27FC236}">
                <a16:creationId xmlns:a16="http://schemas.microsoft.com/office/drawing/2014/main" id="{2CC1F7F0-9299-4D50-BA51-D35A0CA0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105275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diet-7-replica-1">
            <a:extLst xmlns:a="http://schemas.openxmlformats.org/drawingml/2006/main">
              <a:ext uri="{FF2B5EF4-FFF2-40B4-BE49-F238E27FC236}">
                <a16:creationId xmlns:a16="http://schemas.microsoft.com/office/drawing/2014/main" id="{1E0B68AB-C1E2-40C8-B33A-709DF4DC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105275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diet-7-replica-2">
            <a:extLst xmlns:a="http://schemas.openxmlformats.org/drawingml/2006/main">
              <a:ext uri="{FF2B5EF4-FFF2-40B4-BE49-F238E27FC236}">
                <a16:creationId xmlns:a16="http://schemas.microsoft.com/office/drawing/2014/main" id="{DE7D2273-8CD6-4F8C-B5B3-7B71DFA6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105275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diet-8-label">
            <a:extLst xmlns:a="http://schemas.openxmlformats.org/drawingml/2006/main">
              <a:ext uri="{FF2B5EF4-FFF2-40B4-BE49-F238E27FC236}">
                <a16:creationId xmlns:a16="http://schemas.microsoft.com/office/drawing/2014/main" id="{07E90FCC-193E-4F22-A46F-9150E512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4000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9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69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D9</a:t>
            </a:r>
          </a:p>
        </p:txBody>
      </p:sp>
      <p:sp>
        <p:nvSpPr>
          <p:cNvPr id="47" name="diet-8-replica-0">
            <a:extLst xmlns:a="http://schemas.openxmlformats.org/drawingml/2006/main">
              <a:ext uri="{FF2B5EF4-FFF2-40B4-BE49-F238E27FC236}">
                <a16:creationId xmlns:a16="http://schemas.microsoft.com/office/drawing/2014/main" id="{50676633-C1F7-40EB-B55C-2E2CB9C4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diet-8-replica-1">
            <a:extLst xmlns:a="http://schemas.openxmlformats.org/drawingml/2006/main">
              <a:ext uri="{FF2B5EF4-FFF2-40B4-BE49-F238E27FC236}">
                <a16:creationId xmlns:a16="http://schemas.microsoft.com/office/drawing/2014/main" id="{EA6676D4-78BB-4A6B-8C80-D3C05A3B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581525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diet-8-replica-2">
            <a:extLst xmlns:a="http://schemas.openxmlformats.org/drawingml/2006/main">
              <a:ext uri="{FF2B5EF4-FFF2-40B4-BE49-F238E27FC236}">
                <a16:creationId xmlns:a16="http://schemas.microsoft.com/office/drawing/2014/main" id="{8F18F270-9730-4EB5-A4A3-68E12F85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81525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diet-9-label">
            <a:extLst xmlns:a="http://schemas.openxmlformats.org/drawingml/2006/main">
              <a:ext uri="{FF2B5EF4-FFF2-40B4-BE49-F238E27FC236}">
                <a16:creationId xmlns:a16="http://schemas.microsoft.com/office/drawing/2014/main" id="{1D58F5ED-0980-416A-A721-C98CDA90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81500"/>
            <a:ext cx="4000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9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69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D10</a:t>
            </a:r>
          </a:p>
        </p:txBody>
      </p:sp>
      <p:sp>
        <p:nvSpPr>
          <p:cNvPr id="51" name="diet-9-replica-0">
            <a:extLst xmlns:a="http://schemas.openxmlformats.org/drawingml/2006/main">
              <a:ext uri="{FF2B5EF4-FFF2-40B4-BE49-F238E27FC236}">
                <a16:creationId xmlns:a16="http://schemas.microsoft.com/office/drawing/2014/main" id="{1E737039-33A8-478C-B40B-8601DFC3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81525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diet-9-replica-1">
            <a:extLst xmlns:a="http://schemas.openxmlformats.org/drawingml/2006/main">
              <a:ext uri="{FF2B5EF4-FFF2-40B4-BE49-F238E27FC236}">
                <a16:creationId xmlns:a16="http://schemas.microsoft.com/office/drawing/2014/main" id="{1D410745-6FF4-4FD1-B6FB-A475CEFA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581525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diet-9-replica-2">
            <a:extLst xmlns:a="http://schemas.openxmlformats.org/drawingml/2006/main">
              <a:ext uri="{FF2B5EF4-FFF2-40B4-BE49-F238E27FC236}">
                <a16:creationId xmlns:a16="http://schemas.microsoft.com/office/drawing/2014/main" id="{04D893EC-323E-4610-9702-D2F77371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81525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diet-10-label">
            <a:extLst xmlns:a="http://schemas.openxmlformats.org/drawingml/2006/main">
              <a:ext uri="{FF2B5EF4-FFF2-40B4-BE49-F238E27FC236}">
                <a16:creationId xmlns:a16="http://schemas.microsoft.com/office/drawing/2014/main" id="{3B1723E3-B3DC-45DE-8BAF-F12F7C49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381500"/>
            <a:ext cx="4000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9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69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D11</a:t>
            </a:r>
          </a:p>
        </p:txBody>
      </p:sp>
      <p:sp>
        <p:nvSpPr>
          <p:cNvPr id="55" name="diet-10-replica-0">
            <a:extLst xmlns:a="http://schemas.openxmlformats.org/drawingml/2006/main">
              <a:ext uri="{FF2B5EF4-FFF2-40B4-BE49-F238E27FC236}">
                <a16:creationId xmlns:a16="http://schemas.microsoft.com/office/drawing/2014/main" id="{F40B8DE5-15AC-4F96-9428-53F3170A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81525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diet-10-replica-1">
            <a:extLst xmlns:a="http://schemas.openxmlformats.org/drawingml/2006/main">
              <a:ext uri="{FF2B5EF4-FFF2-40B4-BE49-F238E27FC236}">
                <a16:creationId xmlns:a16="http://schemas.microsoft.com/office/drawing/2014/main" id="{F45B8F56-C5C9-46AC-B6CB-35259973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581525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diet-10-replica-2">
            <a:extLst xmlns:a="http://schemas.openxmlformats.org/drawingml/2006/main">
              <a:ext uri="{FF2B5EF4-FFF2-40B4-BE49-F238E27FC236}">
                <a16:creationId xmlns:a16="http://schemas.microsoft.com/office/drawing/2014/main" id="{2BE5E7BE-6A27-45BB-A9A7-769D3B2B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81525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leakage-rule">
            <a:extLst xmlns:a="http://schemas.openxmlformats.org/drawingml/2006/main">
              <a:ext uri="{FF2B5EF4-FFF2-40B4-BE49-F238E27FC236}">
                <a16:creationId xmlns:a16="http://schemas.microsoft.com/office/drawing/2014/main" id="{A8002806-E5C3-4F0D-863E-6BA671F9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CD6CC"/>
            </a:solidFill>
            <a:prstDash val="solid"/>
          </a:ln>
        </p:spPr>
      </p:sp>
      <p:sp>
        <p:nvSpPr>
          <p:cNvPr id="59" name="leakage-title">
            <a:extLst xmlns:a="http://schemas.openxmlformats.org/drawingml/2006/main">
              <a:ext uri="{FF2B5EF4-FFF2-40B4-BE49-F238E27FC236}">
                <a16:creationId xmlns:a16="http://schemas.microsoft.com/office/drawing/2014/main" id="{5DBAAFDB-7B37-4908-97CF-2CA2A5ED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67325"/>
            <a:ext cx="2857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40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840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Por qué no split aleatorio</a:t>
            </a:r>
          </a:p>
        </p:txBody>
      </p:sp>
      <p:sp>
        <p:nvSpPr>
          <p:cNvPr id="60" name="split-row-0">
            <a:extLst xmlns:a="http://schemas.openxmlformats.org/drawingml/2006/main">
              <a:ext uri="{FF2B5EF4-FFF2-40B4-BE49-F238E27FC236}">
                <a16:creationId xmlns:a16="http://schemas.microsoft.com/office/drawing/2014/main" id="{76A68292-2D43-40C6-9A34-0F689F36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split-row-1">
            <a:extLst xmlns:a="http://schemas.openxmlformats.org/drawingml/2006/main">
              <a:ext uri="{FF2B5EF4-FFF2-40B4-BE49-F238E27FC236}">
                <a16:creationId xmlns:a16="http://schemas.microsoft.com/office/drawing/2014/main" id="{9733C95F-D719-4FFA-9AA0-6D103A15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81650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split-row-2">
            <a:extLst xmlns:a="http://schemas.openxmlformats.org/drawingml/2006/main">
              <a:ext uri="{FF2B5EF4-FFF2-40B4-BE49-F238E27FC236}">
                <a16:creationId xmlns:a16="http://schemas.microsoft.com/office/drawing/2014/main" id="{71F376BD-110F-40D7-ADB0-419E6FEC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split-row-copy">
            <a:extLst xmlns:a="http://schemas.openxmlformats.org/drawingml/2006/main">
              <a:ext uri="{FF2B5EF4-FFF2-40B4-BE49-F238E27FC236}">
                <a16:creationId xmlns:a16="http://schemas.microsoft.com/office/drawing/2014/main" id="{5A8B2F45-8A78-46F1-A0AB-FF3F33C2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14975"/>
            <a:ext cx="2266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90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690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misma dieta mezclada en train y test</a:t>
            </a:r>
          </a:p>
        </p:txBody>
      </p:sp>
      <p:sp>
        <p:nvSpPr>
          <p:cNvPr id="64" name="lodo-row-0">
            <a:extLst xmlns:a="http://schemas.openxmlformats.org/drawingml/2006/main">
              <a:ext uri="{FF2B5EF4-FFF2-40B4-BE49-F238E27FC236}">
                <a16:creationId xmlns:a16="http://schemas.microsoft.com/office/drawing/2014/main" id="{9DBD00D7-8B0D-46C7-A740-CDA6FD68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lodo-row-1">
            <a:extLst xmlns:a="http://schemas.openxmlformats.org/drawingml/2006/main">
              <a:ext uri="{FF2B5EF4-FFF2-40B4-BE49-F238E27FC236}">
                <a16:creationId xmlns:a16="http://schemas.microsoft.com/office/drawing/2014/main" id="{C9365310-87C9-4B49-BBAF-8F55790E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53125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lodo-row-2">
            <a:extLst xmlns:a="http://schemas.openxmlformats.org/drawingml/2006/main">
              <a:ext uri="{FF2B5EF4-FFF2-40B4-BE49-F238E27FC236}">
                <a16:creationId xmlns:a16="http://schemas.microsoft.com/office/drawing/2014/main" id="{0559B87A-ADC8-4B85-9401-04A8E0A3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53125"/>
            <a:ext cx="64770" cy="64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lodo-row-copy">
            <a:extLst xmlns:a="http://schemas.openxmlformats.org/drawingml/2006/main">
              <a:ext uri="{FF2B5EF4-FFF2-40B4-BE49-F238E27FC236}">
                <a16:creationId xmlns:a16="http://schemas.microsoft.com/office/drawing/2014/main" id="{CBC47902-7991-4255-A362-967582E3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886450"/>
            <a:ext cx="2266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90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690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LODO retiene la dieta completa</a:t>
            </a:r>
          </a:p>
        </p:txBody>
      </p:sp>
      <p:sp>
        <p:nvSpPr>
          <p:cNvPr id="68" name="main-separator">
            <a:extLst xmlns:a="http://schemas.openxmlformats.org/drawingml/2006/main">
              <a:ext uri="{FF2B5EF4-FFF2-40B4-BE49-F238E27FC236}">
                <a16:creationId xmlns:a16="http://schemas.microsoft.com/office/drawing/2014/main" id="{39AA6679-1011-4D49-931D-9F53B300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05000"/>
            <a:ext cx="0" cy="373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6CC"/>
            </a:solidFill>
            <a:prstDash val="solid"/>
          </a:ln>
        </p:spPr>
      </p:sp>
      <p:sp>
        <p:nvSpPr>
          <p:cNvPr id="69" name="process-title">
            <a:extLst xmlns:a="http://schemas.openxmlformats.org/drawingml/2006/main">
              <a:ext uri="{FF2B5EF4-FFF2-40B4-BE49-F238E27FC236}">
                <a16:creationId xmlns:a16="http://schemas.microsoft.com/office/drawing/2014/main" id="{21DEC244-D3CC-4FC1-9251-78EB8168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66900"/>
            <a:ext cx="495376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30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230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Proceso LODO anidado</a:t>
            </a:r>
          </a:p>
        </p:txBody>
      </p:sp>
      <p:sp>
        <p:nvSpPr>
          <p:cNvPr id="70" name="process-note">
            <a:extLst xmlns:a="http://schemas.openxmlformats.org/drawingml/2006/main">
              <a:ext uri="{FF2B5EF4-FFF2-40B4-BE49-F238E27FC236}">
                <a16:creationId xmlns:a16="http://schemas.microsoft.com/office/drawing/2014/main" id="{8684B031-D59C-4309-B886-5624C943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8179" y="1905000"/>
            <a:ext cx="3978021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35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735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externo + interno</a:t>
            </a:r>
          </a:p>
        </p:txBody>
      </p:sp>
      <p:sp>
        <p:nvSpPr>
          <p:cNvPr id="71" name="process-rule">
            <a:extLst xmlns:a="http://schemas.openxmlformats.org/drawingml/2006/main">
              <a:ext uri="{FF2B5EF4-FFF2-40B4-BE49-F238E27FC236}">
                <a16:creationId xmlns:a16="http://schemas.microsoft.com/office/drawing/2014/main" id="{99A6C362-AED2-4444-BA52-7BBBBEA8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52650"/>
            <a:ext cx="750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CFC7BA"/>
            </a:solidFill>
            <a:prstDash val="solid"/>
          </a:ln>
        </p:spPr>
      </p:sp>
      <p:sp>
        <p:nvSpPr>
          <p:cNvPr id="72" name="step-1-dot">
            <a:extLst xmlns:a="http://schemas.openxmlformats.org/drawingml/2006/main">
              <a:ext uri="{FF2B5EF4-FFF2-40B4-BE49-F238E27FC236}">
                <a16:creationId xmlns:a16="http://schemas.microsoft.com/office/drawing/2014/main" id="{80FDF987-8E82-49B7-861C-3DC913C3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622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step-1-num">
            <a:extLst xmlns:a="http://schemas.openxmlformats.org/drawingml/2006/main">
              <a:ext uri="{FF2B5EF4-FFF2-40B4-BE49-F238E27FC236}">
                <a16:creationId xmlns:a16="http://schemas.microsoft.com/office/drawing/2014/main" id="{52D90EF4-27DC-435E-9544-6B6138D5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90775"/>
            <a:ext cx="2190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795" b="1">
                <a:solidFill>
                  <a:srgbClr val="FFFFFF"/>
                </a:solidFill>
                <a:latin typeface="Google Sans"/>
                <a:ea typeface="Google Sans"/>
                <a:cs typeface="Google Sans"/>
              </a:defRPr>
            </a:pPr>
            <a:r>
              <a:rPr sz="795" b="1">
                <a:solidFill>
                  <a:srgbClr val="FFFFFF"/>
                </a:solidFill>
                <a:latin typeface="Google Sans"/>
                <a:ea typeface="Google Sans"/>
                <a:cs typeface="Google Sans"/>
              </a:rPr>
              <a:t>1</a:t>
            </a:r>
          </a:p>
        </p:txBody>
      </p:sp>
      <p:sp>
        <p:nvSpPr>
          <p:cNvPr id="74" name="step1-title">
            <a:extLst xmlns:a="http://schemas.openxmlformats.org/drawingml/2006/main">
              <a:ext uri="{FF2B5EF4-FFF2-40B4-BE49-F238E27FC236}">
                <a16:creationId xmlns:a16="http://schemas.microsoft.com/office/drawing/2014/main" id="{3B328085-56B1-4128-AD5C-B9B7D10D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241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80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080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Fold externo: reservar la dieta que se evalúa</a:t>
            </a:r>
          </a:p>
        </p:txBody>
      </p:sp>
      <p:sp>
        <p:nvSpPr>
          <p:cNvPr id="75" name="step1-copy">
            <a:extLst xmlns:a="http://schemas.openxmlformats.org/drawingml/2006/main">
              <a:ext uri="{FF2B5EF4-FFF2-40B4-BE49-F238E27FC236}">
                <a16:creationId xmlns:a16="http://schemas.microsoft.com/office/drawing/2014/main" id="{35EBA26D-DFA4-424B-9927-77C8C73E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62225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95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95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Dk queda fuera hasta el final; el resto forma el conjunto de entrenamiento externo.</a:t>
            </a:r>
          </a:p>
        </p:txBody>
      </p:sp>
      <p:pic>
        <p:nvPicPr>
          <p:cNvPr id="1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0e322b795e460b"/>
          <a:stretch xmlns:a="http://schemas.openxmlformats.org/drawingml/2006/main"/>
        </p:blipFill>
        <p:spPr>
          <a:xfrm xmlns:a="http://schemas.openxmlformats.org/drawingml/2006/main">
            <a:off x="9011603" y="2314575"/>
            <a:ext cx="1903095" cy="257175"/>
          </a:xfrm>
          <a:prstGeom xmlns:a="http://schemas.openxmlformats.org/drawingml/2006/main" prst="rect">
            <a:avLst/>
          </a:prstGeom>
        </p:spPr>
      </p:pic>
      <p:pic>
        <p:nvPicPr>
          <p:cNvPr id="1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585de4910c4c35"/>
          <a:stretch xmlns:a="http://schemas.openxmlformats.org/drawingml/2006/main"/>
        </p:blipFill>
        <p:spPr>
          <a:xfrm xmlns:a="http://schemas.openxmlformats.org/drawingml/2006/main">
            <a:off x="8953500" y="2676258"/>
            <a:ext cx="2343150" cy="229135"/>
          </a:xfrm>
          <a:prstGeom xmlns:a="http://schemas.openxmlformats.org/drawingml/2006/main" prst="rect">
            <a:avLst/>
          </a:prstGeom>
        </p:spPr>
      </p:pic>
      <p:sp>
        <p:nvSpPr>
          <p:cNvPr id="78" name="step1-rule">
            <a:extLst xmlns:a="http://schemas.openxmlformats.org/drawingml/2006/main">
              <a:ext uri="{FF2B5EF4-FFF2-40B4-BE49-F238E27FC236}">
                <a16:creationId xmlns:a16="http://schemas.microsoft.com/office/drawing/2014/main" id="{B8E57349-E891-4836-922E-123B2018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14675"/>
            <a:ext cx="750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CD6CC"/>
            </a:solidFill>
            <a:prstDash val="solid"/>
          </a:ln>
        </p:spPr>
      </p:sp>
      <p:sp>
        <p:nvSpPr>
          <p:cNvPr id="79" name="step-2-dot">
            <a:extLst xmlns:a="http://schemas.openxmlformats.org/drawingml/2006/main">
              <a:ext uri="{FF2B5EF4-FFF2-40B4-BE49-F238E27FC236}">
                <a16:creationId xmlns:a16="http://schemas.microsoft.com/office/drawing/2014/main" id="{D287097A-3991-4AF4-B37D-E7F311BB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909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step-2-num">
            <a:extLst xmlns:a="http://schemas.openxmlformats.org/drawingml/2006/main">
              <a:ext uri="{FF2B5EF4-FFF2-40B4-BE49-F238E27FC236}">
                <a16:creationId xmlns:a16="http://schemas.microsoft.com/office/drawing/2014/main" id="{95E7ED29-B6C0-42BF-8F3C-12D640D0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19475"/>
            <a:ext cx="2190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795" b="1">
                <a:solidFill>
                  <a:srgbClr val="FFFFFF"/>
                </a:solidFill>
                <a:latin typeface="Google Sans"/>
                <a:ea typeface="Google Sans"/>
                <a:cs typeface="Google Sans"/>
              </a:defRPr>
            </a:pPr>
            <a:r>
              <a:rPr sz="795" b="1">
                <a:solidFill>
                  <a:srgbClr val="FFFFFF"/>
                </a:solidFill>
                <a:latin typeface="Google Sans"/>
                <a:ea typeface="Google Sans"/>
                <a:cs typeface="Google Sans"/>
              </a:rPr>
              <a:t>2</a:t>
            </a:r>
          </a:p>
        </p:txBody>
      </p:sp>
      <p:sp>
        <p:nvSpPr>
          <p:cNvPr id="81" name="step2-title">
            <a:extLst xmlns:a="http://schemas.openxmlformats.org/drawingml/2006/main">
              <a:ext uri="{FF2B5EF4-FFF2-40B4-BE49-F238E27FC236}">
                <a16:creationId xmlns:a16="http://schemas.microsoft.com/office/drawing/2014/main" id="{2CD80882-5CEB-4567-87E8-1671569C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43275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80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080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Fold interno: seleccionar hiperparámetros dentro del train externo</a:t>
            </a:r>
          </a:p>
        </p:txBody>
      </p:sp>
      <p:sp>
        <p:nvSpPr>
          <p:cNvPr id="82" name="step2-copy">
            <a:extLst xmlns:a="http://schemas.openxmlformats.org/drawingml/2006/main">
              <a:ext uri="{FF2B5EF4-FFF2-40B4-BE49-F238E27FC236}">
                <a16:creationId xmlns:a16="http://schemas.microsoft.com/office/drawing/2014/main" id="{79235965-EC46-45D1-B238-E6BBB44C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81400"/>
            <a:ext cx="576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95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95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Se repite LODO solo sobre las dietas restantes; la dieta Dk no entra en esta selección.</a:t>
            </a:r>
          </a:p>
        </p:txBody>
      </p:sp>
      <p:sp>
        <p:nvSpPr>
          <p:cNvPr id="83" name="inner-scope-frame">
            <a:extLst xmlns:a="http://schemas.openxmlformats.org/drawingml/2006/main">
              <a:ext uri="{FF2B5EF4-FFF2-40B4-BE49-F238E27FC236}">
                <a16:creationId xmlns:a16="http://schemas.microsoft.com/office/drawing/2014/main" id="{A0B8DD0B-E3C4-4183-A238-705E3712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71925"/>
            <a:ext cx="5048250" cy="704850"/>
          </a:xfrm>
          <a:prstGeom xmlns:a="http://schemas.openxmlformats.org/drawingml/2006/main" prst="roundRect">
            <a:avLst>
              <a:gd name="adj" fmla="val 8108"/>
            </a:avLst>
          </a:prstGeom>
          <a:noFill xmlns:a="http://schemas.openxmlformats.org/drawingml/2006/main"/>
          <a:ln xmlns:a="http://schemas.openxmlformats.org/drawingml/2006/main" w="8573">
            <a:solidFill>
              <a:srgbClr val="DCD6CC"/>
            </a:solidFill>
            <a:prstDash val="solid"/>
          </a:ln>
        </p:spPr>
      </p:sp>
      <p:sp>
        <p:nvSpPr>
          <p:cNvPr id="84" name="inner-scope-label">
            <a:extLst xmlns:a="http://schemas.openxmlformats.org/drawingml/2006/main">
              <a:ext uri="{FF2B5EF4-FFF2-40B4-BE49-F238E27FC236}">
                <a16:creationId xmlns:a16="http://schemas.microsoft.com/office/drawing/2014/main" id="{FD73302D-F743-44E8-97A9-1F1639A1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67175"/>
            <a:ext cx="2019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68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668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solo con dietas del train externo</a:t>
            </a:r>
          </a:p>
        </p:txBody>
      </p:sp>
      <p:pic>
        <p:nvPicPr>
          <p:cNvPr id="1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435fed39ab441c"/>
          <a:stretch xmlns:a="http://schemas.openxmlformats.org/drawingml/2006/main"/>
        </p:blipFill>
        <p:spPr>
          <a:xfrm xmlns:a="http://schemas.openxmlformats.org/drawingml/2006/main">
            <a:off x="4700801" y="4276725"/>
            <a:ext cx="1990299" cy="238125"/>
          </a:xfrm>
          <a:prstGeom xmlns:a="http://schemas.openxmlformats.org/drawingml/2006/main" prst="rect">
            <a:avLst/>
          </a:prstGeom>
        </p:spPr>
      </p:pic>
      <p:pic>
        <p:nvPicPr>
          <p:cNvPr id="1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759d7357194cbc"/>
          <a:stretch xmlns:a="http://schemas.openxmlformats.org/drawingml/2006/main"/>
        </p:blipFill>
        <p:spPr>
          <a:xfrm xmlns:a="http://schemas.openxmlformats.org/drawingml/2006/main">
            <a:off x="6877050" y="4295455"/>
            <a:ext cx="2343150" cy="200665"/>
          </a:xfrm>
          <a:prstGeom xmlns:a="http://schemas.openxmlformats.org/drawingml/2006/main" prst="rect">
            <a:avLst/>
          </a:prstGeom>
        </p:spPr>
      </p:pic>
      <p:sp>
        <p:nvSpPr>
          <p:cNvPr id="87" name="mae-internal">
            <a:extLst xmlns:a="http://schemas.openxmlformats.org/drawingml/2006/main">
              <a:ext uri="{FF2B5EF4-FFF2-40B4-BE49-F238E27FC236}">
                <a16:creationId xmlns:a16="http://schemas.microsoft.com/office/drawing/2014/main" id="{4EEE2F7F-2661-4548-9A4B-A6A97096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143375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780" b="1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80" b="1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MAE interno</a:t>
            </a:r>
          </a:p>
        </p:txBody>
      </p:sp>
      <p:sp>
        <p:nvSpPr>
          <p:cNvPr id="88" name="theta-arrow">
            <a:extLst xmlns:a="http://schemas.openxmlformats.org/drawingml/2006/main">
              <a:ext uri="{FF2B5EF4-FFF2-40B4-BE49-F238E27FC236}">
                <a16:creationId xmlns:a16="http://schemas.microsoft.com/office/drawing/2014/main" id="{BEFA5048-3D40-479C-851B-638B3973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433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1125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→</a:t>
            </a:r>
          </a:p>
        </p:txBody>
      </p:sp>
      <p:pic>
        <p:nvPicPr>
          <p:cNvPr id="1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c70f5026094b51"/>
          <a:stretch xmlns:a="http://schemas.openxmlformats.org/drawingml/2006/main"/>
        </p:blipFill>
        <p:spPr>
          <a:xfrm xmlns:a="http://schemas.openxmlformats.org/drawingml/2006/main">
            <a:off x="10913041" y="4057650"/>
            <a:ext cx="357643" cy="323850"/>
          </a:xfrm>
          <a:prstGeom xmlns:a="http://schemas.openxmlformats.org/drawingml/2006/main" prst="rect">
            <a:avLst/>
          </a:prstGeom>
        </p:spPr>
      </p:pic>
      <p:sp>
        <p:nvSpPr>
          <p:cNvPr id="90" name="theta-copy">
            <a:extLst xmlns:a="http://schemas.openxmlformats.org/drawingml/2006/main">
              <a:ext uri="{FF2B5EF4-FFF2-40B4-BE49-F238E27FC236}">
                <a16:creationId xmlns:a16="http://schemas.microsoft.com/office/drawing/2014/main" id="{478F84BE-EC51-4B6D-9AEB-CA3D4EA8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4291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660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660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parámetros elegidos</a:t>
            </a:r>
          </a:p>
        </p:txBody>
      </p:sp>
      <p:sp>
        <p:nvSpPr>
          <p:cNvPr id="91" name="step2-rule">
            <a:extLst xmlns:a="http://schemas.openxmlformats.org/drawingml/2006/main">
              <a:ext uri="{FF2B5EF4-FFF2-40B4-BE49-F238E27FC236}">
                <a16:creationId xmlns:a16="http://schemas.microsoft.com/office/drawing/2014/main" id="{3C9EACE2-1F80-413C-B2D7-90750759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48225"/>
            <a:ext cx="750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CD6CC"/>
            </a:solidFill>
            <a:prstDash val="solid"/>
          </a:ln>
        </p:spPr>
      </p:sp>
      <p:sp>
        <p:nvSpPr>
          <p:cNvPr id="92" name="step-3-dot">
            <a:extLst xmlns:a="http://schemas.openxmlformats.org/drawingml/2006/main">
              <a:ext uri="{FF2B5EF4-FFF2-40B4-BE49-F238E27FC236}">
                <a16:creationId xmlns:a16="http://schemas.microsoft.com/office/drawing/2014/main" id="{2D795671-B940-49A9-9392-19874F75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492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step-3-num">
            <a:extLst xmlns:a="http://schemas.openxmlformats.org/drawingml/2006/main">
              <a:ext uri="{FF2B5EF4-FFF2-40B4-BE49-F238E27FC236}">
                <a16:creationId xmlns:a16="http://schemas.microsoft.com/office/drawing/2014/main" id="{839C2FCF-DE5D-41A0-9144-BA468F3A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43500"/>
            <a:ext cx="2190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795" b="1">
                <a:solidFill>
                  <a:srgbClr val="FFFFFF"/>
                </a:solidFill>
                <a:latin typeface="Google Sans"/>
                <a:ea typeface="Google Sans"/>
                <a:cs typeface="Google Sans"/>
              </a:defRPr>
            </a:pPr>
            <a:r>
              <a:rPr sz="795" b="1">
                <a:solidFill>
                  <a:srgbClr val="FFFFFF"/>
                </a:solidFill>
                <a:latin typeface="Google Sans"/>
                <a:ea typeface="Google Sans"/>
                <a:cs typeface="Google Sans"/>
              </a:rPr>
              <a:t>3</a:t>
            </a:r>
          </a:p>
        </p:txBody>
      </p:sp>
      <p:sp>
        <p:nvSpPr>
          <p:cNvPr id="94" name="step3-title">
            <a:extLst xmlns:a="http://schemas.openxmlformats.org/drawingml/2006/main">
              <a:ext uri="{FF2B5EF4-FFF2-40B4-BE49-F238E27FC236}">
                <a16:creationId xmlns:a16="http://schemas.microsoft.com/office/drawing/2014/main" id="{F1D302A1-14E7-412B-A6B4-28C4650E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105400"/>
            <a:ext cx="398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80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080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Reentrenar y evaluar el fold externo</a:t>
            </a:r>
          </a:p>
        </p:txBody>
      </p:sp>
      <p:sp>
        <p:nvSpPr>
          <p:cNvPr id="95" name="step3-copy">
            <a:extLst xmlns:a="http://schemas.openxmlformats.org/drawingml/2006/main">
              <a:ext uri="{FF2B5EF4-FFF2-40B4-BE49-F238E27FC236}">
                <a16:creationId xmlns:a16="http://schemas.microsoft.com/office/drawing/2014/main" id="{BD1BCC3C-C603-4596-9AFB-0F7C2746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343525"/>
            <a:ext cx="512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95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95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Con los parámetros elegidos, el modelo se ajusta con todas las dietas del train externo y se evalúa en Dk.</a:t>
            </a:r>
          </a:p>
        </p:txBody>
      </p:sp>
      <p:sp>
        <p:nvSpPr>
          <p:cNvPr id="96" name="final-train">
            <a:extLst xmlns:a="http://schemas.openxmlformats.org/drawingml/2006/main">
              <a:ext uri="{FF2B5EF4-FFF2-40B4-BE49-F238E27FC236}">
                <a16:creationId xmlns:a16="http://schemas.microsoft.com/office/drawing/2014/main" id="{E39BEA20-D6B6-47B2-AA21-5C055E14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810250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65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765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train externo</a:t>
            </a:r>
          </a:p>
        </p:txBody>
      </p:sp>
      <p:sp>
        <p:nvSpPr>
          <p:cNvPr id="97" name="final-theta">
            <a:extLst xmlns:a="http://schemas.openxmlformats.org/drawingml/2006/main">
              <a:ext uri="{FF2B5EF4-FFF2-40B4-BE49-F238E27FC236}">
                <a16:creationId xmlns:a16="http://schemas.microsoft.com/office/drawing/2014/main" id="{DDF691B1-C27B-4212-BD34-82965520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8102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65" b="1">
                <a:solidFill>
                  <a:srgbClr val="2F7D6D"/>
                </a:solidFill>
                <a:latin typeface="Google Sans"/>
                <a:ea typeface="Google Sans"/>
                <a:cs typeface="Google Sans"/>
              </a:defRPr>
            </a:pPr>
            <a:r>
              <a:rPr sz="765" b="1">
                <a:solidFill>
                  <a:srgbClr val="2F7D6D"/>
                </a:solidFill>
                <a:latin typeface="Google Sans"/>
                <a:ea typeface="Google Sans"/>
                <a:cs typeface="Google Sans"/>
              </a:rPr>
              <a:t>+ θ*</a:t>
            </a:r>
          </a:p>
        </p:txBody>
      </p:sp>
      <p:sp>
        <p:nvSpPr>
          <p:cNvPr id="98" name="final-arrow-1">
            <a:extLst xmlns:a="http://schemas.openxmlformats.org/drawingml/2006/main">
              <a:ext uri="{FF2B5EF4-FFF2-40B4-BE49-F238E27FC236}">
                <a16:creationId xmlns:a16="http://schemas.microsoft.com/office/drawing/2014/main" id="{C9AAB796-6C59-4CEE-826A-D0F143C6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7721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1125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→</a:t>
            </a:r>
          </a:p>
        </p:txBody>
      </p:sp>
      <p:sp>
        <p:nvSpPr>
          <p:cNvPr id="99" name="final-model">
            <a:extLst xmlns:a="http://schemas.openxmlformats.org/drawingml/2006/main">
              <a:ext uri="{FF2B5EF4-FFF2-40B4-BE49-F238E27FC236}">
                <a16:creationId xmlns:a16="http://schemas.microsoft.com/office/drawing/2014/main" id="{9193046F-CD65-4E10-B421-41FD8174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753100"/>
            <a:ext cx="819150" cy="2667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822B"/>
            </a:solidFill>
            <a:prstDash val="solid"/>
          </a:ln>
        </p:spPr>
      </p:sp>
      <p:sp>
        <p:nvSpPr>
          <p:cNvPr id="100" name="final-model-text">
            <a:extLst xmlns:a="http://schemas.openxmlformats.org/drawingml/2006/main">
              <a:ext uri="{FF2B5EF4-FFF2-40B4-BE49-F238E27FC236}">
                <a16:creationId xmlns:a16="http://schemas.microsoft.com/office/drawing/2014/main" id="{97C054B7-AACE-45E5-9DFF-5E377AFE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819775"/>
            <a:ext cx="819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690" b="1">
                <a:solidFill>
                  <a:srgbClr val="C9822B"/>
                </a:solidFill>
                <a:latin typeface="Google Sans"/>
                <a:ea typeface="Google Sans"/>
                <a:cs typeface="Google Sans"/>
              </a:defRPr>
            </a:pPr>
            <a:r>
              <a:rPr sz="690" b="1">
                <a:solidFill>
                  <a:srgbClr val="C9822B"/>
                </a:solidFill>
                <a:latin typeface="Google Sans"/>
                <a:ea typeface="Google Sans"/>
                <a:cs typeface="Google Sans"/>
              </a:rPr>
              <a:t>modelo final</a:t>
            </a:r>
          </a:p>
        </p:txBody>
      </p:sp>
      <p:sp>
        <p:nvSpPr>
          <p:cNvPr id="101" name="final-arrow-2">
            <a:extLst xmlns:a="http://schemas.openxmlformats.org/drawingml/2006/main">
              <a:ext uri="{FF2B5EF4-FFF2-40B4-BE49-F238E27FC236}">
                <a16:creationId xmlns:a16="http://schemas.microsoft.com/office/drawing/2014/main" id="{EAFB9047-2BC7-46D2-BD80-0057101E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7721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1125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→</a:t>
            </a:r>
          </a:p>
        </p:txBody>
      </p:sp>
      <p:sp>
        <p:nvSpPr>
          <p:cNvPr id="102" name="final-test">
            <a:extLst xmlns:a="http://schemas.openxmlformats.org/drawingml/2006/main">
              <a:ext uri="{FF2B5EF4-FFF2-40B4-BE49-F238E27FC236}">
                <a16:creationId xmlns:a16="http://schemas.microsoft.com/office/drawing/2014/main" id="{AF2E5E91-F76A-4A04-BBBF-5831A43B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8102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65" b="1">
                <a:solidFill>
                  <a:srgbClr val="2F7D6D"/>
                </a:solidFill>
                <a:latin typeface="Google Sans"/>
                <a:ea typeface="Google Sans"/>
                <a:cs typeface="Google Sans"/>
              </a:defRPr>
            </a:pPr>
            <a:r>
              <a:rPr sz="765" b="1">
                <a:solidFill>
                  <a:srgbClr val="2F7D6D"/>
                </a:solidFill>
                <a:latin typeface="Google Sans"/>
                <a:ea typeface="Google Sans"/>
                <a:cs typeface="Google Sans"/>
              </a:rPr>
              <a:t>predicción sobre Dk</a:t>
            </a:r>
          </a:p>
        </p:txBody>
      </p:sp>
      <p:sp>
        <p:nvSpPr>
          <p:cNvPr id="103" name="final-repeat">
            <a:extLst xmlns:a="http://schemas.openxmlformats.org/drawingml/2006/main">
              <a:ext uri="{FF2B5EF4-FFF2-40B4-BE49-F238E27FC236}">
                <a16:creationId xmlns:a16="http://schemas.microsoft.com/office/drawing/2014/main" id="{8B8DE70F-C7F8-4AEF-8976-7204341A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7054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50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Se repite para k = 1, ..., 11 y se agregan los errores externos.</a:t>
            </a:r>
          </a:p>
        </p:txBody>
      </p:sp>
      <p:sp>
        <p:nvSpPr>
          <p:cNvPr id="104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968D7464-75CD-4CD6-8DC3-BC5235BC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CFC7BA"/>
            </a:solidFill>
            <a:prstDash val="solid"/>
          </a:ln>
        </p:spPr>
      </p:sp>
      <p:sp>
        <p:nvSpPr>
          <p:cNvPr id="105" name="closing">
            <a:extLst xmlns:a="http://schemas.openxmlformats.org/drawingml/2006/main">
              <a:ext uri="{FF2B5EF4-FFF2-40B4-BE49-F238E27FC236}">
                <a16:creationId xmlns:a16="http://schemas.microsoft.com/office/drawing/2014/main" id="{FFB873D1-8CAF-4F06-B255-3535688A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80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080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LODO mide generalización por dieta: la formulación retenida no interviene ni en el ajuste ni en la selección.</a:t>
            </a:r>
          </a:p>
        </p:txBody>
      </p:sp>
      <p:sp>
        <p:nvSpPr>
          <p:cNvPr id="10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DA35266-5393-4715-9FFC-571CA1F8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1912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20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0200423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2026-07-02T22:47:21.0260000Z</dcterms:created>
  <dcterms:modified xsi:type="dcterms:W3CDTF">2026-07-02T22:47:21.0260000Z</dcterms:modified>
</coreProperties>
</file>