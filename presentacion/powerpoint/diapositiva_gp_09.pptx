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4bc2a3fa9464e7d" /><Relationship Type="http://schemas.openxmlformats.org/officeDocument/2006/relationships/extended-properties" Target="/docProps/app.xml" Id="R2087bc61721946c5" /><Relationship Type="http://schemas.openxmlformats.org/officeDocument/2006/relationships/officeDocument" Target="/ppt/presentation.xml" Id="Re76a43eb35a94f4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e680add5ffe4e0a"/>
  </p:sldMasterIdLst>
  <p:notesMasterIdLst>
    <p:notesMasterId xmlns:r="http://schemas.openxmlformats.org/officeDocument/2006/relationships" r:id="Rcb22d3dcc8ab46bc"/>
  </p:notesMasterIdLst>
  <p:sldIdLst>
    <p:sldId xmlns:r="http://schemas.openxmlformats.org/officeDocument/2006/relationships" id="256" r:id="R92953b416a7e420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b2c41c607f64efe" /><Relationship Type="http://schemas.openxmlformats.org/officeDocument/2006/relationships/slideMaster" Target="/ppt/slideMasters/slideMaster1.xml" Id="R8e680add5ffe4e0a" /><Relationship Type="http://schemas.openxmlformats.org/officeDocument/2006/relationships/notesMaster" Target="/ppt/notesMasters/notesMaster1.xml" Id="Rcb22d3dcc8ab46bc" /><Relationship Type="http://schemas.openxmlformats.org/officeDocument/2006/relationships/presProps" Target="/ppt/presProps.xml" Id="R582fdf0acaf64b13" /><Relationship Type="http://schemas.openxmlformats.org/officeDocument/2006/relationships/tableStyles" Target="/ppt/tableStyles.xml" Id="Rb2ee2818b71a4768" /><Relationship Type="http://schemas.openxmlformats.org/officeDocument/2006/relationships/slide" Target="/ppt/slides/slide1.xml" Id="R92953b416a7e420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cab571eb59c444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6bd9a10278a470c" /><Relationship Type="http://schemas.openxmlformats.org/officeDocument/2006/relationships/notesMaster" Target="/ppt/notesMasters/notesMaster1.xml" Id="R35dad7ffd71940a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8a9eb66d454c9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463b6c3a8c046a6" /><Relationship Type="http://schemas.openxmlformats.org/officeDocument/2006/relationships/slideLayout" Target="/ppt/slideLayouts/slideLayout1.xml" Id="R42e41c0f3d9e44a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2e41c0f3d9e44a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214aec83e2458f" /><Relationship Type="http://schemas.openxmlformats.org/officeDocument/2006/relationships/image" Target="/ppt/media/image.png" Id="R4c76a6fc5ca34489" /><Relationship Type="http://schemas.openxmlformats.org/officeDocument/2006/relationships/image" Target="/ppt/media/image2.png" Id="R8579e8a1097447db" /><Relationship Type="http://schemas.openxmlformats.org/officeDocument/2006/relationships/image" Target="/ppt/media/image3.png" Id="Re65051796b7b44ee" /><Relationship Type="http://schemas.openxmlformats.org/officeDocument/2006/relationships/image" Target="/ppt/media/image4.png" Id="R4a68f2ad8bed431a" /><Relationship Type="http://schemas.openxmlformats.org/officeDocument/2006/relationships/image" Target="/ppt/media/image5.png" Id="Reba1e60e3b5b4094" /><Relationship Type="http://schemas.openxmlformats.org/officeDocument/2006/relationships/image" Target="/ppt/media/image6.png" Id="R9ab94e7c615c4229" /><Relationship Type="http://schemas.openxmlformats.org/officeDocument/2006/relationships/image" Target="/ppt/media/image7.png" Id="R1cbceae0780249ad" /><Relationship Type="http://schemas.openxmlformats.org/officeDocument/2006/relationships/image" Target="/ppt/media/image8.png" Id="Rb50e6e5af32d44a1" /><Relationship Type="http://schemas.openxmlformats.org/officeDocument/2006/relationships/notesSlide" Target="/ppt/notesSlides/notesSlide1.xml" Id="R38c9c2a36df643e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8E8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5720369B-BFA6-4292-9A89-73851416A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1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938" b="1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PROCESOS GAUSSIANOS</a:t>
            </a:r>
          </a:p>
        </p:txBody>
      </p:sp>
      <p:sp>
        <p:nvSpPr>
          <p:cNvPr id="2" name="step-label">
            <a:extLst xmlns:a="http://schemas.openxmlformats.org/drawingml/2006/main">
              <a:ext uri="{FF2B5EF4-FFF2-40B4-BE49-F238E27FC236}">
                <a16:creationId xmlns:a16="http://schemas.microsoft.com/office/drawing/2014/main" id="{3578C866-9119-446A-8A81-0F34F2E55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762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38" b="1">
                <a:solidFill>
                  <a:srgbClr val="C9822B"/>
                </a:solidFill>
                <a:latin typeface="Google Sans"/>
                <a:ea typeface="Google Sans"/>
                <a:cs typeface="Google Sans"/>
              </a:defRPr>
            </a:pPr>
            <a:r>
              <a:rPr sz="938" b="1">
                <a:solidFill>
                  <a:srgbClr val="C9822B"/>
                </a:solidFill>
                <a:latin typeface="Google Sans"/>
                <a:ea typeface="Google Sans"/>
                <a:cs typeface="Google Sans"/>
              </a:rPr>
              <a:t>PUENTE A SBO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6D2D02C-FD9D-4AF1-A18D-4A83B85C5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475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2475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Justo lo que SBO necesita</a:t>
            </a:r>
          </a:p>
        </p:txBody>
      </p:sp>
      <p:sp>
        <p:nvSpPr>
          <p:cNvPr id="4" name="idea">
            <a:extLst xmlns:a="http://schemas.openxmlformats.org/drawingml/2006/main">
              <a:ext uri="{FF2B5EF4-FFF2-40B4-BE49-F238E27FC236}">
                <a16:creationId xmlns:a16="http://schemas.microsoft.com/office/drawing/2014/main" id="{C53B3BC2-E3B8-440E-99C4-70916567D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4381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63" b="1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463" b="1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El GP entrega predicción e incertidumbre en cada punto del dominio.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76a6fc5ca34489"/>
          <a:stretch xmlns:a="http://schemas.openxmlformats.org/drawingml/2006/main"/>
        </p:blipFill>
        <p:spPr>
          <a:xfrm xmlns:a="http://schemas.openxmlformats.org/drawingml/2006/main">
            <a:off x="723900" y="2609850"/>
            <a:ext cx="742950" cy="444965"/>
          </a:xfrm>
          <a:prstGeom xmlns:a="http://schemas.openxmlformats.org/drawingml/2006/main" prst="rect">
            <a:avLst/>
          </a:prstGeom>
        </p:spPr>
      </p:pic>
      <p:sp>
        <p:nvSpPr>
          <p:cNvPr id="6" name="mu-text">
            <a:extLst xmlns:a="http://schemas.openxmlformats.org/drawingml/2006/main">
              <a:ext uri="{FF2B5EF4-FFF2-40B4-BE49-F238E27FC236}">
                <a16:creationId xmlns:a16="http://schemas.microsoft.com/office/drawing/2014/main" id="{002828C0-7787-4E4F-8217-323A69A4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08507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275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predicción esperada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79e8a1097447db"/>
          <a:stretch xmlns:a="http://schemas.openxmlformats.org/drawingml/2006/main"/>
        </p:blipFill>
        <p:spPr>
          <a:xfrm xmlns:a="http://schemas.openxmlformats.org/drawingml/2006/main">
            <a:off x="723900" y="3302465"/>
            <a:ext cx="723900" cy="446750"/>
          </a:xfrm>
          <a:prstGeom xmlns:a="http://schemas.openxmlformats.org/drawingml/2006/main" prst="rect">
            <a:avLst/>
          </a:prstGeom>
        </p:spPr>
      </p:pic>
      <p:sp>
        <p:nvSpPr>
          <p:cNvPr id="8" name="sigma-text">
            <a:extLst xmlns:a="http://schemas.openxmlformats.org/drawingml/2006/main">
              <a:ext uri="{FF2B5EF4-FFF2-40B4-BE49-F238E27FC236}">
                <a16:creationId xmlns:a16="http://schemas.microsoft.com/office/drawing/2014/main" id="{32BF2140-7224-4D14-B150-F94695468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02014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275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incertidumbre sobre esa predicción</a:t>
            </a:r>
          </a:p>
        </p:txBody>
      </p:sp>
      <p:sp>
        <p:nvSpPr>
          <p:cNvPr id="9" name="left-rule">
            <a:extLst xmlns:a="http://schemas.openxmlformats.org/drawingml/2006/main">
              <a:ext uri="{FF2B5EF4-FFF2-40B4-BE49-F238E27FC236}">
                <a16:creationId xmlns:a16="http://schemas.microsoft.com/office/drawing/2014/main" id="{723E2C43-6F3C-4905-98B8-2AB252279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4964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DAD1"/>
            </a:solidFill>
            <a:prstDash val="solid"/>
          </a:ln>
        </p:spPr>
      </p:sp>
      <p:sp>
        <p:nvSpPr>
          <p:cNvPr id="10" name="frase">
            <a:extLst xmlns:a="http://schemas.openxmlformats.org/drawingml/2006/main">
              <a:ext uri="{FF2B5EF4-FFF2-40B4-BE49-F238E27FC236}">
                <a16:creationId xmlns:a16="http://schemas.microsoft.com/office/drawing/2014/main" id="{C5457035-F2AA-4B87-B4E2-96F0A85A3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06414"/>
            <a:ext cx="4381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88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1088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Donde la media es prometedora y la incertidumbre alta, conviene evaluar: ahí aparece el siguiente candidato.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5051796b7b44ee"/>
          <a:stretch xmlns:a="http://schemas.openxmlformats.org/drawingml/2006/main"/>
        </p:blipFill>
        <p:spPr>
          <a:xfrm xmlns:a="http://schemas.openxmlformats.org/drawingml/2006/main">
            <a:off x="5676900" y="1600349"/>
            <a:ext cx="5829300" cy="3962102"/>
          </a:xfrm>
          <a:prstGeom xmlns:a="http://schemas.openxmlformats.org/drawingml/2006/main" prst="rect">
            <a:avLst/>
          </a:prstGeom>
        </p:spPr>
      </p:pic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68f2ad8bed431a"/>
          <a:stretch xmlns:a="http://schemas.openxmlformats.org/drawingml/2006/main"/>
        </p:blipFill>
        <p:spPr>
          <a:xfrm xmlns:a="http://schemas.openxmlformats.org/drawingml/2006/main">
            <a:off x="5676900" y="1600349"/>
            <a:ext cx="5829300" cy="3962102"/>
          </a:xfrm>
          <a:prstGeom xmlns:a="http://schemas.openxmlformats.org/drawingml/2006/main" prst="rect">
            <a:avLst/>
          </a:prstGeom>
        </p:spPr>
      </p:pic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a1e60e3b5b4094"/>
          <a:stretch xmlns:a="http://schemas.openxmlformats.org/drawingml/2006/main"/>
        </p:blipFill>
        <p:spPr>
          <a:xfrm xmlns:a="http://schemas.openxmlformats.org/drawingml/2006/main">
            <a:off x="5676900" y="1600349"/>
            <a:ext cx="5829300" cy="3962102"/>
          </a:xfrm>
          <a:prstGeom xmlns:a="http://schemas.openxmlformats.org/drawingml/2006/main" prst="rect">
            <a:avLst/>
          </a:prstGeom>
        </p:spPr>
      </p:pic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b94e7c615c4229"/>
          <a:stretch xmlns:a="http://schemas.openxmlformats.org/drawingml/2006/main"/>
        </p:blipFill>
        <p:spPr>
          <a:xfrm xmlns:a="http://schemas.openxmlformats.org/drawingml/2006/main">
            <a:off x="5676900" y="1600349"/>
            <a:ext cx="5829300" cy="3962102"/>
          </a:xfrm>
          <a:prstGeom xmlns:a="http://schemas.openxmlformats.org/drawingml/2006/main" prst="rect">
            <a:avLst/>
          </a:prstGeom>
        </p:spPr>
      </p:pic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bceae0780249ad"/>
          <a:stretch xmlns:a="http://schemas.openxmlformats.org/drawingml/2006/main"/>
        </p:blipFill>
        <p:spPr>
          <a:xfrm xmlns:a="http://schemas.openxmlformats.org/drawingml/2006/main">
            <a:off x="5676900" y="1600349"/>
            <a:ext cx="5829300" cy="3962102"/>
          </a:xfrm>
          <a:prstGeom xmlns:a="http://schemas.openxmlformats.org/drawingml/2006/main" prst="rect">
            <a:avLst/>
          </a:prstGeom>
        </p:spPr>
      </p:pic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0e6e5af32d44a1"/>
          <a:stretch xmlns:a="http://schemas.openxmlformats.org/drawingml/2006/main"/>
        </p:blipFill>
        <p:spPr>
          <a:xfrm xmlns:a="http://schemas.openxmlformats.org/drawingml/2006/main">
            <a:off x="5676900" y="1600349"/>
            <a:ext cx="5829300" cy="3962102"/>
          </a:xfrm>
          <a:prstGeom xmlns:a="http://schemas.openxmlformats.org/drawingml/2006/main" prst="rect">
            <a:avLst/>
          </a:prstGeom>
        </p:spPr>
      </p:pic>
      <p:sp>
        <p:nvSpPr>
          <p:cNvPr id="17" name="bottom-divider">
            <a:extLst xmlns:a="http://schemas.openxmlformats.org/drawingml/2006/main">
              <a:ext uri="{FF2B5EF4-FFF2-40B4-BE49-F238E27FC236}">
                <a16:creationId xmlns:a16="http://schemas.microsoft.com/office/drawing/2014/main" id="{EE8ECCD4-4220-4C92-A7A7-A569E545E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4CCC0"/>
            </a:solidFill>
            <a:prstDash val="solid"/>
          </a:ln>
        </p:spPr>
      </p:sp>
      <p:sp>
        <p:nvSpPr>
          <p:cNvPr id="18" name="cierre-kicker">
            <a:extLst xmlns:a="http://schemas.openxmlformats.org/drawingml/2006/main">
              <a:ext uri="{FF2B5EF4-FFF2-40B4-BE49-F238E27FC236}">
                <a16:creationId xmlns:a16="http://schemas.microsoft.com/office/drawing/2014/main" id="{D78318F2-BFFD-432A-A46C-331E6A494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1125" b="0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Siguiente</a:t>
            </a:r>
          </a:p>
        </p:txBody>
      </p:sp>
      <p:sp>
        <p:nvSpPr>
          <p:cNvPr id="19" name="cierre">
            <a:extLst xmlns:a="http://schemas.openxmlformats.org/drawingml/2006/main">
              <a:ext uri="{FF2B5EF4-FFF2-40B4-BE49-F238E27FC236}">
                <a16:creationId xmlns:a16="http://schemas.microsoft.com/office/drawing/2014/main" id="{B25C5DBC-3DD7-4720-9105-54D9742CE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6191250"/>
            <a:ext cx="938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13" b="1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313" b="1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Convertir predicción e incertidumbre en un criterio de adquisición: Expected Improvement.</a:t>
            </a:r>
          </a:p>
        </p:txBody>
      </p:sp>
      <p:sp>
        <p:nvSpPr>
          <p:cNvPr id="2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0B57389-319B-4BF2-AE33-401A92D05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649605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050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4905868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2026-07-04T00:38:32.1910000Z</dcterms:created>
  <dcterms:modified xsi:type="dcterms:W3CDTF">2026-07-04T00:38:32.1910000Z</dcterms:modified>
</coreProperties>
</file>