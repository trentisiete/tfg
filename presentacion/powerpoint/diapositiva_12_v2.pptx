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61da3b705a4d1a" /><Relationship Type="http://schemas.openxmlformats.org/officeDocument/2006/relationships/extended-properties" Target="/docProps/app.xml" Id="R6dd68c9e07764169" /><Relationship Type="http://schemas.openxmlformats.org/officeDocument/2006/relationships/officeDocument" Target="/ppt/presentation.xml" Id="Ra51b482d50d449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12853dcdbf4169"/>
  </p:sldMasterIdLst>
  <p:notesMasterIdLst>
    <p:notesMasterId xmlns:r="http://schemas.openxmlformats.org/officeDocument/2006/relationships" r:id="R345c1a82f8cb45c5"/>
  </p:notesMasterIdLst>
  <p:sldIdLst>
    <p:sldId xmlns:r="http://schemas.openxmlformats.org/officeDocument/2006/relationships" id="256" r:id="R46c4ebaab4a34a4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15313fdfbc47bc" /><Relationship Type="http://schemas.openxmlformats.org/officeDocument/2006/relationships/slideMaster" Target="/ppt/slideMasters/slideMaster1.xml" Id="Rf212853dcdbf4169" /><Relationship Type="http://schemas.openxmlformats.org/officeDocument/2006/relationships/notesMaster" Target="/ppt/notesMasters/notesMaster1.xml" Id="R345c1a82f8cb45c5" /><Relationship Type="http://schemas.openxmlformats.org/officeDocument/2006/relationships/presProps" Target="/ppt/presProps.xml" Id="R64dc3077c2744048" /><Relationship Type="http://schemas.openxmlformats.org/officeDocument/2006/relationships/tableStyles" Target="/ppt/tableStyles.xml" Id="R1ed948b687164721" /><Relationship Type="http://schemas.openxmlformats.org/officeDocument/2006/relationships/slide" Target="/ppt/slides/slide1.xml" Id="R46c4ebaab4a34a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ead819c4c54d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2d770c2393495f" /><Relationship Type="http://schemas.openxmlformats.org/officeDocument/2006/relationships/notesMaster" Target="/ppt/notesMasters/notesMaster1.xml" Id="R18ad1e4039174d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83c4f391ca47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d684158a744cad" /><Relationship Type="http://schemas.openxmlformats.org/officeDocument/2006/relationships/slideLayout" Target="/ppt/slideLayouts/slideLayout1.xml" Id="R960cfecfefd14f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0cfecfefd14f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a6ec8fa0fd45d1" /><Relationship Type="http://schemas.openxmlformats.org/officeDocument/2006/relationships/image" Target="/ppt/media/image.png" Id="R13f4b3eb2a624677" /><Relationship Type="http://schemas.openxmlformats.org/officeDocument/2006/relationships/image" Target="/ppt/media/image2.png" Id="R989555ac161542af" /><Relationship Type="http://schemas.openxmlformats.org/officeDocument/2006/relationships/image" Target="/ppt/media/image3.png" Id="R99f8d7433e8d462e" /><Relationship Type="http://schemas.openxmlformats.org/officeDocument/2006/relationships/image" Target="/ppt/media/image4.png" Id="R6effd637f0774454" /><Relationship Type="http://schemas.openxmlformats.org/officeDocument/2006/relationships/image" Target="/ppt/media/image5.png" Id="Rc9fbf109577e4633" /><Relationship Type="http://schemas.openxmlformats.org/officeDocument/2006/relationships/image" Target="/ppt/media/image6.png" Id="Rbd3a7ba30781435f" /><Relationship Type="http://schemas.openxmlformats.org/officeDocument/2006/relationships/image" Target="/ppt/media/image7.png" Id="Rebda1a34005b4740" /><Relationship Type="http://schemas.openxmlformats.org/officeDocument/2006/relationships/image" Target="/ppt/media/image8.png" Id="Rcd7d2368ccba4386" /><Relationship Type="http://schemas.openxmlformats.org/officeDocument/2006/relationships/image" Target="/ppt/media/image9.png" Id="R55d56cccfd84471f" /><Relationship Type="http://schemas.openxmlformats.org/officeDocument/2006/relationships/image" Target="/ppt/media/image10.png" Id="Rf8da1bb46f8d48ac" /><Relationship Type="http://schemas.openxmlformats.org/officeDocument/2006/relationships/image" Target="/ppt/media/image11.png" Id="R192e8f39170c4748" /><Relationship Type="http://schemas.openxmlformats.org/officeDocument/2006/relationships/notesSlide" Target="/ppt/notesSlides/notesSlide1.xml" Id="R0af514e5cfcb427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8E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4EB7A43-C36E-40D0-B1C5-D2EF739F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38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METODOLOGÍA / SBO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CBABC7D-AFBE-44F1-9BA4-FAC470E9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88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2888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Expected Improvement: de predicción a decisión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5F5B2EE6-BC22-40EE-A67B-DB841FED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35" b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335" b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EI estima cuánto puede mejorar cada candidato respecto al mejor valor observado bajo la posterior actual del GP.</a:t>
            </a:r>
          </a:p>
        </p:txBody>
      </p:sp>
      <p:sp>
        <p:nvSpPr>
          <p:cNvPr id="4" name="figure-accent">
            <a:extLst xmlns:a="http://schemas.openxmlformats.org/drawingml/2006/main">
              <a:ext uri="{FF2B5EF4-FFF2-40B4-BE49-F238E27FC236}">
                <a16:creationId xmlns:a16="http://schemas.microsoft.com/office/drawing/2014/main" id="{21EC6802-A2E8-472C-B1FA-62E1C3E4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000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igure-title">
            <a:extLst xmlns:a="http://schemas.openxmlformats.org/drawingml/2006/main">
              <a:ext uri="{FF2B5EF4-FFF2-40B4-BE49-F238E27FC236}">
                <a16:creationId xmlns:a16="http://schemas.microsoft.com/office/drawing/2014/main" id="{EE1C9199-772A-446B-8AFA-50B08D63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8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058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Posterior GP arriba, criterio EI abajo</a:t>
            </a:r>
          </a:p>
        </p:txBody>
      </p:sp>
      <p:sp>
        <p:nvSpPr>
          <p:cNvPr id="6" name="legend-real-line">
            <a:extLst xmlns:a="http://schemas.openxmlformats.org/drawingml/2006/main">
              <a:ext uri="{FF2B5EF4-FFF2-40B4-BE49-F238E27FC236}">
                <a16:creationId xmlns:a16="http://schemas.microsoft.com/office/drawing/2014/main" id="{64134324-9568-4E93-8FD7-5C1AD8E2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066925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7A7F86"/>
            </a:solidFill>
            <a:prstDash val="solid"/>
          </a:ln>
        </p:spPr>
      </p:sp>
      <p:sp>
        <p:nvSpPr>
          <p:cNvPr id="7" name="legend-real">
            <a:extLst xmlns:a="http://schemas.openxmlformats.org/drawingml/2006/main">
              <a:ext uri="{FF2B5EF4-FFF2-40B4-BE49-F238E27FC236}">
                <a16:creationId xmlns:a16="http://schemas.microsoft.com/office/drawing/2014/main" id="{12A81AD1-A3BF-40DC-9CF5-B1D19371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19907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10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10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función real</a:t>
            </a:r>
          </a:p>
        </p:txBody>
      </p:sp>
      <p:sp>
        <p:nvSpPr>
          <p:cNvPr id="8" name="legend-mean-line">
            <a:extLst xmlns:a="http://schemas.openxmlformats.org/drawingml/2006/main">
              <a:ext uri="{FF2B5EF4-FFF2-40B4-BE49-F238E27FC236}">
                <a16:creationId xmlns:a16="http://schemas.microsoft.com/office/drawing/2014/main" id="{D160EF4D-A1F5-4BE3-8902-81A6E442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66925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74C5B"/>
            </a:solidFill>
            <a:prstDash val="solid"/>
          </a:ln>
        </p:spPr>
      </p:sp>
      <p:sp>
        <p:nvSpPr>
          <p:cNvPr id="9" name="legend-mean">
            <a:extLst xmlns:a="http://schemas.openxmlformats.org/drawingml/2006/main">
              <a:ext uri="{FF2B5EF4-FFF2-40B4-BE49-F238E27FC236}">
                <a16:creationId xmlns:a16="http://schemas.microsoft.com/office/drawing/2014/main" id="{58715D8B-1C1A-4847-962D-740B1324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9907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10" b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810" b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media GP</a:t>
            </a:r>
          </a:p>
        </p:txBody>
      </p:sp>
      <p:sp>
        <p:nvSpPr>
          <p:cNvPr id="10" name="legend-band">
            <a:extLst xmlns:a="http://schemas.openxmlformats.org/drawingml/2006/main">
              <a:ext uri="{FF2B5EF4-FFF2-40B4-BE49-F238E27FC236}">
                <a16:creationId xmlns:a16="http://schemas.microsoft.com/office/drawing/2014/main" id="{153EB312-BC67-42A9-B31D-D1E5445F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028825"/>
            <a:ext cx="304800" cy="762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8D8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legend-band-text">
            <a:extLst xmlns:a="http://schemas.openxmlformats.org/drawingml/2006/main">
              <a:ext uri="{FF2B5EF4-FFF2-40B4-BE49-F238E27FC236}">
                <a16:creationId xmlns:a16="http://schemas.microsoft.com/office/drawing/2014/main" id="{E51060C5-DF32-415E-9340-E0B39BCA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9072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10" b="0">
                <a:solidFill>
                  <a:srgbClr val="C9822B"/>
                </a:solidFill>
                <a:latin typeface="Google Sans"/>
                <a:ea typeface="Google Sans"/>
                <a:cs typeface="Google Sans"/>
              </a:defRPr>
            </a:pPr>
            <a:r>
              <a:rPr sz="810" b="0">
                <a:solidFill>
                  <a:srgbClr val="C9822B"/>
                </a:solidFill>
                <a:latin typeface="Google Sans"/>
                <a:ea typeface="Google Sans"/>
                <a:cs typeface="Google Sans"/>
              </a:rPr>
              <a:t>μ ± 2σ</a:t>
            </a:r>
          </a:p>
        </p:txBody>
      </p:sp>
      <p:sp>
        <p:nvSpPr>
          <p:cNvPr id="12" name="legend-ei-dot">
            <a:extLst xmlns:a="http://schemas.openxmlformats.org/drawingml/2006/main">
              <a:ext uri="{FF2B5EF4-FFF2-40B4-BE49-F238E27FC236}">
                <a16:creationId xmlns:a16="http://schemas.microsoft.com/office/drawing/2014/main" id="{867272B3-67AA-45DF-8E2D-7E2B4259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28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legend-ei">
            <a:extLst xmlns:a="http://schemas.openxmlformats.org/drawingml/2006/main">
              <a:ext uri="{FF2B5EF4-FFF2-40B4-BE49-F238E27FC236}">
                <a16:creationId xmlns:a16="http://schemas.microsoft.com/office/drawing/2014/main" id="{F7C47DE9-FDE8-4798-8F44-8A94785F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9907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10" b="0">
                <a:solidFill>
                  <a:srgbClr val="2F7D6D"/>
                </a:solidFill>
                <a:latin typeface="Google Sans"/>
                <a:ea typeface="Google Sans"/>
                <a:cs typeface="Google Sans"/>
              </a:defRPr>
            </a:pPr>
            <a:r>
              <a:rPr sz="810" b="0">
                <a:solidFill>
                  <a:srgbClr val="2F7D6D"/>
                </a:solidFill>
                <a:latin typeface="Google Sans"/>
                <a:ea typeface="Google Sans"/>
                <a:cs typeface="Google Sans"/>
              </a:rPr>
              <a:t>EI</a:t>
            </a:r>
          </a:p>
        </p:txBody>
      </p:sp>
      <p:sp>
        <p:nvSpPr>
          <p:cNvPr id="14" name="gp-ei-figure-frame">
            <a:extLst xmlns:a="http://schemas.openxmlformats.org/drawingml/2006/main">
              <a:ext uri="{FF2B5EF4-FFF2-40B4-BE49-F238E27FC236}">
                <a16:creationId xmlns:a16="http://schemas.microsoft.com/office/drawing/2014/main" id="{8EC58DAB-7C2E-4C03-ADC9-49DD2C12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6343650" cy="3400425"/>
          </a:xfrm>
          <a:prstGeom xmlns:a="http://schemas.openxmlformats.org/drawingml/2006/main" prst="roundRect">
            <a:avLst>
              <a:gd name="adj" fmla="val 2241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E0DAD1"/>
            </a:solidFill>
            <a:prstDash val="solid"/>
          </a:ln>
        </p:spPr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f4b3eb2a624677"/>
          <a:stretch xmlns:a="http://schemas.openxmlformats.org/drawingml/2006/main"/>
        </p:blipFill>
        <p:spPr>
          <a:xfrm xmlns:a="http://schemas.openxmlformats.org/drawingml/2006/main">
            <a:off x="967991" y="2238375"/>
            <a:ext cx="5779268" cy="3228975"/>
          </a:xfrm>
          <a:prstGeom xmlns:a="http://schemas.openxmlformats.org/drawingml/2006/main" prst="rect">
            <a:avLst/>
          </a:prstGeom>
        </p:spPr>
      </p:pic>
      <p:sp>
        <p:nvSpPr>
          <p:cNvPr id="16" name="figure-caption">
            <a:extLst xmlns:a="http://schemas.openxmlformats.org/drawingml/2006/main">
              <a:ext uri="{FF2B5EF4-FFF2-40B4-BE49-F238E27FC236}">
                <a16:creationId xmlns:a16="http://schemas.microsoft.com/office/drawing/2014/main" id="{F892667D-DD4D-46F3-A70B-BB68B470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2927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6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El máximo de EI combina una media plausible con incertidumbre; no es simplemente el mínimo de la media predictiva.</a:t>
            </a:r>
          </a:p>
        </p:txBody>
      </p:sp>
      <p:sp>
        <p:nvSpPr>
          <p:cNvPr id="17" name="right-separator">
            <a:extLst xmlns:a="http://schemas.openxmlformats.org/drawingml/2006/main">
              <a:ext uri="{FF2B5EF4-FFF2-40B4-BE49-F238E27FC236}">
                <a16:creationId xmlns:a16="http://schemas.microsoft.com/office/drawing/2014/main" id="{1E67C11D-282E-4F95-BFD5-EC8A9F85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33575"/>
            <a:ext cx="0" cy="373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4CCC0"/>
            </a:solidFill>
            <a:prstDash val="solid"/>
          </a:ln>
        </p:spPr>
      </p:sp>
      <p:sp>
        <p:nvSpPr>
          <p:cNvPr id="18" name="math-accent">
            <a:extLst xmlns:a="http://schemas.openxmlformats.org/drawingml/2006/main">
              <a:ext uri="{FF2B5EF4-FFF2-40B4-BE49-F238E27FC236}">
                <a16:creationId xmlns:a16="http://schemas.microsoft.com/office/drawing/2014/main" id="{F376671A-0CB6-4252-86B6-F049A146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905000"/>
            <a:ext cx="4000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math-title">
            <a:extLst xmlns:a="http://schemas.openxmlformats.org/drawingml/2006/main">
              <a:ext uri="{FF2B5EF4-FFF2-40B4-BE49-F238E27FC236}">
                <a16:creationId xmlns:a16="http://schemas.microsoft.com/office/drawing/2014/main" id="{32069142-9825-4B13-807E-FD48177B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57400"/>
            <a:ext cx="405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63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163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De mejora aleatoria a criterio</a:t>
            </a:r>
          </a:p>
        </p:txBody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9555ac161542af"/>
          <a:stretch xmlns:a="http://schemas.openxmlformats.org/drawingml/2006/main"/>
        </p:blipFill>
        <p:spPr>
          <a:xfrm xmlns:a="http://schemas.openxmlformats.org/drawingml/2006/main">
            <a:off x="7810975" y="2305050"/>
            <a:ext cx="989650" cy="266700"/>
          </a:xfrm>
          <a:prstGeom xmlns:a="http://schemas.openxmlformats.org/drawingml/2006/main" prst="rect">
            <a:avLst/>
          </a:prstGeom>
        </p:spPr>
      </p:pic>
      <p:sp>
        <p:nvSpPr>
          <p:cNvPr id="21" name="incumbent-note">
            <a:extLst xmlns:a="http://schemas.openxmlformats.org/drawingml/2006/main">
              <a:ext uri="{FF2B5EF4-FFF2-40B4-BE49-F238E27FC236}">
                <a16:creationId xmlns:a16="http://schemas.microsoft.com/office/drawing/2014/main" id="{B0C3C9EC-C5B1-4F77-A9C4-7829E1B6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362200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40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40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incumbent: referencia que EI intenta mejorar</a:t>
            </a:r>
          </a:p>
        </p:txBody>
      </p:sp>
      <p:sp>
        <p:nvSpPr>
          <p:cNvPr id="22" name="right-rule-1">
            <a:extLst xmlns:a="http://schemas.openxmlformats.org/drawingml/2006/main">
              <a:ext uri="{FF2B5EF4-FFF2-40B4-BE49-F238E27FC236}">
                <a16:creationId xmlns:a16="http://schemas.microsoft.com/office/drawing/2014/main" id="{E3AE8A5A-1624-4885-8C6B-81E4EBCB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86050"/>
            <a:ext cx="405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DAD1"/>
            </a:solidFill>
            <a:prstDash val="solid"/>
          </a:ln>
        </p:spPr>
      </p:sp>
      <p:sp>
        <p:nvSpPr>
          <p:cNvPr id="23" name="posterior-title">
            <a:extLst xmlns:a="http://schemas.openxmlformats.org/drawingml/2006/main">
              <a:ext uri="{FF2B5EF4-FFF2-40B4-BE49-F238E27FC236}">
                <a16:creationId xmlns:a16="http://schemas.microsoft.com/office/drawing/2014/main" id="{129BFFB6-43EF-40AB-8177-06338F2A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19400"/>
            <a:ext cx="405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60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60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El candidato aún es incierto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f8d7433e8d462e"/>
          <a:stretch xmlns:a="http://schemas.openxmlformats.org/drawingml/2006/main"/>
        </p:blipFill>
        <p:spPr>
          <a:xfrm xmlns:a="http://schemas.openxmlformats.org/drawingml/2006/main">
            <a:off x="7939768" y="3028950"/>
            <a:ext cx="2408464" cy="285750"/>
          </a:xfrm>
          <a:prstGeom xmlns:a="http://schemas.openxmlformats.org/drawingml/2006/main" prst="rect">
            <a:avLst/>
          </a:prstGeom>
        </p:spPr>
      </p:pic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ffd637f0774454"/>
          <a:stretch xmlns:a="http://schemas.openxmlformats.org/drawingml/2006/main"/>
        </p:blipFill>
        <p:spPr>
          <a:xfrm xmlns:a="http://schemas.openxmlformats.org/drawingml/2006/main">
            <a:off x="7481249" y="3352800"/>
            <a:ext cx="2792102" cy="295275"/>
          </a:xfrm>
          <a:prstGeom xmlns:a="http://schemas.openxmlformats.org/drawingml/2006/main" prst="rect">
            <a:avLst/>
          </a:prstGeom>
        </p:spPr>
      </p:pic>
      <p:sp>
        <p:nvSpPr>
          <p:cNvPr id="26" name="improvement-note">
            <a:extLst xmlns:a="http://schemas.openxmlformats.org/drawingml/2006/main">
              <a:ext uri="{FF2B5EF4-FFF2-40B4-BE49-F238E27FC236}">
                <a16:creationId xmlns:a16="http://schemas.microsoft.com/office/drawing/2014/main" id="{1372F762-6FAD-4B31-81FF-6CA6EBCC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95700"/>
            <a:ext cx="405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55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55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Por debajo del incumbent hay mejora; si no, la mejora es cero.</a:t>
            </a:r>
          </a:p>
        </p:txBody>
      </p:sp>
      <p:sp>
        <p:nvSpPr>
          <p:cNvPr id="27" name="right-rule-2">
            <a:extLst xmlns:a="http://schemas.openxmlformats.org/drawingml/2006/main">
              <a:ext uri="{FF2B5EF4-FFF2-40B4-BE49-F238E27FC236}">
                <a16:creationId xmlns:a16="http://schemas.microsoft.com/office/drawing/2014/main" id="{1BC4DAEB-4765-4536-915D-14A9CEBF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48125"/>
            <a:ext cx="405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DAD1"/>
            </a:solidFill>
            <a:prstDash val="solid"/>
          </a:ln>
        </p:spPr>
      </p:sp>
      <p:sp>
        <p:nvSpPr>
          <p:cNvPr id="28" name="ei-title">
            <a:extLst xmlns:a="http://schemas.openxmlformats.org/drawingml/2006/main">
              <a:ext uri="{FF2B5EF4-FFF2-40B4-BE49-F238E27FC236}">
                <a16:creationId xmlns:a16="http://schemas.microsoft.com/office/drawing/2014/main" id="{7C4CEACA-270D-4719-AD91-BE1A42B3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1719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60" b="1">
                <a:solidFill>
                  <a:srgbClr val="C9822B"/>
                </a:solidFill>
                <a:latin typeface="Google Sans"/>
                <a:ea typeface="Google Sans"/>
                <a:cs typeface="Google Sans"/>
              </a:defRPr>
            </a:pPr>
            <a:r>
              <a:rPr sz="960" b="1">
                <a:solidFill>
                  <a:srgbClr val="C9822B"/>
                </a:solidFill>
                <a:latin typeface="Google Sans"/>
                <a:ea typeface="Google Sans"/>
                <a:cs typeface="Google Sans"/>
              </a:rPr>
              <a:t>Expected Improvement</a:t>
            </a:r>
          </a:p>
        </p:txBody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fbf109577e4633"/>
          <a:stretch xmlns:a="http://schemas.openxmlformats.org/drawingml/2006/main"/>
        </p:blipFill>
        <p:spPr>
          <a:xfrm xmlns:a="http://schemas.openxmlformats.org/drawingml/2006/main">
            <a:off x="7561201" y="4400550"/>
            <a:ext cx="2060697" cy="285750"/>
          </a:xfrm>
          <a:prstGeom xmlns:a="http://schemas.openxmlformats.org/drawingml/2006/main" prst="rect">
            <a:avLst/>
          </a:prstGeom>
        </p:spPr>
      </p:pic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3a7ba30781435f"/>
          <a:stretch xmlns:a="http://schemas.openxmlformats.org/drawingml/2006/main"/>
        </p:blipFill>
        <p:spPr>
          <a:xfrm xmlns:a="http://schemas.openxmlformats.org/drawingml/2006/main">
            <a:off x="7429500" y="4737931"/>
            <a:ext cx="3714750" cy="277738"/>
          </a:xfrm>
          <a:prstGeom xmlns:a="http://schemas.openxmlformats.org/drawingml/2006/main" prst="rect">
            <a:avLst/>
          </a:prstGeom>
        </p:spPr>
      </p:pic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da1a34005b4740"/>
          <a:stretch xmlns:a="http://schemas.openxmlformats.org/drawingml/2006/main"/>
        </p:blipFill>
        <p:spPr>
          <a:xfrm xmlns:a="http://schemas.openxmlformats.org/drawingml/2006/main">
            <a:off x="7819818" y="5067300"/>
            <a:ext cx="838613" cy="323850"/>
          </a:xfrm>
          <a:prstGeom xmlns:a="http://schemas.openxmlformats.org/drawingml/2006/main" prst="rect">
            <a:avLst/>
          </a:prstGeom>
        </p:spPr>
      </p:pic>
      <p:sp>
        <p:nvSpPr>
          <p:cNvPr id="32" name="z-note">
            <a:extLst xmlns:a="http://schemas.openxmlformats.org/drawingml/2006/main">
              <a:ext uri="{FF2B5EF4-FFF2-40B4-BE49-F238E27FC236}">
                <a16:creationId xmlns:a16="http://schemas.microsoft.com/office/drawing/2014/main" id="{671E4EB3-09A3-46C5-BD5D-272638ED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105400"/>
            <a:ext cx="2247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0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0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Z mide la distancia al incumbent en unidades de incertidumbre.</a:t>
            </a:r>
          </a:p>
        </p:txBody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7d2368ccba4386"/>
          <a:stretch xmlns:a="http://schemas.openxmlformats.org/drawingml/2006/main"/>
        </p:blipFill>
        <p:spPr>
          <a:xfrm xmlns:a="http://schemas.openxmlformats.org/drawingml/2006/main">
            <a:off x="9144000" y="5343641"/>
            <a:ext cx="2152650" cy="142642"/>
          </a:xfrm>
          <a:prstGeom xmlns:a="http://schemas.openxmlformats.org/drawingml/2006/main" prst="rect">
            <a:avLst/>
          </a:prstGeom>
        </p:spPr>
      </p:pic>
      <p:sp>
        <p:nvSpPr>
          <p:cNvPr id="34" name="right-rule-3">
            <a:extLst xmlns:a="http://schemas.openxmlformats.org/drawingml/2006/main">
              <a:ext uri="{FF2B5EF4-FFF2-40B4-BE49-F238E27FC236}">
                <a16:creationId xmlns:a16="http://schemas.microsoft.com/office/drawing/2014/main" id="{68E07833-AD9C-4BF8-A03E-0A5F8765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581650"/>
            <a:ext cx="405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DAD1"/>
            </a:solidFill>
            <a:prstDash val="solid"/>
          </a:ln>
        </p:spPr>
      </p:sp>
      <p:sp>
        <p:nvSpPr>
          <p:cNvPr id="35" name="exploit-term-dot">
            <a:extLst xmlns:a="http://schemas.openxmlformats.org/drawingml/2006/main">
              <a:ext uri="{FF2B5EF4-FFF2-40B4-BE49-F238E27FC236}">
                <a16:creationId xmlns:a16="http://schemas.microsoft.com/office/drawing/2014/main" id="{78E6589A-F776-4C09-92EE-37D0F3D7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753100"/>
            <a:ext cx="71438" cy="714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d56cccfd84471f"/>
          <a:stretch xmlns:a="http://schemas.openxmlformats.org/drawingml/2006/main"/>
        </p:blipFill>
        <p:spPr>
          <a:xfrm xmlns:a="http://schemas.openxmlformats.org/drawingml/2006/main">
            <a:off x="7630528" y="5667375"/>
            <a:ext cx="1579145" cy="247650"/>
          </a:xfrm>
          <a:prstGeom xmlns:a="http://schemas.openxmlformats.org/drawingml/2006/main" prst="rect">
            <a:avLst/>
          </a:prstGeom>
        </p:spPr>
      </p:pic>
      <p:sp>
        <p:nvSpPr>
          <p:cNvPr id="37" name="exploit-term-copy">
            <a:extLst xmlns:a="http://schemas.openxmlformats.org/drawingml/2006/main">
              <a:ext uri="{FF2B5EF4-FFF2-40B4-BE49-F238E27FC236}">
                <a16:creationId xmlns:a16="http://schemas.microsoft.com/office/drawing/2014/main" id="{97FAADA9-9231-4EE1-B0C6-76034F7B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7245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95" b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795" b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más ligado a explotación</a:t>
            </a:r>
          </a:p>
        </p:txBody>
      </p:sp>
      <p:sp>
        <p:nvSpPr>
          <p:cNvPr id="38" name="explore-term-dot">
            <a:extLst xmlns:a="http://schemas.openxmlformats.org/drawingml/2006/main">
              <a:ext uri="{FF2B5EF4-FFF2-40B4-BE49-F238E27FC236}">
                <a16:creationId xmlns:a16="http://schemas.microsoft.com/office/drawing/2014/main" id="{6A8B581C-43BD-4CF9-8EE2-6F2842BF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000750"/>
            <a:ext cx="71438" cy="714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da1bb46f8d48ac"/>
          <a:stretch xmlns:a="http://schemas.openxmlformats.org/drawingml/2006/main"/>
        </p:blipFill>
        <p:spPr>
          <a:xfrm xmlns:a="http://schemas.openxmlformats.org/drawingml/2006/main">
            <a:off x="7678725" y="5924550"/>
            <a:ext cx="796951" cy="238125"/>
          </a:xfrm>
          <a:prstGeom xmlns:a="http://schemas.openxmlformats.org/drawingml/2006/main" prst="rect">
            <a:avLst/>
          </a:prstGeom>
        </p:spPr>
      </p:pic>
      <p:sp>
        <p:nvSpPr>
          <p:cNvPr id="40" name="explore-term-copy">
            <a:extLst xmlns:a="http://schemas.openxmlformats.org/drawingml/2006/main">
              <a:ext uri="{FF2B5EF4-FFF2-40B4-BE49-F238E27FC236}">
                <a16:creationId xmlns:a16="http://schemas.microsoft.com/office/drawing/2014/main" id="{889B52B2-FA2D-4C82-85FF-3951BE34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9817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95" b="0">
                <a:solidFill>
                  <a:srgbClr val="C9822B"/>
                </a:solidFill>
                <a:latin typeface="Google Sans"/>
                <a:ea typeface="Google Sans"/>
                <a:cs typeface="Google Sans"/>
              </a:defRPr>
            </a:pPr>
            <a:r>
              <a:rPr sz="795" b="0">
                <a:solidFill>
                  <a:srgbClr val="C9822B"/>
                </a:solidFill>
                <a:latin typeface="Google Sans"/>
                <a:ea typeface="Google Sans"/>
                <a:cs typeface="Google Sans"/>
              </a:rPr>
              <a:t>más ligado a exploración</a:t>
            </a:r>
          </a:p>
        </p:txBody>
      </p:sp>
      <p:sp>
        <p:nvSpPr>
          <p:cNvPr id="41" name="bottom-divider">
            <a:extLst xmlns:a="http://schemas.openxmlformats.org/drawingml/2006/main">
              <a:ext uri="{FF2B5EF4-FFF2-40B4-BE49-F238E27FC236}">
                <a16:creationId xmlns:a16="http://schemas.microsoft.com/office/drawing/2014/main" id="{9F6DFDD2-CF2C-4B9F-BE4F-5EDCEE81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4CCC0"/>
            </a:solidFill>
            <a:prstDash val="solid"/>
          </a:ln>
        </p:spPr>
      </p:sp>
      <p:sp>
        <p:nvSpPr>
          <p:cNvPr id="42" name="decision-accent">
            <a:extLst xmlns:a="http://schemas.openxmlformats.org/drawingml/2006/main">
              <a:ext uri="{FF2B5EF4-FFF2-40B4-BE49-F238E27FC236}">
                <a16:creationId xmlns:a16="http://schemas.microsoft.com/office/drawing/2014/main" id="{6E85E4EA-D515-4BA1-80DB-FF12C24F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decision-label">
            <a:extLst xmlns:a="http://schemas.openxmlformats.org/drawingml/2006/main">
              <a:ext uri="{FF2B5EF4-FFF2-40B4-BE49-F238E27FC236}">
                <a16:creationId xmlns:a16="http://schemas.microsoft.com/office/drawing/2014/main" id="{E146FDF6-7CC3-434F-8760-170EDDE6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1">
                <a:solidFill>
                  <a:srgbClr val="2F7D6D"/>
                </a:solidFill>
                <a:latin typeface="Google Sans"/>
                <a:ea typeface="Google Sans"/>
                <a:cs typeface="Google Sans"/>
              </a:defRPr>
            </a:pPr>
            <a:r>
              <a:rPr sz="938" b="1">
                <a:solidFill>
                  <a:srgbClr val="2F7D6D"/>
                </a:solidFill>
                <a:latin typeface="Google Sans"/>
                <a:ea typeface="Google Sans"/>
                <a:cs typeface="Google Sans"/>
              </a:rPr>
              <a:t>Regla de decisión SBO</a:t>
            </a:r>
          </a:p>
        </p:txBody>
      </p:sp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2e8f39170c4748"/>
          <a:stretch xmlns:a="http://schemas.openxmlformats.org/drawingml/2006/main"/>
        </p:blipFill>
        <p:spPr>
          <a:xfrm xmlns:a="http://schemas.openxmlformats.org/drawingml/2006/main">
            <a:off x="2981746" y="6286500"/>
            <a:ext cx="2018459" cy="342900"/>
          </a:xfrm>
          <a:prstGeom xmlns:a="http://schemas.openxmlformats.org/drawingml/2006/main" prst="rect">
            <a:avLst/>
          </a:prstGeom>
        </p:spPr>
      </p:pic>
      <p:sp>
        <p:nvSpPr>
          <p:cNvPr id="45" name="bottom-takeaway">
            <a:extLst xmlns:a="http://schemas.openxmlformats.org/drawingml/2006/main">
              <a:ext uri="{FF2B5EF4-FFF2-40B4-BE49-F238E27FC236}">
                <a16:creationId xmlns:a16="http://schemas.microsoft.com/office/drawing/2014/main" id="{1BD7BA2F-2DFB-4527-AA2E-404651F0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334125"/>
            <a:ext cx="546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45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945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EI convierte la posterior probabilística del GP en una prioridad: evaluar donde la mejora esperada es mayor.</a:t>
            </a:r>
          </a:p>
        </p:txBody>
      </p:sp>
      <p:sp>
        <p:nvSpPr>
          <p:cNvPr id="4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F12E4BD-0ADD-44D4-BBC4-4AD5E2EE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1912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20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421208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2026-07-02T16:14:55.6640000Z</dcterms:created>
  <dcterms:modified xsi:type="dcterms:W3CDTF">2026-07-02T16:14:55.6650000Z</dcterms:modified>
</coreProperties>
</file>