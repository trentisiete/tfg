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1b02bec444a9b" /><Relationship Type="http://schemas.openxmlformats.org/officeDocument/2006/relationships/extended-properties" Target="/docProps/app.xml" Id="Rf4a168b00a28477a" /><Relationship Type="http://schemas.openxmlformats.org/officeDocument/2006/relationships/officeDocument" Target="/ppt/presentation.xml" Id="R87e387f9979c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626c99c4d4ce8"/>
  </p:sldMasterIdLst>
  <p:notesMasterIdLst>
    <p:notesMasterId xmlns:r="http://schemas.openxmlformats.org/officeDocument/2006/relationships" r:id="Rc289d207871a4c4a"/>
  </p:notesMasterIdLst>
  <p:sldIdLst>
    <p:sldId xmlns:r="http://schemas.openxmlformats.org/officeDocument/2006/relationships" id="256" r:id="R98c257e2dcb946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38e81c09a04559" /><Relationship Type="http://schemas.openxmlformats.org/officeDocument/2006/relationships/slideMaster" Target="/ppt/slideMasters/slideMaster1.xml" Id="Rc3c626c99c4d4ce8" /><Relationship Type="http://schemas.openxmlformats.org/officeDocument/2006/relationships/notesMaster" Target="/ppt/notesMasters/notesMaster1.xml" Id="Rc289d207871a4c4a" /><Relationship Type="http://schemas.openxmlformats.org/officeDocument/2006/relationships/presProps" Target="/ppt/presProps.xml" Id="Rcfd573993c904dfe" /><Relationship Type="http://schemas.openxmlformats.org/officeDocument/2006/relationships/tableStyles" Target="/ppt/tableStyles.xml" Id="R1fbe29ee4f0f4aab" /><Relationship Type="http://schemas.openxmlformats.org/officeDocument/2006/relationships/slide" Target="/ppt/slides/slide1.xml" Id="R98c257e2dcb9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c97316fc78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b4667793440d3" /><Relationship Type="http://schemas.openxmlformats.org/officeDocument/2006/relationships/notesMaster" Target="/ppt/notesMasters/notesMaster1.xml" Id="R5d3fe3f0b3e14e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3006d08aa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2eb7da597e493b" /><Relationship Type="http://schemas.openxmlformats.org/officeDocument/2006/relationships/slideLayout" Target="/ppt/slideLayouts/slideLayout1.xml" Id="R10537d099b5f40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37d099b5f40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4e4467643473f" /><Relationship Type="http://schemas.openxmlformats.org/officeDocument/2006/relationships/image" Target="/ppt/media/image.png" Id="Rda5ea5d112444e6b" /><Relationship Type="http://schemas.openxmlformats.org/officeDocument/2006/relationships/image" Target="/ppt/media/image2.png" Id="R342a63c4ffb84861" /><Relationship Type="http://schemas.openxmlformats.org/officeDocument/2006/relationships/image" Target="/ppt/media/image3.png" Id="R847d44488b78437e" /><Relationship Type="http://schemas.openxmlformats.org/officeDocument/2006/relationships/image" Target="/ppt/media/image4.png" Id="R16787bb788344674" /><Relationship Type="http://schemas.openxmlformats.org/officeDocument/2006/relationships/image" Target="/ppt/media/image5.png" Id="R60206f7e6c72460b" /><Relationship Type="http://schemas.openxmlformats.org/officeDocument/2006/relationships/image" Target="/ppt/media/image6.png" Id="R8ebfde8a489e4c4b" /><Relationship Type="http://schemas.openxmlformats.org/officeDocument/2006/relationships/notesSlide" Target="/ppt/notesSlides/notesSlide1.xml" Id="R073768a2de8a41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C2913B-A81C-4791-9DC1-9DDEA357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BENCHMARKS SINTÉTICOS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33B02E-5F47-4CA0-BEF1-D05FEF3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6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66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Experimento sintético: benchmarks y diseño de prueba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84C67B7-5A71-4008-8E2F-0DADAEEA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9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9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Funciones conocidas tratadas como cajas negras para evaluar el comportamiento de GP + EI con presupuesto limitado.</a:t>
            </a:r>
          </a:p>
        </p:txBody>
      </p:sp>
      <p:sp>
        <p:nvSpPr>
          <p:cNvPr id="4" name="benchmarks-title">
            <a:extLst xmlns:a="http://schemas.openxmlformats.org/drawingml/2006/main">
              <a:ext uri="{FF2B5EF4-FFF2-40B4-BE49-F238E27FC236}">
                <a16:creationId xmlns:a16="http://schemas.microsoft.com/office/drawing/2014/main" id="{5955D4BA-019D-409D-A244-0D198AD3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05511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5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5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Benchmarks</a:t>
            </a:r>
          </a:p>
        </p:txBody>
      </p:sp>
      <p:sp>
        <p:nvSpPr>
          <p:cNvPr id="5" name="benchmarks-note">
            <a:extLst xmlns:a="http://schemas.openxmlformats.org/drawingml/2006/main">
              <a:ext uri="{FF2B5EF4-FFF2-40B4-BE49-F238E27FC236}">
                <a16:creationId xmlns:a16="http://schemas.microsoft.com/office/drawing/2014/main" id="{B2FD759B-512C-4AC3-8C55-42ADF59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316" y="1800225"/>
            <a:ext cx="170078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progresión 1D → 8D</a:t>
            </a:r>
          </a:p>
        </p:txBody>
      </p:sp>
      <p:sp>
        <p:nvSpPr>
          <p:cNvPr id="6" name="benchmarks-rule">
            <a:extLst xmlns:a="http://schemas.openxmlformats.org/drawingml/2006/main">
              <a:ext uri="{FF2B5EF4-FFF2-40B4-BE49-F238E27FC236}">
                <a16:creationId xmlns:a16="http://schemas.microsoft.com/office/drawing/2014/main" id="{06AB3788-0E7C-49D6-A388-2A3A321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7" name="bench-head-name">
            <a:extLst xmlns:a="http://schemas.openxmlformats.org/drawingml/2006/main">
              <a:ext uri="{FF2B5EF4-FFF2-40B4-BE49-F238E27FC236}">
                <a16:creationId xmlns:a16="http://schemas.microsoft.com/office/drawing/2014/main" id="{B472C0E9-627A-44AC-809C-B5AFAC21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45" b="1">
                <a:solidFill>
                  <a:srgbClr val="6B7280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6B7280"/>
                </a:solidFill>
                <a:latin typeface="Google Sans"/>
                <a:ea typeface="Google Sans"/>
                <a:cs typeface="Google Sans"/>
              </a:rPr>
              <a:t>BENCHMARK</a:t>
            </a:r>
          </a:p>
        </p:txBody>
      </p:sp>
      <p:sp>
        <p:nvSpPr>
          <p:cNvPr id="8" name="bench-head-dim">
            <a:extLst xmlns:a="http://schemas.openxmlformats.org/drawingml/2006/main">
              <a:ext uri="{FF2B5EF4-FFF2-40B4-BE49-F238E27FC236}">
                <a16:creationId xmlns:a16="http://schemas.microsoft.com/office/drawing/2014/main" id="{9ED4DD55-F2DB-473F-9D0A-262A228A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22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45" b="1">
                <a:solidFill>
                  <a:srgbClr val="6B7280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6B7280"/>
                </a:solidFill>
                <a:latin typeface="Google Sans"/>
                <a:ea typeface="Google Sans"/>
                <a:cs typeface="Google Sans"/>
              </a:rPr>
              <a:t>DIM.</a:t>
            </a:r>
          </a:p>
        </p:txBody>
      </p:sp>
      <p:sp>
        <p:nvSpPr>
          <p:cNvPr id="9" name="bench-head-role">
            <a:extLst xmlns:a="http://schemas.openxmlformats.org/drawingml/2006/main">
              <a:ext uri="{FF2B5EF4-FFF2-40B4-BE49-F238E27FC236}">
                <a16:creationId xmlns:a16="http://schemas.microsoft.com/office/drawing/2014/main" id="{CA24CEBD-9BF9-4106-B39E-0DB871E0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2885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45" b="1">
                <a:solidFill>
                  <a:srgbClr val="6B7280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6B7280"/>
                </a:solidFill>
                <a:latin typeface="Google Sans"/>
                <a:ea typeface="Google Sans"/>
                <a:cs typeface="Google Sans"/>
              </a:rPr>
              <a:t>PAPEL EN LA PRUEBA</a:t>
            </a:r>
          </a:p>
        </p:txBody>
      </p:sp>
      <p:sp>
        <p:nvSpPr>
          <p:cNvPr id="10" name="bench-row-line-0">
            <a:extLst xmlns:a="http://schemas.openxmlformats.org/drawingml/2006/main">
              <a:ext uri="{FF2B5EF4-FFF2-40B4-BE49-F238E27FC236}">
                <a16:creationId xmlns:a16="http://schemas.microsoft.com/office/drawing/2014/main" id="{9D790925-61A2-4E92-98CB-F57FF4B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11" name="bench-0-name">
            <a:extLst xmlns:a="http://schemas.openxmlformats.org/drawingml/2006/main">
              <a:ext uri="{FF2B5EF4-FFF2-40B4-BE49-F238E27FC236}">
                <a16:creationId xmlns:a16="http://schemas.microsoft.com/office/drawing/2014/main" id="{C7FF9183-344E-4417-8B52-10887DC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Forrester</a:t>
            </a:r>
          </a:p>
        </p:txBody>
      </p:sp>
      <p:sp>
        <p:nvSpPr>
          <p:cNvPr id="12" name="bench-0-dim">
            <a:extLst xmlns:a="http://schemas.openxmlformats.org/drawingml/2006/main">
              <a:ext uri="{FF2B5EF4-FFF2-40B4-BE49-F238E27FC236}">
                <a16:creationId xmlns:a16="http://schemas.microsoft.com/office/drawing/2014/main" id="{43ACFDC1-1396-4E3A-8FF4-3D221918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24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1D</a:t>
            </a:r>
          </a:p>
        </p:txBody>
      </p:sp>
      <p:sp>
        <p:nvSpPr>
          <p:cNvPr id="13" name="bench-0-role">
            <a:extLst xmlns:a="http://schemas.openxmlformats.org/drawingml/2006/main">
              <a:ext uri="{FF2B5EF4-FFF2-40B4-BE49-F238E27FC236}">
                <a16:creationId xmlns:a16="http://schemas.microsoft.com/office/drawing/2014/main" id="{10BFE01B-946F-4155-A110-BBE079D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24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visual / interpretable</a:t>
            </a:r>
          </a:p>
        </p:txBody>
      </p:sp>
      <p:sp>
        <p:nvSpPr>
          <p:cNvPr id="14" name="bench-row-line-1">
            <a:extLst xmlns:a="http://schemas.openxmlformats.org/drawingml/2006/main">
              <a:ext uri="{FF2B5EF4-FFF2-40B4-BE49-F238E27FC236}">
                <a16:creationId xmlns:a16="http://schemas.microsoft.com/office/drawing/2014/main" id="{8070F7E8-03AB-4E77-B734-AB8BCE51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15" name="bench-1-name">
            <a:extLst xmlns:a="http://schemas.openxmlformats.org/drawingml/2006/main">
              <a:ext uri="{FF2B5EF4-FFF2-40B4-BE49-F238E27FC236}">
                <a16:creationId xmlns:a16="http://schemas.microsoft.com/office/drawing/2014/main" id="{75D40E63-5DD3-4603-BBEA-C2D3A2E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Branin</a:t>
            </a:r>
          </a:p>
        </p:txBody>
      </p:sp>
      <p:sp>
        <p:nvSpPr>
          <p:cNvPr id="16" name="bench-1-dim">
            <a:extLst xmlns:a="http://schemas.openxmlformats.org/drawingml/2006/main">
              <a:ext uri="{FF2B5EF4-FFF2-40B4-BE49-F238E27FC236}">
                <a16:creationId xmlns:a16="http://schemas.microsoft.com/office/drawing/2014/main" id="{6933ADD4-81E0-476F-8DD2-7B258ADA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146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2D</a:t>
            </a:r>
          </a:p>
        </p:txBody>
      </p:sp>
      <p:sp>
        <p:nvSpPr>
          <p:cNvPr id="17" name="bench-1-role">
            <a:extLst xmlns:a="http://schemas.openxmlformats.org/drawingml/2006/main">
              <a:ext uri="{FF2B5EF4-FFF2-40B4-BE49-F238E27FC236}">
                <a16:creationId xmlns:a16="http://schemas.microsoft.com/office/drawing/2014/main" id="{5640C914-1DBE-4FD0-BC9B-22AEFC6B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multimodal</a:t>
            </a:r>
          </a:p>
        </p:txBody>
      </p:sp>
      <p:sp>
        <p:nvSpPr>
          <p:cNvPr id="18" name="bench-row-line-2">
            <a:extLst xmlns:a="http://schemas.openxmlformats.org/drawingml/2006/main">
              <a:ext uri="{FF2B5EF4-FFF2-40B4-BE49-F238E27FC236}">
                <a16:creationId xmlns:a16="http://schemas.microsoft.com/office/drawing/2014/main" id="{1F493903-238C-46D9-A5D4-CA0B46F5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19" name="bench-2-name">
            <a:extLst xmlns:a="http://schemas.openxmlformats.org/drawingml/2006/main">
              <a:ext uri="{FF2B5EF4-FFF2-40B4-BE49-F238E27FC236}">
                <a16:creationId xmlns:a16="http://schemas.microsoft.com/office/drawing/2014/main" id="{FCB62B62-0ECE-4BEF-AF5F-D6F502E0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Hartmann6</a:t>
            </a:r>
          </a:p>
        </p:txBody>
      </p:sp>
      <p:sp>
        <p:nvSpPr>
          <p:cNvPr id="20" name="bench-2-dim">
            <a:extLst xmlns:a="http://schemas.openxmlformats.org/drawingml/2006/main">
              <a:ext uri="{FF2B5EF4-FFF2-40B4-BE49-F238E27FC236}">
                <a16:creationId xmlns:a16="http://schemas.microsoft.com/office/drawing/2014/main" id="{6617AAE7-23E2-4185-982E-7B575C36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051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6D</a:t>
            </a:r>
          </a:p>
        </p:txBody>
      </p:sp>
      <p:sp>
        <p:nvSpPr>
          <p:cNvPr id="21" name="bench-2-role">
            <a:extLst xmlns:a="http://schemas.openxmlformats.org/drawingml/2006/main">
              <a:ext uri="{FF2B5EF4-FFF2-40B4-BE49-F238E27FC236}">
                <a16:creationId xmlns:a16="http://schemas.microsoft.com/office/drawing/2014/main" id="{52A9C8F7-042A-4623-8001-8EAC1EBC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05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mayor dimensionalidad</a:t>
            </a:r>
          </a:p>
        </p:txBody>
      </p:sp>
      <p:sp>
        <p:nvSpPr>
          <p:cNvPr id="22" name="bench-row-line-3">
            <a:extLst xmlns:a="http://schemas.openxmlformats.org/drawingml/2006/main">
              <a:ext uri="{FF2B5EF4-FFF2-40B4-BE49-F238E27FC236}">
                <a16:creationId xmlns:a16="http://schemas.microsoft.com/office/drawing/2014/main" id="{7B089863-8AF9-4AFD-90D1-FA1483CB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23" name="bench-3-name">
            <a:extLst xmlns:a="http://schemas.openxmlformats.org/drawingml/2006/main">
              <a:ext uri="{FF2B5EF4-FFF2-40B4-BE49-F238E27FC236}">
                <a16:creationId xmlns:a16="http://schemas.microsoft.com/office/drawing/2014/main" id="{9124BF79-22C6-47FC-92BC-7F9EF45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4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Borehole</a:t>
            </a:r>
          </a:p>
        </p:txBody>
      </p:sp>
      <p:sp>
        <p:nvSpPr>
          <p:cNvPr id="24" name="bench-3-dim">
            <a:extLst xmlns:a="http://schemas.openxmlformats.org/drawingml/2006/main">
              <a:ext uri="{FF2B5EF4-FFF2-40B4-BE49-F238E27FC236}">
                <a16:creationId xmlns:a16="http://schemas.microsoft.com/office/drawing/2014/main" id="{641E9AA4-A04F-4DF0-A7A4-C9C29F69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957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8D</a:t>
            </a:r>
          </a:p>
        </p:txBody>
      </p:sp>
      <p:sp>
        <p:nvSpPr>
          <p:cNvPr id="25" name="bench-3-role">
            <a:extLst xmlns:a="http://schemas.openxmlformats.org/drawingml/2006/main">
              <a:ext uri="{FF2B5EF4-FFF2-40B4-BE49-F238E27FC236}">
                <a16:creationId xmlns:a16="http://schemas.microsoft.com/office/drawing/2014/main" id="{E7E1845F-2CDB-46EE-AADE-356F5003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inspiración ingenieril</a:t>
            </a:r>
          </a:p>
        </p:txBody>
      </p:sp>
      <p:sp>
        <p:nvSpPr>
          <p:cNvPr id="26" name="bench-read">
            <a:extLst xmlns:a="http://schemas.openxmlformats.org/drawingml/2006/main">
              <a:ext uri="{FF2B5EF4-FFF2-40B4-BE49-F238E27FC236}">
                <a16:creationId xmlns:a16="http://schemas.microsoft.com/office/drawing/2014/main" id="{B13D0F81-BC68-4E56-8B28-3FF298F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Cuatro funciones conocidas, tratadas como cajas negras costosas.</a:t>
            </a:r>
          </a:p>
        </p:txBody>
      </p:sp>
      <p:sp>
        <p:nvSpPr>
          <p:cNvPr id="27" name="design-title">
            <a:extLst xmlns:a="http://schemas.openxmlformats.org/drawingml/2006/main">
              <a:ext uri="{FF2B5EF4-FFF2-40B4-BE49-F238E27FC236}">
                <a16:creationId xmlns:a16="http://schemas.microsoft.com/office/drawing/2014/main" id="{D133AAF2-80F7-475A-AE11-1A555EA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401078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5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5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Diseño experimental</a:t>
            </a:r>
          </a:p>
        </p:txBody>
      </p:sp>
      <p:sp>
        <p:nvSpPr>
          <p:cNvPr id="28" name="design-note">
            <a:extLst xmlns:a="http://schemas.openxmlformats.org/drawingml/2006/main">
              <a:ext uri="{FF2B5EF4-FFF2-40B4-BE49-F238E27FC236}">
                <a16:creationId xmlns:a16="http://schemas.microsoft.com/office/drawing/2014/main" id="{DF1A0BD6-15A8-4AA1-84B1-C1603388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928" y="1800225"/>
            <a:ext cx="331927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configuración de prueba</a:t>
            </a:r>
          </a:p>
        </p:txBody>
      </p:sp>
      <p:sp>
        <p:nvSpPr>
          <p:cNvPr id="29" name="design-rule">
            <a:extLst xmlns:a="http://schemas.openxmlformats.org/drawingml/2006/main">
              <a:ext uri="{FF2B5EF4-FFF2-40B4-BE49-F238E27FC236}">
                <a16:creationId xmlns:a16="http://schemas.microsoft.com/office/drawing/2014/main" id="{1B1620C7-DCB6-45CE-9ABE-705C2183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30" name="design-vline">
            <a:extLst xmlns:a="http://schemas.openxmlformats.org/drawingml/2006/main">
              <a:ext uri="{FF2B5EF4-FFF2-40B4-BE49-F238E27FC236}">
                <a16:creationId xmlns:a16="http://schemas.microsoft.com/office/drawing/2014/main" id="{08AA9C04-1F35-46EB-887C-660CC29C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4790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">
            <a:solidFill>
              <a:srgbClr val="DCD6CC"/>
            </a:solidFill>
            <a:prstDash val="solid"/>
          </a:ln>
        </p:spPr>
      </p:sp>
      <p:sp>
        <p:nvSpPr>
          <p:cNvPr id="31" name="design-left-row-1">
            <a:extLst xmlns:a="http://schemas.openxmlformats.org/drawingml/2006/main">
              <a:ext uri="{FF2B5EF4-FFF2-40B4-BE49-F238E27FC236}">
                <a16:creationId xmlns:a16="http://schemas.microsoft.com/office/drawing/2014/main" id="{2F6571A6-11AD-4542-AB69-8DC6BE8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2" name="design-right-row-1">
            <a:extLst xmlns:a="http://schemas.openxmlformats.org/drawingml/2006/main">
              <a:ext uri="{FF2B5EF4-FFF2-40B4-BE49-F238E27FC236}">
                <a16:creationId xmlns:a16="http://schemas.microsoft.com/office/drawing/2014/main" id="{0D63D486-7188-43D8-BF30-97F52361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3" name="design-left-row-2">
            <a:extLst xmlns:a="http://schemas.openxmlformats.org/drawingml/2006/main">
              <a:ext uri="{FF2B5EF4-FFF2-40B4-BE49-F238E27FC236}">
                <a16:creationId xmlns:a16="http://schemas.microsoft.com/office/drawing/2014/main" id="{6C2F8916-5156-4EDA-9247-D546028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4" name="design-right-row-2">
            <a:extLst xmlns:a="http://schemas.openxmlformats.org/drawingml/2006/main">
              <a:ext uri="{FF2B5EF4-FFF2-40B4-BE49-F238E27FC236}">
                <a16:creationId xmlns:a16="http://schemas.microsoft.com/office/drawing/2014/main" id="{FBBA9926-742A-4C3C-8DE3-5213692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5" name="design-left-row-3">
            <a:extLst xmlns:a="http://schemas.openxmlformats.org/drawingml/2006/main">
              <a:ext uri="{FF2B5EF4-FFF2-40B4-BE49-F238E27FC236}">
                <a16:creationId xmlns:a16="http://schemas.microsoft.com/office/drawing/2014/main" id="{88CE1507-3D1C-431F-B05C-7117B67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6" name="design-right-row-3">
            <a:extLst xmlns:a="http://schemas.openxmlformats.org/drawingml/2006/main">
              <a:ext uri="{FF2B5EF4-FFF2-40B4-BE49-F238E27FC236}">
                <a16:creationId xmlns:a16="http://schemas.microsoft.com/office/drawing/2014/main" id="{066F3099-F985-4A5D-82B0-6B0CBAA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7" name="sampling-key">
            <a:extLst xmlns:a="http://schemas.openxmlformats.org/drawingml/2006/main">
              <a:ext uri="{FF2B5EF4-FFF2-40B4-BE49-F238E27FC236}">
                <a16:creationId xmlns:a16="http://schemas.microsoft.com/office/drawing/2014/main" id="{1F796313-BFA5-4E63-ACD8-002F7AE6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MUESTREO INICIAL</a:t>
            </a:r>
          </a:p>
        </p:txBody>
      </p:sp>
      <p:sp>
        <p:nvSpPr>
          <p:cNvPr id="38" name="sampling-value">
            <a:extLst xmlns:a="http://schemas.openxmlformats.org/drawingml/2006/main">
              <a:ext uri="{FF2B5EF4-FFF2-40B4-BE49-F238E27FC236}">
                <a16:creationId xmlns:a16="http://schemas.microsoft.com/office/drawing/2014/main" id="{A4FFD6E5-3AAB-40AF-8BF9-6D326DF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Sobol + uniforme aleatorio</a:t>
            </a:r>
          </a:p>
        </p:txBody>
      </p:sp>
      <p:sp>
        <p:nvSpPr>
          <p:cNvPr id="39" name="ntrain-key">
            <a:extLst xmlns:a="http://schemas.openxmlformats.org/drawingml/2006/main">
              <a:ext uri="{FF2B5EF4-FFF2-40B4-BE49-F238E27FC236}">
                <a16:creationId xmlns:a16="http://schemas.microsoft.com/office/drawing/2014/main" id="{6CF66F6F-C78A-4BE9-B10F-7C65378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TAMAÑO INICIAL</a:t>
            </a:r>
          </a:p>
        </p:txBody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ea5d112444e6b"/>
          <a:stretch xmlns:a="http://schemas.openxmlformats.org/drawingml/2006/main"/>
        </p:blipFill>
        <p:spPr>
          <a:xfrm xmlns:a="http://schemas.openxmlformats.org/drawingml/2006/main">
            <a:off x="4572000" y="2922655"/>
            <a:ext cx="1238250" cy="164964"/>
          </a:xfrm>
          <a:prstGeom xmlns:a="http://schemas.openxmlformats.org/drawingml/2006/main" prst="rect">
            <a:avLst/>
          </a:prstGeom>
        </p:spPr>
      </p:pic>
      <p:sp>
        <p:nvSpPr>
          <p:cNvPr id="41" name="noise-key">
            <a:extLst xmlns:a="http://schemas.openxmlformats.org/drawingml/2006/main">
              <a:ext uri="{FF2B5EF4-FFF2-40B4-BE49-F238E27FC236}">
                <a16:creationId xmlns:a16="http://schemas.microsoft.com/office/drawing/2014/main" id="{B2E6CA2A-86A5-4423-A849-7B2A673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RUIDO SINTÉTICO</a:t>
            </a:r>
          </a:p>
        </p:txBody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a63c4ffb84861"/>
          <a:stretch xmlns:a="http://schemas.openxmlformats.org/drawingml/2006/main"/>
        </p:blipFill>
        <p:spPr>
          <a:xfrm xmlns:a="http://schemas.openxmlformats.org/drawingml/2006/main">
            <a:off x="4572000" y="3432777"/>
            <a:ext cx="1257300" cy="173421"/>
          </a:xfrm>
          <a:prstGeom xmlns:a="http://schemas.openxmlformats.org/drawingml/2006/main" prst="rect">
            <a:avLst/>
          </a:prstGeom>
        </p:spPr>
      </p:pic>
      <p:sp>
        <p:nvSpPr>
          <p:cNvPr id="43" name="test-key">
            <a:extLst xmlns:a="http://schemas.openxmlformats.org/drawingml/2006/main">
              <a:ext uri="{FF2B5EF4-FFF2-40B4-BE49-F238E27FC236}">
                <a16:creationId xmlns:a16="http://schemas.microsoft.com/office/drawing/2014/main" id="{CB1C30BD-BC4A-41AE-AECD-CBE7188C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CONJUNTO DE TEST</a:t>
            </a:r>
          </a:p>
        </p:txBody>
      </p:sp>
      <p:sp>
        <p:nvSpPr>
          <p:cNvPr id="44" name="test-value">
            <a:extLst xmlns:a="http://schemas.openxmlformats.org/drawingml/2006/main">
              <a:ext uri="{FF2B5EF4-FFF2-40B4-BE49-F238E27FC236}">
                <a16:creationId xmlns:a16="http://schemas.microsoft.com/office/drawing/2014/main" id="{89E4995F-5A87-48A9-B224-8D1C339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200 puntos por benchmark</a:t>
            </a:r>
          </a:p>
        </p:txBody>
      </p:sp>
      <p:sp>
        <p:nvSpPr>
          <p:cNvPr id="45" name="models-key">
            <a:extLst xmlns:a="http://schemas.openxmlformats.org/drawingml/2006/main">
              <a:ext uri="{FF2B5EF4-FFF2-40B4-BE49-F238E27FC236}">
                <a16:creationId xmlns:a16="http://schemas.microsoft.com/office/drawing/2014/main" id="{44CEBC95-648A-4677-BAD9-A815F1A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MODELOS COMPARADOS</a:t>
            </a:r>
          </a:p>
        </p:txBody>
      </p:sp>
      <p:sp>
        <p:nvSpPr>
          <p:cNvPr id="46" name="models-value">
            <a:extLst xmlns:a="http://schemas.openxmlformats.org/drawingml/2006/main">
              <a:ext uri="{FF2B5EF4-FFF2-40B4-BE49-F238E27FC236}">
                <a16:creationId xmlns:a16="http://schemas.microsoft.com/office/drawing/2014/main" id="{B6E88942-39C9-4822-A65F-B5141589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Dummy + GP</a:t>
            </a:r>
          </a:p>
        </p:txBody>
      </p:sp>
      <p:sp>
        <p:nvSpPr>
          <p:cNvPr id="47" name="families-key">
            <a:extLst xmlns:a="http://schemas.openxmlformats.org/drawingml/2006/main">
              <a:ext uri="{FF2B5EF4-FFF2-40B4-BE49-F238E27FC236}">
                <a16:creationId xmlns:a16="http://schemas.microsoft.com/office/drawing/2014/main" id="{F12F0831-EF5D-4341-8708-C8B8F1C1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FAMILIAS GP</a:t>
            </a:r>
          </a:p>
        </p:txBody>
      </p:sp>
      <p:sp>
        <p:nvSpPr>
          <p:cNvPr id="48" name="families-value">
            <a:extLst xmlns:a="http://schemas.openxmlformats.org/drawingml/2006/main">
              <a:ext uri="{FF2B5EF4-FFF2-40B4-BE49-F238E27FC236}">
                <a16:creationId xmlns:a16="http://schemas.microsoft.com/office/drawing/2014/main" id="{97864524-96F3-436F-BA21-7BF4076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8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8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Lineal · RBF · Matérn 3/2 · Matérn 5/2</a:t>
            </a:r>
          </a:p>
        </p:txBody>
      </p:sp>
      <p:sp>
        <p:nvSpPr>
          <p:cNvPr id="49" name="ard-key">
            <a:extLst xmlns:a="http://schemas.openxmlformats.org/drawingml/2006/main">
              <a:ext uri="{FF2B5EF4-FFF2-40B4-BE49-F238E27FC236}">
                <a16:creationId xmlns:a16="http://schemas.microsoft.com/office/drawing/2014/main" id="{DCB35420-FE16-4751-BF53-BA5EF409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ARD</a:t>
            </a:r>
          </a:p>
        </p:txBody>
      </p:sp>
      <p:sp>
        <p:nvSpPr>
          <p:cNvPr id="50" name="ard-value">
            <a:extLst xmlns:a="http://schemas.openxmlformats.org/drawingml/2006/main">
              <a:ext uri="{FF2B5EF4-FFF2-40B4-BE49-F238E27FC236}">
                <a16:creationId xmlns:a16="http://schemas.microsoft.com/office/drawing/2014/main" id="{122F3F4D-0E7C-4607-AF00-8607D744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8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8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RBF-ARD y Matérn 5/2-ARD cuando d&gt;1</a:t>
            </a:r>
          </a:p>
        </p:txBody>
      </p:sp>
      <p:sp>
        <p:nvSpPr>
          <p:cNvPr id="51" name="fit-key">
            <a:extLst xmlns:a="http://schemas.openxmlformats.org/drawingml/2006/main">
              <a:ext uri="{FF2B5EF4-FFF2-40B4-BE49-F238E27FC236}">
                <a16:creationId xmlns:a16="http://schemas.microsoft.com/office/drawing/2014/main" id="{0013A2BC-0C58-4D47-A691-8F8958B6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3295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AJUSTE DEL GP</a:t>
            </a:r>
          </a:p>
        </p:txBody>
      </p:sp>
      <p:sp>
        <p:nvSpPr>
          <p:cNvPr id="52" name="fit-value">
            <a:extLst xmlns:a="http://schemas.openxmlformats.org/drawingml/2006/main">
              <a:ext uri="{FF2B5EF4-FFF2-40B4-BE49-F238E27FC236}">
                <a16:creationId xmlns:a16="http://schemas.microsoft.com/office/drawing/2014/main" id="{F795D0C1-1675-438A-895B-4D6002E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Hiperparámetros reestimados por log-verosimilitud marginal</a:t>
            </a:r>
          </a:p>
        </p:txBody>
      </p:sp>
      <p:sp>
        <p:nvSpPr>
          <p:cNvPr id="53" name="optval-title">
            <a:extLst xmlns:a="http://schemas.openxmlformats.org/drawingml/2006/main">
              <a:ext uri="{FF2B5EF4-FFF2-40B4-BE49-F238E27FC236}">
                <a16:creationId xmlns:a16="http://schemas.microsoft.com/office/drawing/2014/main" id="{7D9A6944-651B-4047-80B7-CF4F8EC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27583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5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5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Optimización y validación</a:t>
            </a:r>
          </a:p>
        </p:txBody>
      </p:sp>
      <p:sp>
        <p:nvSpPr>
          <p:cNvPr id="54" name="optval-note">
            <a:extLst xmlns:a="http://schemas.openxmlformats.org/drawingml/2006/main">
              <a:ext uri="{FF2B5EF4-FFF2-40B4-BE49-F238E27FC236}">
                <a16:creationId xmlns:a16="http://schemas.microsoft.com/office/drawing/2014/main" id="{97D13BA1-94C1-4C8E-B97C-1D6D305A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408" y="4791075"/>
            <a:ext cx="519379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Expected Improvement + métricas de salida</a:t>
            </a:r>
          </a:p>
        </p:txBody>
      </p:sp>
      <p:sp>
        <p:nvSpPr>
          <p:cNvPr id="55" name="optval-rule">
            <a:extLst xmlns:a="http://schemas.openxmlformats.org/drawingml/2006/main">
              <a:ext uri="{FF2B5EF4-FFF2-40B4-BE49-F238E27FC236}">
                <a16:creationId xmlns:a16="http://schemas.microsoft.com/office/drawing/2014/main" id="{6214F690-315B-4306-829E-E965432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56" name="bottom-vline-1">
            <a:extLst xmlns:a="http://schemas.openxmlformats.org/drawingml/2006/main">
              <a:ext uri="{FF2B5EF4-FFF2-40B4-BE49-F238E27FC236}">
                <a16:creationId xmlns:a16="http://schemas.microsoft.com/office/drawing/2014/main" id="{388618AE-3EC1-4F7C-A7F8-6974BA5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5302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">
            <a:solidFill>
              <a:srgbClr val="DCD6CC"/>
            </a:solidFill>
            <a:prstDash val="solid"/>
          </a:ln>
        </p:spPr>
      </p:sp>
      <p:sp>
        <p:nvSpPr>
          <p:cNvPr id="57" name="bottom-vline-2">
            <a:extLst xmlns:a="http://schemas.openxmlformats.org/drawingml/2006/main">
              <a:ext uri="{FF2B5EF4-FFF2-40B4-BE49-F238E27FC236}">
                <a16:creationId xmlns:a16="http://schemas.microsoft.com/office/drawing/2014/main" id="{4B8D22FE-D7E3-498A-87A5-9F3E4F53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5302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">
            <a:solidFill>
              <a:srgbClr val="DCD6CC"/>
            </a:solidFill>
            <a:prstDash val="solid"/>
          </a:ln>
        </p:spPr>
      </p:sp>
      <p:sp>
        <p:nvSpPr>
          <p:cNvPr id="58" name="ei-title">
            <a:extLst xmlns:a="http://schemas.openxmlformats.org/drawingml/2006/main">
              <a:ext uri="{FF2B5EF4-FFF2-40B4-BE49-F238E27FC236}">
                <a16:creationId xmlns:a16="http://schemas.microsoft.com/office/drawing/2014/main" id="{FEA0D9AD-E0B1-419A-BCF0-13C4BAFF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Adquisición y búsqueda</a:t>
            </a:r>
          </a:p>
        </p:txBody>
      </p:sp>
      <p:sp>
        <p:nvSpPr>
          <p:cNvPr id="59" name="ei-acq-label">
            <a:extLst xmlns:a="http://schemas.openxmlformats.org/drawingml/2006/main">
              <a:ext uri="{FF2B5EF4-FFF2-40B4-BE49-F238E27FC236}">
                <a16:creationId xmlns:a16="http://schemas.microsoft.com/office/drawing/2014/main" id="{3796986A-74E2-4139-AFBF-FB5C68E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Adquisición</a:t>
            </a:r>
          </a:p>
        </p:txBody>
      </p:sp>
      <p:sp>
        <p:nvSpPr>
          <p:cNvPr id="60" name="ei-acq-body">
            <a:extLst xmlns:a="http://schemas.openxmlformats.org/drawingml/2006/main">
              <a:ext uri="{FF2B5EF4-FFF2-40B4-BE49-F238E27FC236}">
                <a16:creationId xmlns:a16="http://schemas.microsoft.com/office/drawing/2014/main" id="{E3EC16B2-1002-496A-805A-9F946C8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2533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Expected Improvement</a:t>
            </a:r>
          </a:p>
        </p:txBody>
      </p:sp>
      <p:sp>
        <p:nvSpPr>
          <p:cNvPr id="61" name="ei-xi-label">
            <a:extLst xmlns:a="http://schemas.openxmlformats.org/drawingml/2006/main">
              <a:ext uri="{FF2B5EF4-FFF2-40B4-BE49-F238E27FC236}">
                <a16:creationId xmlns:a16="http://schemas.microsoft.com/office/drawing/2014/main" id="{3D0E66A1-F316-4C2D-8200-13EDF2A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Parámetro EI</a:t>
            </a:r>
          </a:p>
        </p:txBody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d44488b78437e"/>
          <a:stretch xmlns:a="http://schemas.openxmlformats.org/drawingml/2006/main"/>
        </p:blipFill>
        <p:spPr>
          <a:xfrm xmlns:a="http://schemas.openxmlformats.org/drawingml/2006/main">
            <a:off x="1524000" y="5578008"/>
            <a:ext cx="542925" cy="159684"/>
          </a:xfrm>
          <a:prstGeom xmlns:a="http://schemas.openxmlformats.org/drawingml/2006/main" prst="rect">
            <a:avLst/>
          </a:prstGeom>
        </p:spPr>
      </p:pic>
      <p:sp>
        <p:nvSpPr>
          <p:cNvPr id="63" name="ei-impl-label">
            <a:extLst xmlns:a="http://schemas.openxmlformats.org/drawingml/2006/main">
              <a:ext uri="{FF2B5EF4-FFF2-40B4-BE49-F238E27FC236}">
                <a16:creationId xmlns:a16="http://schemas.microsoft.com/office/drawing/2014/main" id="{3BCF284E-2D30-4FEF-932D-17C1AD78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Implementación</a:t>
            </a:r>
          </a:p>
        </p:txBody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87bb788344674"/>
          <a:stretch xmlns:a="http://schemas.openxmlformats.org/drawingml/2006/main"/>
        </p:blipFill>
        <p:spPr>
          <a:xfrm xmlns:a="http://schemas.openxmlformats.org/drawingml/2006/main">
            <a:off x="1731993" y="5734050"/>
            <a:ext cx="1136589" cy="161925"/>
          </a:xfrm>
          <a:prstGeom xmlns:a="http://schemas.openxmlformats.org/drawingml/2006/main" prst="rect">
            <a:avLst/>
          </a:prstGeom>
        </p:spPr>
      </p:pic>
      <p:sp>
        <p:nvSpPr>
          <p:cNvPr id="65" name="ei-opt-label">
            <a:extLst xmlns:a="http://schemas.openxmlformats.org/drawingml/2006/main">
              <a:ext uri="{FF2B5EF4-FFF2-40B4-BE49-F238E27FC236}">
                <a16:creationId xmlns:a16="http://schemas.microsoft.com/office/drawing/2014/main" id="{B3475F77-09A6-442E-8DC5-E4089C9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Opt. EI</a:t>
            </a:r>
          </a:p>
        </p:txBody>
      </p:sp>
      <p:sp>
        <p:nvSpPr>
          <p:cNvPr id="66" name="ei-opt-body">
            <a:extLst xmlns:a="http://schemas.openxmlformats.org/drawingml/2006/main">
              <a:ext uri="{FF2B5EF4-FFF2-40B4-BE49-F238E27FC236}">
                <a16:creationId xmlns:a16="http://schemas.microsoft.com/office/drawing/2014/main" id="{4EEEBEBD-7506-4B27-9ECC-18331D0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2533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Differential Evolution + refinamiento local</a:t>
            </a:r>
          </a:p>
        </p:txBody>
      </p:sp>
      <p:sp>
        <p:nvSpPr>
          <p:cNvPr id="67" name="budget-title">
            <a:extLst xmlns:a="http://schemas.openxmlformats.org/drawingml/2006/main">
              <a:ext uri="{FF2B5EF4-FFF2-40B4-BE49-F238E27FC236}">
                <a16:creationId xmlns:a16="http://schemas.microsoft.com/office/drawing/2014/main" id="{57F5FD89-C3F2-4651-8B7A-559C012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006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Presupuesto</a:t>
            </a:r>
          </a:p>
        </p:txBody>
      </p:sp>
      <p:sp>
        <p:nvSpPr>
          <p:cNvPr id="68" name="budget-infill-label">
            <a:extLst xmlns:a="http://schemas.openxmlformats.org/drawingml/2006/main">
              <a:ext uri="{FF2B5EF4-FFF2-40B4-BE49-F238E27FC236}">
                <a16:creationId xmlns:a16="http://schemas.microsoft.com/office/drawing/2014/main" id="{DF53C182-3CCF-458B-826B-D6BA08B4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4830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Presup. infill</a:t>
            </a:r>
          </a:p>
        </p:txBody>
      </p:sp>
      <p:sp>
        <p:nvSpPr>
          <p:cNvPr id="69" name="budget-infill-body">
            <a:extLst xmlns:a="http://schemas.openxmlformats.org/drawingml/2006/main">
              <a:ext uri="{FF2B5EF4-FFF2-40B4-BE49-F238E27FC236}">
                <a16:creationId xmlns:a16="http://schemas.microsoft.com/office/drawing/2014/main" id="{8A531780-7355-4799-A905-35261307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48300"/>
            <a:ext cx="2400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5d nuevas evaluaciones</a:t>
            </a:r>
          </a:p>
        </p:txBody>
      </p:sp>
      <p:sp>
        <p:nvSpPr>
          <p:cNvPr id="70" name="budget-total-label">
            <a:extLst xmlns:a="http://schemas.openxmlformats.org/drawingml/2006/main">
              <a:ext uri="{FF2B5EF4-FFF2-40B4-BE49-F238E27FC236}">
                <a16:creationId xmlns:a16="http://schemas.microsoft.com/office/drawing/2014/main" id="{2490882C-93BA-41B1-B4F6-8C9953B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10225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Límite total</a:t>
            </a:r>
          </a:p>
        </p:txBody>
      </p:sp>
      <p:sp>
        <p:nvSpPr>
          <p:cNvPr id="71" name="budget-total-body">
            <a:extLst xmlns:a="http://schemas.openxmlformats.org/drawingml/2006/main">
              <a:ext uri="{FF2B5EF4-FFF2-40B4-BE49-F238E27FC236}">
                <a16:creationId xmlns:a16="http://schemas.microsoft.com/office/drawing/2014/main" id="{A07FCD76-1754-4822-96E1-CD57854B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0225"/>
            <a:ext cx="2400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máx. 50 observaciones por trayectoria</a:t>
            </a:r>
          </a:p>
        </p:txBody>
      </p:sp>
      <p:sp>
        <p:nvSpPr>
          <p:cNvPr id="72" name="candidate-budget-label">
            <a:extLst xmlns:a="http://schemas.openxmlformats.org/drawingml/2006/main">
              <a:ext uri="{FF2B5EF4-FFF2-40B4-BE49-F238E27FC236}">
                <a16:creationId xmlns:a16="http://schemas.microsoft.com/office/drawing/2014/main" id="{713688CC-75AF-47E8-9146-8D14AF2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781675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Búsqueda EI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06f7e6c72460b"/>
          <a:stretch xmlns:a="http://schemas.openxmlformats.org/drawingml/2006/main"/>
        </p:blipFill>
        <p:spPr>
          <a:xfrm xmlns:a="http://schemas.openxmlformats.org/drawingml/2006/main">
            <a:off x="5238750" y="5753474"/>
            <a:ext cx="1047750" cy="132603"/>
          </a:xfrm>
          <a:prstGeom xmlns:a="http://schemas.openxmlformats.org/drawingml/2006/main" prst="rect">
            <a:avLst/>
          </a:prstGeom>
        </p:spPr>
      </p:pic>
      <p:sp>
        <p:nvSpPr>
          <p:cNvPr id="74" name="candidate-budget-tail">
            <a:extLst xmlns:a="http://schemas.openxmlformats.org/drawingml/2006/main">
              <a:ext uri="{FF2B5EF4-FFF2-40B4-BE49-F238E27FC236}">
                <a16:creationId xmlns:a16="http://schemas.microsoft.com/office/drawing/2014/main" id="{2DBCBF4D-9352-4E00-8FB6-EC2AF763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816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candidatos equivalentes</a:t>
            </a:r>
          </a:p>
        </p:txBody>
      </p:sp>
      <p:sp>
        <p:nvSpPr>
          <p:cNvPr id="75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80575C8A-FE5E-4C33-975F-30B0ED8C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00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Validación</a:t>
            </a:r>
          </a:p>
        </p:txBody>
      </p:sp>
      <p:sp>
        <p:nvSpPr>
          <p:cNvPr id="76" name="val-pred">
            <a:extLst xmlns:a="http://schemas.openxmlformats.org/drawingml/2006/main">
              <a:ext uri="{FF2B5EF4-FFF2-40B4-BE49-F238E27FC236}">
                <a16:creationId xmlns:a16="http://schemas.microsoft.com/office/drawing/2014/main" id="{B90AFED9-9A27-4182-ADB8-F702B796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48300"/>
            <a:ext cx="1400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1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Predicción: MAE, RMSE,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fde8a489e4c4b"/>
          <a:stretch xmlns:a="http://schemas.openxmlformats.org/drawingml/2006/main"/>
        </p:blipFill>
        <p:spPr>
          <a:xfrm xmlns:a="http://schemas.openxmlformats.org/drawingml/2006/main">
            <a:off x="9413383" y="5419725"/>
            <a:ext cx="175609" cy="161925"/>
          </a:xfrm>
          <a:prstGeom xmlns:a="http://schemas.openxmlformats.org/drawingml/2006/main" prst="rect">
            <a:avLst/>
          </a:prstGeom>
        </p:spPr>
      </p:pic>
      <p:sp>
        <p:nvSpPr>
          <p:cNvPr id="78" name="val-pred-tail">
            <a:extLst xmlns:a="http://schemas.openxmlformats.org/drawingml/2006/main">
              <a:ext uri="{FF2B5EF4-FFF2-40B4-BE49-F238E27FC236}">
                <a16:creationId xmlns:a16="http://schemas.microsoft.com/office/drawing/2014/main" id="{AB64F4D5-B2B4-4FA2-AFA0-6482C1A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48300"/>
            <a:ext cx="1457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1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, NLPD, cobertura</a:t>
            </a:r>
          </a:p>
        </p:txBody>
      </p:sp>
      <p:sp>
        <p:nvSpPr>
          <p:cNvPr id="79" name="val-opt">
            <a:extLst xmlns:a="http://schemas.openxmlformats.org/drawingml/2006/main">
              <a:ext uri="{FF2B5EF4-FFF2-40B4-BE49-F238E27FC236}">
                <a16:creationId xmlns:a16="http://schemas.microsoft.com/office/drawing/2014/main" id="{798BB392-FE3D-445B-A01B-DB0A4E50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10225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Optimización: mejora relativa del incumbent</a:t>
            </a:r>
          </a:p>
        </p:txBody>
      </p:sp>
      <p:sp>
        <p:nvSpPr>
          <p:cNvPr id="80" name="val-gap">
            <a:extLst xmlns:a="http://schemas.openxmlformats.org/drawingml/2006/main">
              <a:ext uri="{FF2B5EF4-FFF2-40B4-BE49-F238E27FC236}">
                <a16:creationId xmlns:a16="http://schemas.microsoft.com/office/drawing/2014/main" id="{88F25F2E-8E9E-4FA6-B380-28E3AF9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62625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Óptimo conocido: reducción del gap al óptimo</a:t>
            </a:r>
          </a:p>
        </p:txBody>
      </p:sp>
      <p:sp>
        <p:nvSpPr>
          <p:cNvPr id="81" name="val-borehole">
            <a:extLst xmlns:a="http://schemas.openxmlformats.org/drawingml/2006/main">
              <a:ext uri="{FF2B5EF4-FFF2-40B4-BE49-F238E27FC236}">
                <a16:creationId xmlns:a16="http://schemas.microsoft.com/office/drawing/2014/main" id="{AF3FA78D-253C-46E3-B475-13874932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1502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4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Borehole: reducción relativa del mejor valor limpio respecto al diseño inicial</a:t>
            </a:r>
          </a:p>
        </p:txBody>
      </p:sp>
      <p:sp>
        <p:nvSpPr>
          <p:cNvPr id="8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6983992E-6771-401E-9582-4631BE1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A"/>
            </a:solidFill>
            <a:prstDash val="solid"/>
          </a:ln>
        </p:spPr>
      </p:sp>
      <p:sp>
        <p:nvSpPr>
          <p:cNvPr id="83" name="closing">
            <a:extLst xmlns:a="http://schemas.openxmlformats.org/drawingml/2006/main">
              <a:ext uri="{FF2B5EF4-FFF2-40B4-BE49-F238E27FC236}">
                <a16:creationId xmlns:a16="http://schemas.microsoft.com/office/drawing/2014/main" id="{22855F7E-A071-45CE-AF5C-52C977B4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985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prueba separa dos preguntas: si el GP predice bien y si el criterio ayuda a encontrar mejores valores.</a:t>
            </a:r>
          </a:p>
        </p:txBody>
      </p:sp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452657-9536-43B5-A4A3-59E9115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3376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2026-07-02T18:07:05.8810000Z</dcterms:created>
  <dcterms:modified xsi:type="dcterms:W3CDTF">2026-07-02T18:07:05.8810000Z</dcterms:modified>
</coreProperties>
</file>