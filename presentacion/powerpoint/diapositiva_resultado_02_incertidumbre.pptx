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bca547188b4593" /><Relationship Type="http://schemas.openxmlformats.org/officeDocument/2006/relationships/extended-properties" Target="/docProps/app.xml" Id="Ra32f9a48e0bb4317" /><Relationship Type="http://schemas.openxmlformats.org/officeDocument/2006/relationships/officeDocument" Target="/ppt/presentation.xml" Id="Ra338f6dd4cfa45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9152eca124096"/>
  </p:sldMasterIdLst>
  <p:notesMasterIdLst>
    <p:notesMasterId xmlns:r="http://schemas.openxmlformats.org/officeDocument/2006/relationships" r:id="R06ae9fada31e4bdb"/>
  </p:notesMasterIdLst>
  <p:sldIdLst>
    <p:sldId xmlns:r="http://schemas.openxmlformats.org/officeDocument/2006/relationships" id="256" r:id="R3e61b9bc19824d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a62a30e567404c" /><Relationship Type="http://schemas.openxmlformats.org/officeDocument/2006/relationships/slideMaster" Target="/ppt/slideMasters/slideMaster1.xml" Id="Rd269152eca124096" /><Relationship Type="http://schemas.openxmlformats.org/officeDocument/2006/relationships/notesMaster" Target="/ppt/notesMasters/notesMaster1.xml" Id="R06ae9fada31e4bdb" /><Relationship Type="http://schemas.openxmlformats.org/officeDocument/2006/relationships/presProps" Target="/ppt/presProps.xml" Id="R0cba53a44d984007" /><Relationship Type="http://schemas.openxmlformats.org/officeDocument/2006/relationships/tableStyles" Target="/ppt/tableStyles.xml" Id="Ra5949cc938de4e87" /><Relationship Type="http://schemas.openxmlformats.org/officeDocument/2006/relationships/slide" Target="/ppt/slides/slide1.xml" Id="R3e61b9bc19824d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0e638c8276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86746b656b4df9" /><Relationship Type="http://schemas.openxmlformats.org/officeDocument/2006/relationships/notesMaster" Target="/ppt/notesMasters/notesMaster1.xml" Id="R0e84aa1b6e2048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62c7f235e4f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d7f9aae095486f" /><Relationship Type="http://schemas.openxmlformats.org/officeDocument/2006/relationships/slideLayout" Target="/ppt/slideLayouts/slideLayout1.xml" Id="Rebf1bf38d4e746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f1bf38d4e746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443db4714ff0" /><Relationship Type="http://schemas.openxmlformats.org/officeDocument/2006/relationships/notesSlide" Target="/ppt/notesSlides/notesSlide1.xml" Id="Rd7ff17bdc27f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0948469C-17A2-42A8-A65B-F5113E8C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0D19A6-AD0D-4709-B5CF-7AFCAC8A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Resultado 2: la incertidumbre es útil, pero no perfecta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86910A9D-9C85-4D1E-B720-41A9C2D4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incertidumbre aporta información, aunque los intervalos no cubren todos los casos que cabría esperar.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ACBF0A8-CAF7-4D49-A3B4-9B4B2AF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24</a:t>
            </a:r>
          </a:p>
        </p:txBody>
      </p:sp>
      <p:sp>
        <p:nvSpPr>
          <p:cNvPr id="5" name="left-kicker">
            <a:extLst xmlns:a="http://schemas.openxmlformats.org/drawingml/2006/main">
              <a:ext uri="{FF2B5EF4-FFF2-40B4-BE49-F238E27FC236}">
                <a16:creationId xmlns:a16="http://schemas.microsoft.com/office/drawing/2014/main" id="{C865BFF3-0211-4E58-AC14-AEA6BAE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GP devuelve μ(x) y σ(x)</a:t>
            </a:r>
          </a:p>
        </p:txBody>
      </p:sp>
      <p:sp>
        <p:nvSpPr>
          <p:cNvPr id="6" name="mini-axis">
            <a:extLst xmlns:a="http://schemas.openxmlformats.org/drawingml/2006/main">
              <a:ext uri="{FF2B5EF4-FFF2-40B4-BE49-F238E27FC236}">
                <a16:creationId xmlns:a16="http://schemas.microsoft.com/office/drawing/2014/main" id="{FEC38E9E-6918-4962-A37D-1F2B573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CCC0"/>
            </a:solidFill>
            <a:prstDash val="solid"/>
          </a:ln>
        </p:spPr>
      </p:sp>
      <p:sp>
        <p:nvSpPr>
          <p:cNvPr id="7" name="interval">
            <a:extLst xmlns:a="http://schemas.openxmlformats.org/drawingml/2006/main">
              <a:ext uri="{FF2B5EF4-FFF2-40B4-BE49-F238E27FC236}">
                <a16:creationId xmlns:a16="http://schemas.microsoft.com/office/drawing/2014/main" id="{2982A97B-7453-4458-8466-C4FF1731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67050"/>
            <a:ext cx="304800" cy="14859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9D6"/>
          </a:solidFill>
          <a:ln xmlns:a="http://schemas.openxmlformats.org/drawingml/2006/main" w="12383">
            <a:solidFill>
              <a:srgbClr val="C9822B"/>
            </a:solidFill>
            <a:prstDash val="solid"/>
          </a:ln>
        </p:spPr>
      </p:sp>
      <p:sp>
        <p:nvSpPr>
          <p:cNvPr id="8" name="cap-top">
            <a:extLst xmlns:a="http://schemas.openxmlformats.org/drawingml/2006/main">
              <a:ext uri="{FF2B5EF4-FFF2-40B4-BE49-F238E27FC236}">
                <a16:creationId xmlns:a16="http://schemas.microsoft.com/office/drawing/2014/main" id="{94047FFB-E528-43FA-B91A-F6ACEC7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670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822B"/>
            </a:solidFill>
            <a:prstDash val="solid"/>
          </a:ln>
        </p:spPr>
      </p:sp>
      <p:sp>
        <p:nvSpPr>
          <p:cNvPr id="9" name="cap-bot">
            <a:extLst xmlns:a="http://schemas.openxmlformats.org/drawingml/2006/main">
              <a:ext uri="{FF2B5EF4-FFF2-40B4-BE49-F238E27FC236}">
                <a16:creationId xmlns:a16="http://schemas.microsoft.com/office/drawing/2014/main" id="{D1EEDCB5-A7B6-4993-83BE-293D1E4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529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822B"/>
            </a:solidFill>
            <a:prstDash val="solid"/>
          </a:ln>
        </p:spPr>
      </p:sp>
      <p:sp>
        <p:nvSpPr>
          <p:cNvPr id="10" name="int-lbl">
            <a:extLst xmlns:a="http://schemas.openxmlformats.org/drawingml/2006/main">
              <a:ext uri="{FF2B5EF4-FFF2-40B4-BE49-F238E27FC236}">
                <a16:creationId xmlns:a16="http://schemas.microsoft.com/office/drawing/2014/main" id="{5E1B9669-91D7-47B5-BBEB-0D12AA0D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814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intervalo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90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±2σ(x)</a:t>
            </a:r>
          </a:p>
        </p:txBody>
      </p:sp>
      <p:sp>
        <p:nvSpPr>
          <p:cNvPr id="11" name="mu">
            <a:extLst xmlns:a="http://schemas.openxmlformats.org/drawingml/2006/main">
              <a:ext uri="{FF2B5EF4-FFF2-40B4-BE49-F238E27FC236}">
                <a16:creationId xmlns:a16="http://schemas.microsoft.com/office/drawing/2014/main" id="{D011E73D-100A-410C-B869-02163FD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u-lbl">
            <a:extLst xmlns:a="http://schemas.openxmlformats.org/drawingml/2006/main">
              <a:ext uri="{FF2B5EF4-FFF2-40B4-BE49-F238E27FC236}">
                <a16:creationId xmlns:a16="http://schemas.microsoft.com/office/drawing/2014/main" id="{8D48735B-836C-4083-9545-87D7469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62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μ(x)</a:t>
            </a:r>
          </a:p>
        </p:txBody>
      </p:sp>
      <p:sp>
        <p:nvSpPr>
          <p:cNvPr id="13" name="real-in">
            <a:extLst xmlns:a="http://schemas.openxmlformats.org/drawingml/2006/main">
              <a:ext uri="{FF2B5EF4-FFF2-40B4-BE49-F238E27FC236}">
                <a16:creationId xmlns:a16="http://schemas.microsoft.com/office/drawing/2014/main" id="{8E30E183-270B-4183-8FFE-8BD3102A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33766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4" name="real-in-lbl">
            <a:extLst xmlns:a="http://schemas.openxmlformats.org/drawingml/2006/main">
              <a:ext uri="{FF2B5EF4-FFF2-40B4-BE49-F238E27FC236}">
                <a16:creationId xmlns:a16="http://schemas.microsoft.com/office/drawing/2014/main" id="{BD23DC0A-1EF5-44E1-9BD3-B4F048E6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825" b="0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dentro</a:t>
            </a:r>
          </a:p>
        </p:txBody>
      </p:sp>
      <p:sp>
        <p:nvSpPr>
          <p:cNvPr id="15" name="real-out">
            <a:extLst xmlns:a="http://schemas.openxmlformats.org/drawingml/2006/main">
              <a:ext uri="{FF2B5EF4-FFF2-40B4-BE49-F238E27FC236}">
                <a16:creationId xmlns:a16="http://schemas.microsoft.com/office/drawing/2014/main" id="{83CBB846-F0F6-4689-9DFB-24835135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27670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53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6" name="real-out-lbl">
            <a:extLst xmlns:a="http://schemas.openxmlformats.org/drawingml/2006/main">
              <a:ext uri="{FF2B5EF4-FFF2-40B4-BE49-F238E27FC236}">
                <a16:creationId xmlns:a16="http://schemas.microsoft.com/office/drawing/2014/main" id="{FAA9567E-07CB-46DF-9764-DBB9DCC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B45353"/>
                </a:solidFill>
                <a:latin typeface="Google Sans"/>
                <a:ea typeface="Google Sans"/>
                <a:cs typeface="Google Sans"/>
              </a:defRPr>
            </a:pPr>
            <a:r>
              <a:rPr sz="825" b="0" i="0">
                <a:solidFill>
                  <a:srgbClr val="B45353"/>
                </a:solidFill>
                <a:latin typeface="Google Sans"/>
                <a:ea typeface="Google Sans"/>
                <a:cs typeface="Google Sans"/>
              </a:rPr>
              <a:t>fuera</a:t>
            </a:r>
          </a:p>
        </p:txBody>
      </p:sp>
      <p:sp>
        <p:nvSpPr>
          <p:cNvPr id="17" name="mini-note">
            <a:extLst xmlns:a="http://schemas.openxmlformats.org/drawingml/2006/main">
              <a:ext uri="{FF2B5EF4-FFF2-40B4-BE49-F238E27FC236}">
                <a16:creationId xmlns:a16="http://schemas.microsoft.com/office/drawing/2014/main" id="{21038178-42B2-4DC8-9E81-B6688141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intervalo debería contener el 95 % de los valores reales</a:t>
            </a:r>
          </a:p>
        </p:txBody>
      </p:sp>
      <p:sp>
        <p:nvSpPr>
          <p:cNvPr id="18" name="mid-sep">
            <a:extLst xmlns:a="http://schemas.openxmlformats.org/drawingml/2006/main">
              <a:ext uri="{FF2B5EF4-FFF2-40B4-BE49-F238E27FC236}">
                <a16:creationId xmlns:a16="http://schemas.microsoft.com/office/drawing/2014/main" id="{E1375BAF-B3B5-4CED-B828-F8E498F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19" name="right-kicker">
            <a:extLst xmlns:a="http://schemas.openxmlformats.org/drawingml/2006/main">
              <a:ext uri="{FF2B5EF4-FFF2-40B4-BE49-F238E27FC236}">
                <a16:creationId xmlns:a16="http://schemas.microsoft.com/office/drawing/2014/main" id="{E517EA6C-6BA0-434C-A6EE-9155C89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Cobertura de los intervalos 95 %</a:t>
            </a:r>
          </a:p>
        </p:txBody>
      </p:sp>
      <p:sp>
        <p:nvSpPr>
          <p:cNvPr id="20" name="cov-base">
            <a:extLst xmlns:a="http://schemas.openxmlformats.org/drawingml/2006/main">
              <a:ext uri="{FF2B5EF4-FFF2-40B4-BE49-F238E27FC236}">
                <a16:creationId xmlns:a16="http://schemas.microsoft.com/office/drawing/2014/main" id="{3965A7BA-130C-47A9-A95D-A7CA7341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CCC0"/>
            </a:solidFill>
            <a:prstDash val="solid"/>
          </a:ln>
        </p:spPr>
      </p:sp>
      <p:sp>
        <p:nvSpPr>
          <p:cNvPr id="21" name="line-95">
            <a:extLst xmlns:a="http://schemas.openxmlformats.org/drawingml/2006/main">
              <a:ext uri="{FF2B5EF4-FFF2-40B4-BE49-F238E27FC236}">
                <a16:creationId xmlns:a16="http://schemas.microsoft.com/office/drawing/2014/main" id="{0487CAD4-8307-45B9-A5B1-30C08A42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7177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45353"/>
            </a:solidFill>
            <a:prstDash val="dash"/>
          </a:ln>
        </p:spPr>
      </p:sp>
      <p:sp>
        <p:nvSpPr>
          <p:cNvPr id="22" name="line-95-lbl">
            <a:extLst xmlns:a="http://schemas.openxmlformats.org/drawingml/2006/main">
              <a:ext uri="{FF2B5EF4-FFF2-40B4-BE49-F238E27FC236}">
                <a16:creationId xmlns:a16="http://schemas.microsoft.com/office/drawing/2014/main" id="{B5F159FD-5C1C-4CFB-A2BE-7433A56F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62225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rPr>
              <a:t>cobertura ideal 95 %</a:t>
            </a:r>
          </a:p>
        </p:txBody>
      </p:sp>
      <p:sp>
        <p:nvSpPr>
          <p:cNvPr id="23" name="cov-0">
            <a:extLst xmlns:a="http://schemas.openxmlformats.org/drawingml/2006/main">
              <a:ext uri="{FF2B5EF4-FFF2-40B4-BE49-F238E27FC236}">
                <a16:creationId xmlns:a16="http://schemas.microsoft.com/office/drawing/2014/main" id="{6AE8307F-DF8B-47B1-800F-F5C30934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9525"/>
            <a:ext cx="876300" cy="94297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BC85"/>
          </a:solidFill>
          <a:ln xmlns:a="http://schemas.openxmlformats.org/drawingml/2006/main" w="11430">
            <a:solidFill>
              <a:srgbClr val="C9822B"/>
            </a:solidFill>
            <a:prstDash val="solid"/>
          </a:ln>
        </p:spPr>
      </p:sp>
      <p:sp>
        <p:nvSpPr>
          <p:cNvPr id="24" name="cov-val-0">
            <a:extLst xmlns:a="http://schemas.openxmlformats.org/drawingml/2006/main">
              <a:ext uri="{FF2B5EF4-FFF2-40B4-BE49-F238E27FC236}">
                <a16:creationId xmlns:a16="http://schemas.microsoft.com/office/drawing/2014/main" id="{86783948-A714-43F9-8DBC-D205721B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909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0.45</a:t>
            </a:r>
          </a:p>
        </p:txBody>
      </p:sp>
      <p:sp>
        <p:nvSpPr>
          <p:cNvPr id="25" name="cov-name-0">
            <a:extLst xmlns:a="http://schemas.openxmlformats.org/drawingml/2006/main">
              <a:ext uri="{FF2B5EF4-FFF2-40B4-BE49-F238E27FC236}">
                <a16:creationId xmlns:a16="http://schemas.microsoft.com/office/drawing/2014/main" id="{3C03AF10-83E9-455E-A2B6-D38ED64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FCR</a:t>
            </a:r>
          </a:p>
        </p:txBody>
      </p:sp>
      <p:sp>
        <p:nvSpPr>
          <p:cNvPr id="26" name="cov-1">
            <a:extLst xmlns:a="http://schemas.openxmlformats.org/drawingml/2006/main">
              <a:ext uri="{FF2B5EF4-FFF2-40B4-BE49-F238E27FC236}">
                <a16:creationId xmlns:a16="http://schemas.microsoft.com/office/drawing/2014/main" id="{C593057D-2BA9-4059-8B3C-17A8724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876300" cy="14668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BC85"/>
          </a:solidFill>
          <a:ln xmlns:a="http://schemas.openxmlformats.org/drawingml/2006/main" w="11430">
            <a:solidFill>
              <a:srgbClr val="C9822B"/>
            </a:solidFill>
            <a:prstDash val="solid"/>
          </a:ln>
        </p:spPr>
      </p:sp>
      <p:sp>
        <p:nvSpPr>
          <p:cNvPr id="27" name="cov-val-1">
            <a:extLst xmlns:a="http://schemas.openxmlformats.org/drawingml/2006/main">
              <a:ext uri="{FF2B5EF4-FFF2-40B4-BE49-F238E27FC236}">
                <a16:creationId xmlns:a16="http://schemas.microsoft.com/office/drawing/2014/main" id="{8FF90B2E-D09B-4045-ACF7-747C351C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0.70</a:t>
            </a:r>
          </a:p>
        </p:txBody>
      </p:sp>
      <p:sp>
        <p:nvSpPr>
          <p:cNvPr id="28" name="cov-name-1">
            <a:extLst xmlns:a="http://schemas.openxmlformats.org/drawingml/2006/main">
              <a:ext uri="{FF2B5EF4-FFF2-40B4-BE49-F238E27FC236}">
                <a16:creationId xmlns:a16="http://schemas.microsoft.com/office/drawing/2014/main" id="{08730ADE-D367-4D71-9179-6DD3C1F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76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Quitina</a:t>
            </a:r>
          </a:p>
        </p:txBody>
      </p:sp>
      <p:sp>
        <p:nvSpPr>
          <p:cNvPr id="29" name="cov-2">
            <a:extLst xmlns:a="http://schemas.openxmlformats.org/drawingml/2006/main">
              <a:ext uri="{FF2B5EF4-FFF2-40B4-BE49-F238E27FC236}">
                <a16:creationId xmlns:a16="http://schemas.microsoft.com/office/drawing/2014/main" id="{59391507-0481-4BC2-86F6-468BF6E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95650"/>
            <a:ext cx="876300" cy="14668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4BC85"/>
          </a:solidFill>
          <a:ln xmlns:a="http://schemas.openxmlformats.org/drawingml/2006/main" w="11430">
            <a:solidFill>
              <a:srgbClr val="C9822B"/>
            </a:solidFill>
            <a:prstDash val="solid"/>
          </a:ln>
        </p:spPr>
      </p:sp>
      <p:sp>
        <p:nvSpPr>
          <p:cNvPr id="30" name="cov-val-2">
            <a:extLst xmlns:a="http://schemas.openxmlformats.org/drawingml/2006/main">
              <a:ext uri="{FF2B5EF4-FFF2-40B4-BE49-F238E27FC236}">
                <a16:creationId xmlns:a16="http://schemas.microsoft.com/office/drawing/2014/main" id="{59842509-8CD2-49B1-82D5-3541582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7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0.70</a:t>
            </a:r>
          </a:p>
        </p:txBody>
      </p:sp>
      <p:sp>
        <p:nvSpPr>
          <p:cNvPr id="31" name="cov-name-2">
            <a:extLst xmlns:a="http://schemas.openxmlformats.org/drawingml/2006/main">
              <a:ext uri="{FF2B5EF4-FFF2-40B4-BE49-F238E27FC236}">
                <a16:creationId xmlns:a16="http://schemas.microsoft.com/office/drawing/2014/main" id="{9CD01415-63FE-478C-8DBC-7020DCB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76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Proteína</a:t>
            </a:r>
          </a:p>
        </p:txBody>
      </p:sp>
      <p:sp>
        <p:nvSpPr>
          <p:cNvPr id="32" name="cov-note">
            <a:extLst xmlns:a="http://schemas.openxmlformats.org/drawingml/2006/main">
              <a:ext uri="{FF2B5EF4-FFF2-40B4-BE49-F238E27FC236}">
                <a16:creationId xmlns:a16="http://schemas.microsoft.com/office/drawing/2014/main" id="{8C14EE11-73E0-4F0B-A67F-959A262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006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cobertura queda por debajo del 95 %  ·  calibración parcial.</a:t>
            </a:r>
          </a:p>
        </p:txBody>
      </p:sp>
      <p:sp>
        <p:nvSpPr>
          <p:cNvPr id="33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D7FEDEB-CE6A-48EA-9E34-6065CB02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34" name="closing-a">
            <a:extLst xmlns:a="http://schemas.openxmlformats.org/drawingml/2006/main">
              <a:ext uri="{FF2B5EF4-FFF2-40B4-BE49-F238E27FC236}">
                <a16:creationId xmlns:a16="http://schemas.microsoft.com/office/drawing/2014/main" id="{B0BC79F9-660E-46E3-941D-887E0CBD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GP orienta la decisión,</a:t>
            </a:r>
          </a:p>
        </p:txBody>
      </p:sp>
      <p:sp>
        <p:nvSpPr>
          <p:cNvPr id="35" name="closing-b">
            <a:extLst xmlns:a="http://schemas.openxmlformats.org/drawingml/2006/main">
              <a:ext uri="{FF2B5EF4-FFF2-40B4-BE49-F238E27FC236}">
                <a16:creationId xmlns:a16="http://schemas.microsoft.com/office/drawing/2014/main" id="{2C760A8B-0DB8-463B-8320-895180D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86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pero la validación experimental sigue siendo necesaria.</a:t>
            </a:r>
          </a:p>
        </p:txBody>
      </p:sp>
    </p:spTree>
    <p:extLst>
      <p:ext uri="{BB962C8B-B14F-4D97-AF65-F5344CB8AC3E}">
        <p14:creationId xmlns:p14="http://schemas.microsoft.com/office/powerpoint/2010/main" val="28800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2026-07-04T11:54:38.6610000Z</dcterms:created>
  <dcterms:modified xsi:type="dcterms:W3CDTF">2026-07-04T11:54:38.6610000Z</dcterms:modified>
</coreProperties>
</file>