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d11c11976492f" /><Relationship Type="http://schemas.openxmlformats.org/officeDocument/2006/relationships/extended-properties" Target="/docProps/app.xml" Id="Re0e06b86259945c8" /><Relationship Type="http://schemas.openxmlformats.org/officeDocument/2006/relationships/officeDocument" Target="/ppt/presentation.xml" Id="Racdb4a69be44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1c453e3f3d4f23"/>
  </p:sldMasterIdLst>
  <p:notesMasterIdLst>
    <p:notesMasterId xmlns:r="http://schemas.openxmlformats.org/officeDocument/2006/relationships" r:id="Ra09189b123c047af"/>
  </p:notesMasterIdLst>
  <p:sldIdLst>
    <p:sldId xmlns:r="http://schemas.openxmlformats.org/officeDocument/2006/relationships" id="256" r:id="R379c625c5ed84d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9c9400dd854ee5" /><Relationship Type="http://schemas.openxmlformats.org/officeDocument/2006/relationships/slideMaster" Target="/ppt/slideMasters/slideMaster1.xml" Id="R9d1c453e3f3d4f23" /><Relationship Type="http://schemas.openxmlformats.org/officeDocument/2006/relationships/notesMaster" Target="/ppt/notesMasters/notesMaster1.xml" Id="Ra09189b123c047af" /><Relationship Type="http://schemas.openxmlformats.org/officeDocument/2006/relationships/presProps" Target="/ppt/presProps.xml" Id="R3b8c8744d41b4a88" /><Relationship Type="http://schemas.openxmlformats.org/officeDocument/2006/relationships/tableStyles" Target="/ppt/tableStyles.xml" Id="R421dfb0542c243a5" /><Relationship Type="http://schemas.openxmlformats.org/officeDocument/2006/relationships/slide" Target="/ppt/slides/slide1.xml" Id="R379c625c5ed84d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d70d826ebd46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cdfbe6a5514430" /><Relationship Type="http://schemas.openxmlformats.org/officeDocument/2006/relationships/notesMaster" Target="/ppt/notesMasters/notesMaster1.xml" Id="Rcfe5b066298847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d701bfb8a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c1991facb943dd" /><Relationship Type="http://schemas.openxmlformats.org/officeDocument/2006/relationships/slideLayout" Target="/ppt/slideLayouts/slideLayout1.xml" Id="R62093d76dd5945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093d76dd5945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39eb2378a4e1f" /><Relationship Type="http://schemas.openxmlformats.org/officeDocument/2006/relationships/image" Target="/ppt/media/image.png" Id="Rdf0df76637a8491c" /><Relationship Type="http://schemas.openxmlformats.org/officeDocument/2006/relationships/notesSlide" Target="/ppt/notesSlides/notesSlide1.xml" Id="R79fbaf5687b944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CAE5CE6-6B3D-420D-AE63-DE3BB8C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/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AF5921-CE4B-47D0-870E-63A60742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1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71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Resultados LODO: señal útil frente a Dummy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0CF3605-6ABE-45BB-B36C-D47D153C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GP compuesto reduce el error frente al baseline en los tres objetivos activos.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225496-2264-424D-8848-6A528614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20</a:t>
            </a:r>
          </a:p>
        </p:txBody>
      </p:sp>
      <p:sp>
        <p:nvSpPr>
          <p:cNvPr id="5" name="chart-title">
            <a:extLst xmlns:a="http://schemas.openxmlformats.org/drawingml/2006/main">
              <a:ext uri="{FF2B5EF4-FFF2-40B4-BE49-F238E27FC236}">
                <a16:creationId xmlns:a16="http://schemas.microsoft.com/office/drawing/2014/main" id="{D18DDA88-E229-4284-AC61-9A1D28EE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66458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Reducción relativa del MAE frente a Dummy</a:t>
            </a:r>
          </a:p>
        </p:txBody>
      </p:sp>
      <p:sp>
        <p:nvSpPr>
          <p:cNvPr id="6" name="chart-note">
            <a:extLst xmlns:a="http://schemas.openxmlformats.org/drawingml/2006/main">
              <a:ext uri="{FF2B5EF4-FFF2-40B4-BE49-F238E27FC236}">
                <a16:creationId xmlns:a16="http://schemas.microsoft.com/office/drawing/2014/main" id="{FAA427CA-8A77-4654-9C31-3B571CEF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1924050"/>
            <a:ext cx="367512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LODO por dieta</a:t>
            </a:r>
          </a:p>
        </p:txBody>
      </p:sp>
      <p:sp>
        <p:nvSpPr>
          <p:cNvPr id="7" name="chart-rule">
            <a:extLst xmlns:a="http://schemas.openxmlformats.org/drawingml/2006/main">
              <a:ext uri="{FF2B5EF4-FFF2-40B4-BE49-F238E27FC236}">
                <a16:creationId xmlns:a16="http://schemas.microsoft.com/office/drawing/2014/main" id="{6D5EC135-83C9-4EB7-B2D2-E98C1574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df76637a8491c"/>
          <a:stretch xmlns:a="http://schemas.openxmlformats.org/drawingml/2006/main"/>
        </p:blipFill>
        <p:spPr>
          <a:xfrm xmlns:a="http://schemas.openxmlformats.org/drawingml/2006/main">
            <a:off x="1532495" y="2266950"/>
            <a:ext cx="5450359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25D30F74-88EF-41EE-A597-6BF14B14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2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MAE macro por dieta, normalizado respecto al modelo Dummy. Valores positivos indican reducción de error frente a la predicción trivial.</a:t>
            </a:r>
          </a:p>
        </p:txBody>
      </p:sp>
      <p:sp>
        <p:nvSpPr>
          <p:cNvPr id="10" name="separator">
            <a:extLst xmlns:a="http://schemas.openxmlformats.org/drawingml/2006/main">
              <a:ext uri="{FF2B5EF4-FFF2-40B4-BE49-F238E27FC236}">
                <a16:creationId xmlns:a16="http://schemas.microsoft.com/office/drawing/2014/main" id="{888943E5-F94B-49E2-9043-A58C546F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0" cy="3562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6CC"/>
            </a:solidFill>
            <a:prstDash val="solid"/>
          </a:ln>
        </p:spPr>
      </p:sp>
      <p:sp>
        <p:nvSpPr>
          <p:cNvPr id="11" name="interpretation-title">
            <a:extLst xmlns:a="http://schemas.openxmlformats.org/drawingml/2006/main">
              <a:ext uri="{FF2B5EF4-FFF2-40B4-BE49-F238E27FC236}">
                <a16:creationId xmlns:a16="http://schemas.microsoft.com/office/drawing/2014/main" id="{739D5CDD-1ED2-4A8D-B2F6-7F849AFA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03682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Interpretación</a:t>
            </a:r>
          </a:p>
        </p:txBody>
      </p:sp>
      <p:sp>
        <p:nvSpPr>
          <p:cNvPr id="12" name="interpretation-note">
            <a:extLst xmlns:a="http://schemas.openxmlformats.org/drawingml/2006/main">
              <a:ext uri="{FF2B5EF4-FFF2-40B4-BE49-F238E27FC236}">
                <a16:creationId xmlns:a16="http://schemas.microsoft.com/office/drawing/2014/main" id="{F28CAF42-5175-474E-8A43-7539152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428" y="1924050"/>
            <a:ext cx="160477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qué permite defender</a:t>
            </a:r>
          </a:p>
        </p:txBody>
      </p:sp>
      <p:sp>
        <p:nvSpPr>
          <p:cNvPr id="13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65B94D24-5C0C-4538-AB07-20FC236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4" name="protein-label">
            <a:extLst xmlns:a="http://schemas.openxmlformats.org/drawingml/2006/main">
              <a:ext uri="{FF2B5EF4-FFF2-40B4-BE49-F238E27FC236}">
                <a16:creationId xmlns:a16="http://schemas.microsoft.com/office/drawing/2014/main" id="{0B074BD3-A101-4688-A5F8-02120DD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Proteína</a:t>
            </a:r>
          </a:p>
        </p:txBody>
      </p:sp>
      <p:sp>
        <p:nvSpPr>
          <p:cNvPr id="15" name="protein-body">
            <a:extLst xmlns:a="http://schemas.openxmlformats.org/drawingml/2006/main">
              <a:ext uri="{FF2B5EF4-FFF2-40B4-BE49-F238E27FC236}">
                <a16:creationId xmlns:a16="http://schemas.microsoft.com/office/drawing/2014/main" id="{396BC809-5609-46E3-9A43-325B0864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reducción de error es la más clara: 36.6 % frente a Dummy.</a:t>
            </a:r>
          </a:p>
        </p:txBody>
      </p:sp>
      <p:sp>
        <p:nvSpPr>
          <p:cNvPr id="16" name="fcr-quitina-label">
            <a:extLst xmlns:a="http://schemas.openxmlformats.org/drawingml/2006/main">
              <a:ext uri="{FF2B5EF4-FFF2-40B4-BE49-F238E27FC236}">
                <a16:creationId xmlns:a16="http://schemas.microsoft.com/office/drawing/2014/main" id="{AA6594C6-A152-4397-9F8D-4EA86AF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FCR y quitina</a:t>
            </a:r>
          </a:p>
        </p:txBody>
      </p:sp>
      <p:sp>
        <p:nvSpPr>
          <p:cNvPr id="17" name="fcr-quitina-body">
            <a:extLst xmlns:a="http://schemas.openxmlformats.org/drawingml/2006/main">
              <a:ext uri="{FF2B5EF4-FFF2-40B4-BE49-F238E27FC236}">
                <a16:creationId xmlns:a16="http://schemas.microsoft.com/office/drawing/2014/main" id="{A0BF57A0-3D97-4AF5-8B0A-C2109BDB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Mejoras moderadas, pero consistentes bajo validación por dieta.</a:t>
            </a:r>
          </a:p>
        </p:txBody>
      </p:sp>
      <p:sp>
        <p:nvSpPr>
          <p:cNvPr id="18" name="lodo-signal-label">
            <a:extLst xmlns:a="http://schemas.openxmlformats.org/drawingml/2006/main">
              <a:ext uri="{FF2B5EF4-FFF2-40B4-BE49-F238E27FC236}">
                <a16:creationId xmlns:a16="http://schemas.microsoft.com/office/drawing/2014/main" id="{D66A8279-E06E-431A-8B98-9B07C8F6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LODO</a:t>
            </a:r>
          </a:p>
        </p:txBody>
      </p:sp>
      <p:sp>
        <p:nvSpPr>
          <p:cNvPr id="19" name="lodo-signal-body">
            <a:extLst xmlns:a="http://schemas.openxmlformats.org/drawingml/2006/main">
              <a:ext uri="{FF2B5EF4-FFF2-40B4-BE49-F238E27FC236}">
                <a16:creationId xmlns:a16="http://schemas.microsoft.com/office/drawing/2014/main" id="{B67EA4B4-B576-409D-BD19-3BA2E24C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comparación se hace dejando fuera dietas completas, no réplicas sueltas.</a:t>
            </a:r>
          </a:p>
        </p:txBody>
      </p:sp>
      <p:sp>
        <p:nvSpPr>
          <p:cNvPr id="20" name="caution-label">
            <a:extLst xmlns:a="http://schemas.openxmlformats.org/drawingml/2006/main">
              <a:ext uri="{FF2B5EF4-FFF2-40B4-BE49-F238E27FC236}">
                <a16:creationId xmlns:a16="http://schemas.microsoft.com/office/drawing/2014/main" id="{87A53215-936A-4B1A-ACEF-0BC7CC2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Alcance</a:t>
            </a:r>
          </a:p>
        </p:txBody>
      </p:sp>
      <p:sp>
        <p:nvSpPr>
          <p:cNvPr id="21" name="caution-body">
            <a:extLst xmlns:a="http://schemas.openxmlformats.org/drawingml/2006/main">
              <a:ext uri="{FF2B5EF4-FFF2-40B4-BE49-F238E27FC236}">
                <a16:creationId xmlns:a16="http://schemas.microsoft.com/office/drawing/2014/main" id="{FF98CD4B-7F5A-4D0D-A6EE-A4B54593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No implica predicción perfecta; indica señal aprendible en las variables disponibles.</a:t>
            </a:r>
          </a:p>
        </p:txBody>
      </p:sp>
      <p:sp>
        <p:nvSpPr>
          <p:cNvPr id="2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6258A03-A698-4392-AA30-CF8AF45A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23" name="closing">
            <a:extLst xmlns:a="http://schemas.openxmlformats.org/drawingml/2006/main">
              <a:ext uri="{FF2B5EF4-FFF2-40B4-BE49-F238E27FC236}">
                <a16:creationId xmlns:a16="http://schemas.microsoft.com/office/drawing/2014/main" id="{4463D7EF-0217-47BE-877B-EBA4EC37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GP no sustituye el ensayo, pero aporta señal útil frente a una predicción trivial.</a:t>
            </a:r>
          </a:p>
        </p:txBody>
      </p:sp>
    </p:spTree>
    <p:extLst>
      <p:ext uri="{BB962C8B-B14F-4D97-AF65-F5344CB8AC3E}">
        <p14:creationId xmlns:p14="http://schemas.microsoft.com/office/powerpoint/2010/main" val="975860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2026-07-03T00:20:31.8840000Z</dcterms:created>
  <dcterms:modified xsi:type="dcterms:W3CDTF">2026-07-03T00:20:31.8840000Z</dcterms:modified>
</coreProperties>
</file>