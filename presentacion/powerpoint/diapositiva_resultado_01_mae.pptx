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e6d64ee70a4f99" /><Relationship Type="http://schemas.openxmlformats.org/officeDocument/2006/relationships/extended-properties" Target="/docProps/app.xml" Id="R729ea6ae72b240f5" /><Relationship Type="http://schemas.openxmlformats.org/officeDocument/2006/relationships/officeDocument" Target="/ppt/presentation.xml" Id="R31bec42eb0e34c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4ea1eab76a44f2"/>
  </p:sldMasterIdLst>
  <p:notesMasterIdLst>
    <p:notesMasterId xmlns:r="http://schemas.openxmlformats.org/officeDocument/2006/relationships" r:id="R4a15ae76938c4e3c"/>
  </p:notesMasterIdLst>
  <p:sldIdLst>
    <p:sldId xmlns:r="http://schemas.openxmlformats.org/officeDocument/2006/relationships" id="256" r:id="R8ba821dedb6b4c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4a981ae9f24785" /><Relationship Type="http://schemas.openxmlformats.org/officeDocument/2006/relationships/slideMaster" Target="/ppt/slideMasters/slideMaster1.xml" Id="R0d4ea1eab76a44f2" /><Relationship Type="http://schemas.openxmlformats.org/officeDocument/2006/relationships/notesMaster" Target="/ppt/notesMasters/notesMaster1.xml" Id="R4a15ae76938c4e3c" /><Relationship Type="http://schemas.openxmlformats.org/officeDocument/2006/relationships/presProps" Target="/ppt/presProps.xml" Id="Rf813441c9a994e09" /><Relationship Type="http://schemas.openxmlformats.org/officeDocument/2006/relationships/tableStyles" Target="/ppt/tableStyles.xml" Id="R07e37b8877d94611" /><Relationship Type="http://schemas.openxmlformats.org/officeDocument/2006/relationships/slide" Target="/ppt/slides/slide1.xml" Id="R8ba821dedb6b4c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aac19fd3b64e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5eb64c721f489a" /><Relationship Type="http://schemas.openxmlformats.org/officeDocument/2006/relationships/notesMaster" Target="/ppt/notesMasters/notesMaster1.xml" Id="R858021f15f3148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e832ab8ee49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bc8a5b6b7b4087" /><Relationship Type="http://schemas.openxmlformats.org/officeDocument/2006/relationships/slideLayout" Target="/ppt/slideLayouts/slideLayout1.xml" Id="Rb35753a8d2954b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5753a8d2954b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ffbb69d0c4770" /><Relationship Type="http://schemas.openxmlformats.org/officeDocument/2006/relationships/notesSlide" Target="/ppt/notesSlides/notesSlide1.xml" Id="Reec8ee221fa348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3223A8E8-38FA-4DB2-B1EF-830CF55F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CASO REAL · RESULTADOS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AD6E09C-4B9E-4A34-83E0-E4F1C724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0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0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Resultado 1: el GP compuesto generaliza a dietas no vistas</a:t>
            </a:r>
          </a:p>
        </p:txBody>
      </p:sp>
      <p:sp>
        <p:nvSpPr>
          <p:cNvPr id="3" name="message">
            <a:extLst xmlns:a="http://schemas.openxmlformats.org/drawingml/2006/main">
              <a:ext uri="{FF2B5EF4-FFF2-40B4-BE49-F238E27FC236}">
                <a16:creationId xmlns:a16="http://schemas.microsoft.com/office/drawing/2014/main" id="{6D5D055A-69B9-4E8A-BA54-049D48DE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El GP compuesto reduce el MAE frente al baseline Dummy en los tres objetivos, con la mayor mejora en proteína.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9A9D090-1182-457C-A81D-67144516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23</a:t>
            </a:r>
          </a:p>
        </p:txBody>
      </p:sp>
      <p:sp>
        <p:nvSpPr>
          <p:cNvPr id="5" name="eval-tag">
            <a:extLst xmlns:a="http://schemas.openxmlformats.org/drawingml/2006/main">
              <a:ext uri="{FF2B5EF4-FFF2-40B4-BE49-F238E27FC236}">
                <a16:creationId xmlns:a16="http://schemas.microsoft.com/office/drawing/2014/main" id="{7ADCE3DE-0830-448F-BA22-FFDF3716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1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MAE macro LODO: error medio por dieta completa retenida  ·  cada dieta pesa igual.</a:t>
            </a:r>
          </a:p>
        </p:txBody>
      </p:sp>
      <p:sp>
        <p:nvSpPr>
          <p:cNvPr id="6" name="yaxis">
            <a:extLst xmlns:a="http://schemas.openxmlformats.org/drawingml/2006/main">
              <a:ext uri="{FF2B5EF4-FFF2-40B4-BE49-F238E27FC236}">
                <a16:creationId xmlns:a16="http://schemas.microsoft.com/office/drawing/2014/main" id="{D8D5B76F-BD84-468C-8F87-A95E5689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7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MAE relativo al Dummy</a:t>
            </a:r>
          </a:p>
        </p:txBody>
      </p:sp>
      <p:sp>
        <p:nvSpPr>
          <p:cNvPr id="7" name="yaxis-sub">
            <a:extLst xmlns:a="http://schemas.openxmlformats.org/drawingml/2006/main">
              <a:ext uri="{FF2B5EF4-FFF2-40B4-BE49-F238E27FC236}">
                <a16:creationId xmlns:a16="http://schemas.microsoft.com/office/drawing/2014/main" id="{3258290C-0BFE-4021-AF49-198C53EF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25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ρ = MAE / MAE_Dummy  ·  menor es mejor</a:t>
            </a:r>
          </a:p>
        </p:txBody>
      </p:sp>
      <p:sp>
        <p:nvSpPr>
          <p:cNvPr id="8" name="dummy-line">
            <a:extLst xmlns:a="http://schemas.openxmlformats.org/drawingml/2006/main">
              <a:ext uri="{FF2B5EF4-FFF2-40B4-BE49-F238E27FC236}">
                <a16:creationId xmlns:a16="http://schemas.microsoft.com/office/drawing/2014/main" id="{C5937DEF-577B-4098-B022-F7FDD726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AA0A6"/>
            </a:solidFill>
            <a:prstDash val="dash"/>
          </a:ln>
        </p:spPr>
      </p:sp>
      <p:sp>
        <p:nvSpPr>
          <p:cNvPr id="9" name="dummy-lbl">
            <a:extLst xmlns:a="http://schemas.openxmlformats.org/drawingml/2006/main">
              <a:ext uri="{FF2B5EF4-FFF2-40B4-BE49-F238E27FC236}">
                <a16:creationId xmlns:a16="http://schemas.microsoft.com/office/drawing/2014/main" id="{88AB7E5E-CEE1-4241-9BD0-53F605FF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62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1" i="0">
                <a:solidFill>
                  <a:srgbClr val="9AA0A6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9AA0A6"/>
                </a:solidFill>
                <a:latin typeface="Google Sans"/>
                <a:ea typeface="Google Sans"/>
                <a:cs typeface="Google Sans"/>
              </a:rPr>
              <a:t>Dummy = 1.0</a:t>
            </a:r>
          </a:p>
        </p:txBody>
      </p:sp>
      <p:sp>
        <p:nvSpPr>
          <p:cNvPr id="10" name="baseline">
            <a:extLst xmlns:a="http://schemas.openxmlformats.org/drawingml/2006/main">
              <a:ext uri="{FF2B5EF4-FFF2-40B4-BE49-F238E27FC236}">
                <a16:creationId xmlns:a16="http://schemas.microsoft.com/office/drawing/2014/main" id="{B6749C3E-B49F-415E-8914-3E27F511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CCC0"/>
            </a:solidFill>
            <a:prstDash val="solid"/>
          </a:ln>
        </p:spPr>
      </p:sp>
      <p:sp>
        <p:nvSpPr>
          <p:cNvPr id="11" name="bar-0">
            <a:extLst xmlns:a="http://schemas.openxmlformats.org/drawingml/2006/main">
              <a:ext uri="{FF2B5EF4-FFF2-40B4-BE49-F238E27FC236}">
                <a16:creationId xmlns:a16="http://schemas.microsoft.com/office/drawing/2014/main" id="{C1ED61C0-E6B5-4532-8FC0-B15924EB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72740"/>
            <a:ext cx="876300" cy="160401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ho-0">
            <a:extLst xmlns:a="http://schemas.openxmlformats.org/drawingml/2006/main">
              <a:ext uri="{FF2B5EF4-FFF2-40B4-BE49-F238E27FC236}">
                <a16:creationId xmlns:a16="http://schemas.microsoft.com/office/drawing/2014/main" id="{FF2DD2CC-1CB9-48D7-988A-557C2B26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414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0.84</a:t>
            </a:r>
          </a:p>
        </p:txBody>
      </p:sp>
      <p:sp>
        <p:nvSpPr>
          <p:cNvPr id="13" name="name-0">
            <a:extLst xmlns:a="http://schemas.openxmlformats.org/drawingml/2006/main">
              <a:ext uri="{FF2B5EF4-FFF2-40B4-BE49-F238E27FC236}">
                <a16:creationId xmlns:a16="http://schemas.microsoft.com/office/drawing/2014/main" id="{BF081E45-3AF0-4452-BF11-523E9B26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FCR</a:t>
            </a:r>
          </a:p>
        </p:txBody>
      </p:sp>
      <p:sp>
        <p:nvSpPr>
          <p:cNvPr id="14" name="imp-0">
            <a:extLst xmlns:a="http://schemas.openxmlformats.org/drawingml/2006/main">
              <a:ext uri="{FF2B5EF4-FFF2-40B4-BE49-F238E27FC236}">
                <a16:creationId xmlns:a16="http://schemas.microsoft.com/office/drawing/2014/main" id="{6058B5A0-69C5-440F-97CD-EE0BDB1A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3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1425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−15.8 %</a:t>
            </a:r>
          </a:p>
        </p:txBody>
      </p:sp>
      <p:sp>
        <p:nvSpPr>
          <p:cNvPr id="15" name="bar-1">
            <a:extLst xmlns:a="http://schemas.openxmlformats.org/drawingml/2006/main">
              <a:ext uri="{FF2B5EF4-FFF2-40B4-BE49-F238E27FC236}">
                <a16:creationId xmlns:a16="http://schemas.microsoft.com/office/drawing/2014/main" id="{373FB7AA-8550-477A-B528-8BF10A37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65120"/>
            <a:ext cx="876300" cy="161163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ho-1">
            <a:extLst xmlns:a="http://schemas.openxmlformats.org/drawingml/2006/main">
              <a:ext uri="{FF2B5EF4-FFF2-40B4-BE49-F238E27FC236}">
                <a16:creationId xmlns:a16="http://schemas.microsoft.com/office/drawing/2014/main" id="{86B21377-727B-405D-A75D-F591225A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3652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0.85</a:t>
            </a:r>
          </a:p>
        </p:txBody>
      </p:sp>
      <p:sp>
        <p:nvSpPr>
          <p:cNvPr id="17" name="name-1">
            <a:extLst xmlns:a="http://schemas.openxmlformats.org/drawingml/2006/main">
              <a:ext uri="{FF2B5EF4-FFF2-40B4-BE49-F238E27FC236}">
                <a16:creationId xmlns:a16="http://schemas.microsoft.com/office/drawing/2014/main" id="{590C1BD3-FA86-4CD3-A142-9A7DA61E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Quitina</a:t>
            </a:r>
          </a:p>
        </p:txBody>
      </p:sp>
      <p:sp>
        <p:nvSpPr>
          <p:cNvPr id="18" name="imp-1">
            <a:extLst xmlns:a="http://schemas.openxmlformats.org/drawingml/2006/main">
              <a:ext uri="{FF2B5EF4-FFF2-40B4-BE49-F238E27FC236}">
                <a16:creationId xmlns:a16="http://schemas.microsoft.com/office/drawing/2014/main" id="{172FD893-D6D5-463C-B058-A2885EC2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3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1425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−15.4 %</a:t>
            </a:r>
          </a:p>
        </p:txBody>
      </p:sp>
      <p:sp>
        <p:nvSpPr>
          <p:cNvPr id="19" name="bar-2">
            <a:extLst xmlns:a="http://schemas.openxmlformats.org/drawingml/2006/main">
              <a:ext uri="{FF2B5EF4-FFF2-40B4-BE49-F238E27FC236}">
                <a16:creationId xmlns:a16="http://schemas.microsoft.com/office/drawing/2014/main" id="{FA8014A9-5658-4F36-965F-A178B1F8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68980"/>
            <a:ext cx="876300" cy="120777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ho-2">
            <a:extLst xmlns:a="http://schemas.openxmlformats.org/drawingml/2006/main">
              <a:ext uri="{FF2B5EF4-FFF2-40B4-BE49-F238E27FC236}">
                <a16:creationId xmlns:a16="http://schemas.microsoft.com/office/drawing/2014/main" id="{F8ECF0AC-66AF-4FFE-8F09-E0328CA5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038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0.63</a:t>
            </a:r>
          </a:p>
        </p:txBody>
      </p:sp>
      <p:sp>
        <p:nvSpPr>
          <p:cNvPr id="21" name="name-2">
            <a:extLst xmlns:a="http://schemas.openxmlformats.org/drawingml/2006/main">
              <a:ext uri="{FF2B5EF4-FFF2-40B4-BE49-F238E27FC236}">
                <a16:creationId xmlns:a16="http://schemas.microsoft.com/office/drawing/2014/main" id="{E7B35196-0EFF-4C0E-858B-F5C37AFD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91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Proteína</a:t>
            </a:r>
          </a:p>
        </p:txBody>
      </p:sp>
      <p:sp>
        <p:nvSpPr>
          <p:cNvPr id="22" name="imp-2">
            <a:extLst xmlns:a="http://schemas.openxmlformats.org/drawingml/2006/main">
              <a:ext uri="{FF2B5EF4-FFF2-40B4-BE49-F238E27FC236}">
                <a16:creationId xmlns:a16="http://schemas.microsoft.com/office/drawing/2014/main" id="{DA8E49DA-F517-44F4-A513-7690000C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3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1425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−36.6 %</a:t>
            </a:r>
          </a:p>
        </p:txBody>
      </p:sp>
      <p:sp>
        <p:nvSpPr>
          <p:cNvPr id="23" name="leg-g">
            <a:extLst xmlns:a="http://schemas.openxmlformats.org/drawingml/2006/main">
              <a:ext uri="{FF2B5EF4-FFF2-40B4-BE49-F238E27FC236}">
                <a16:creationId xmlns:a16="http://schemas.microsoft.com/office/drawing/2014/main" id="{638D73C8-3933-474F-A977-C4DB9367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152400" cy="152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eg-g-t">
            <a:extLst xmlns:a="http://schemas.openxmlformats.org/drawingml/2006/main">
              <a:ext uri="{FF2B5EF4-FFF2-40B4-BE49-F238E27FC236}">
                <a16:creationId xmlns:a16="http://schemas.microsoft.com/office/drawing/2014/main" id="{EABBFAC3-0814-476E-B095-64135F06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002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38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GP compuesto</a:t>
            </a:r>
          </a:p>
        </p:txBody>
      </p:sp>
      <p:sp>
        <p:nvSpPr>
          <p:cNvPr id="25" name="bottom-rule">
            <a:extLst xmlns:a="http://schemas.openxmlformats.org/drawingml/2006/main">
              <a:ext uri="{FF2B5EF4-FFF2-40B4-BE49-F238E27FC236}">
                <a16:creationId xmlns:a16="http://schemas.microsoft.com/office/drawing/2014/main" id="{249C991E-9250-4472-BD7E-07EBF587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26" name="closing-a">
            <a:extLst xmlns:a="http://schemas.openxmlformats.org/drawingml/2006/main">
              <a:ext uri="{FF2B5EF4-FFF2-40B4-BE49-F238E27FC236}">
                <a16:creationId xmlns:a16="http://schemas.microsoft.com/office/drawing/2014/main" id="{A9F636A1-BD34-4948-9E61-522BF10B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Mejora relativa:</a:t>
            </a:r>
          </a:p>
        </p:txBody>
      </p:sp>
      <p:sp>
        <p:nvSpPr>
          <p:cNvPr id="27" name="closing-b">
            <a:extLst xmlns:a="http://schemas.openxmlformats.org/drawingml/2006/main">
              <a:ext uri="{FF2B5EF4-FFF2-40B4-BE49-F238E27FC236}">
                <a16:creationId xmlns:a16="http://schemas.microsoft.com/office/drawing/2014/main" id="{ED1A5726-712C-4B90-AC7E-ADDCFC27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626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compuesto reduce el error medio por dieta en los tres objetivos.</a:t>
            </a:r>
          </a:p>
        </p:txBody>
      </p:sp>
    </p:spTree>
    <p:extLst>
      <p:ext uri="{BB962C8B-B14F-4D97-AF65-F5344CB8AC3E}">
        <p14:creationId xmlns:p14="http://schemas.microsoft.com/office/powerpoint/2010/main" val="655558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2026-07-04T11:54:38.1110000Z</dcterms:created>
  <dcterms:modified xsi:type="dcterms:W3CDTF">2026-07-04T11:54:38.1110000Z</dcterms:modified>
</coreProperties>
</file>