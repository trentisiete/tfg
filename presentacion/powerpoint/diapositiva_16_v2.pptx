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caa0d8897048a5" /><Relationship Type="http://schemas.openxmlformats.org/officeDocument/2006/relationships/extended-properties" Target="/docProps/app.xml" Id="Rdd703f7b8477481f" /><Relationship Type="http://schemas.openxmlformats.org/officeDocument/2006/relationships/officeDocument" Target="/ppt/presentation.xml" Id="R8487b518b4d345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8987efe7ac408c"/>
  </p:sldMasterIdLst>
  <p:notesMasterIdLst>
    <p:notesMasterId xmlns:r="http://schemas.openxmlformats.org/officeDocument/2006/relationships" r:id="R19a28d3b99cf462b"/>
  </p:notesMasterIdLst>
  <p:sldIdLst>
    <p:sldId xmlns:r="http://schemas.openxmlformats.org/officeDocument/2006/relationships" id="256" r:id="R3bb8c5b32ad448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2bf394c36a4a75" /><Relationship Type="http://schemas.openxmlformats.org/officeDocument/2006/relationships/slideMaster" Target="/ppt/slideMasters/slideMaster1.xml" Id="Rfb8987efe7ac408c" /><Relationship Type="http://schemas.openxmlformats.org/officeDocument/2006/relationships/notesMaster" Target="/ppt/notesMasters/notesMaster1.xml" Id="R19a28d3b99cf462b" /><Relationship Type="http://schemas.openxmlformats.org/officeDocument/2006/relationships/presProps" Target="/ppt/presProps.xml" Id="R2f3c287fdc234f8d" /><Relationship Type="http://schemas.openxmlformats.org/officeDocument/2006/relationships/tableStyles" Target="/ppt/tableStyles.xml" Id="R852952cadd0c49cc" /><Relationship Type="http://schemas.openxmlformats.org/officeDocument/2006/relationships/slide" Target="/ppt/slides/slide1.xml" Id="R3bb8c5b32ad448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1904dde76d42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b08d4c54924070" /><Relationship Type="http://schemas.openxmlformats.org/officeDocument/2006/relationships/notesMaster" Target="/ppt/notesMasters/notesMaster1.xml" Id="R0b4ee9046bc344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d24b79f4447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5506f9bf77436b" /><Relationship Type="http://schemas.openxmlformats.org/officeDocument/2006/relationships/slideLayout" Target="/ppt/slideLayouts/slideLayout1.xml" Id="R789e0e6b5c2c4c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9e0e6b5c2c4c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6f6baa2cb46cc" /><Relationship Type="http://schemas.openxmlformats.org/officeDocument/2006/relationships/image" Target="/ppt/media/image.png" Id="R031e1fde12b24ac1" /><Relationship Type="http://schemas.openxmlformats.org/officeDocument/2006/relationships/image" Target="/ppt/media/image2.png" Id="R513bd10137f34c63" /><Relationship Type="http://schemas.openxmlformats.org/officeDocument/2006/relationships/notesSlide" Target="/ppt/notesSlides/notesSlide1.xml" Id="Ra6fc54710f1a41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DEB8E8F-FAA8-40A1-AF6A-517FF105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BENCHMARKS SINTÉTICOS / MÉTRICAS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7DD22B-9AE5-4E2A-A928-B2953D6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7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Mejora del incumbent y trayectoria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28A62C2-F17C-4E98-954B-C0349388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9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9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La optimización se evalúa por el mejor valor alcanzado y por cómo se consume el presupuesto de infill.</a:t>
            </a:r>
          </a:p>
        </p:txBody>
      </p:sp>
      <p:sp>
        <p:nvSpPr>
          <p:cNvPr id="4" name="inc-improvement-title">
            <a:extLst xmlns:a="http://schemas.openxmlformats.org/drawingml/2006/main">
              <a:ext uri="{FF2B5EF4-FFF2-40B4-BE49-F238E27FC236}">
                <a16:creationId xmlns:a16="http://schemas.microsoft.com/office/drawing/2014/main" id="{20543522-4EC9-4ECE-8651-221BC8B3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73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4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4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Mejora relativa del mínimo encontrado</a:t>
            </a:r>
          </a:p>
        </p:txBody>
      </p:sp>
      <p:sp>
        <p:nvSpPr>
          <p:cNvPr id="5" name="inc-improvement-note">
            <a:extLst xmlns:a="http://schemas.openxmlformats.org/drawingml/2006/main">
              <a:ext uri="{FF2B5EF4-FFF2-40B4-BE49-F238E27FC236}">
                <a16:creationId xmlns:a16="http://schemas.microsoft.com/office/drawing/2014/main" id="{6DCAABF7-0BFE-4944-99EE-11E03403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943100"/>
            <a:ext cx="256032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gap al óptimo</a:t>
            </a:r>
          </a:p>
        </p:txBody>
      </p:sp>
      <p:sp>
        <p:nvSpPr>
          <p:cNvPr id="6" name="inc-improvement-rule">
            <a:extLst xmlns:a="http://schemas.openxmlformats.org/drawingml/2006/main">
              <a:ext uri="{FF2B5EF4-FFF2-40B4-BE49-F238E27FC236}">
                <a16:creationId xmlns:a16="http://schemas.microsoft.com/office/drawing/2014/main" id="{48FD70C8-221B-4D79-9FFB-6F6D2300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7" name="inc-definition-kicker">
            <a:extLst xmlns:a="http://schemas.openxmlformats.org/drawingml/2006/main">
              <a:ext uri="{FF2B5EF4-FFF2-40B4-BE49-F238E27FC236}">
                <a16:creationId xmlns:a16="http://schemas.microsoft.com/office/drawing/2014/main" id="{34BADE4B-CA11-46AA-8080-7CB7758A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09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DEFINICIÓN USADA EN BENCHMARKS CON ÓPTIMO CONOCIDO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e1fde12b24ac1"/>
          <a:stretch xmlns:a="http://schemas.openxmlformats.org/drawingml/2006/main"/>
        </p:blipFill>
        <p:spPr>
          <a:xfrm xmlns:a="http://schemas.openxmlformats.org/drawingml/2006/main">
            <a:off x="1223513" y="2771775"/>
            <a:ext cx="3877574" cy="457200"/>
          </a:xfrm>
          <a:prstGeom xmlns:a="http://schemas.openxmlformats.org/drawingml/2006/main" prst="rect">
            <a:avLst/>
          </a:prstGeom>
        </p:spPr>
      </p:pic>
      <p:sp>
        <p:nvSpPr>
          <p:cNvPr id="9" name="inc-definition-copy">
            <a:extLst xmlns:a="http://schemas.openxmlformats.org/drawingml/2006/main">
              <a:ext uri="{FF2B5EF4-FFF2-40B4-BE49-F238E27FC236}">
                <a16:creationId xmlns:a16="http://schemas.microsoft.com/office/drawing/2014/main" id="{034B3C88-9CDF-4502-9E26-555474E8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3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3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gap compara el mejor valor limpio encontrado hasta la iteración t con el óptimo de referencia. La mejora relativa mide cuánto se reduce ese gap respecto al diseño inicial.</a:t>
            </a:r>
          </a:p>
        </p:txBody>
      </p:sp>
      <p:sp>
        <p:nvSpPr>
          <p:cNvPr id="10" name="inc-subrule">
            <a:extLst xmlns:a="http://schemas.openxmlformats.org/drawingml/2006/main">
              <a:ext uri="{FF2B5EF4-FFF2-40B4-BE49-F238E27FC236}">
                <a16:creationId xmlns:a16="http://schemas.microsoft.com/office/drawing/2014/main" id="{F3DC065A-23F0-42EC-93A0-5AD9E7C9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11" name="borehole-kicker">
            <a:extLst xmlns:a="http://schemas.openxmlformats.org/drawingml/2006/main">
              <a:ext uri="{FF2B5EF4-FFF2-40B4-BE49-F238E27FC236}">
                <a16:creationId xmlns:a16="http://schemas.microsoft.com/office/drawing/2014/main" id="{34E03454-9D21-420D-956B-2620C6BE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238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CASO SIN ÓPTIMO DE REFERENCIA</a:t>
            </a:r>
          </a:p>
        </p:txBody>
      </p:sp>
      <p:sp>
        <p:nvSpPr>
          <p:cNvPr id="12" name="borehole-copy">
            <a:extLst xmlns:a="http://schemas.openxmlformats.org/drawingml/2006/main">
              <a:ext uri="{FF2B5EF4-FFF2-40B4-BE49-F238E27FC236}">
                <a16:creationId xmlns:a16="http://schemas.microsoft.com/office/drawing/2014/main" id="{0D49472D-A429-49BF-9725-5ED88AEB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En Borehole no se calcula gap al óptimo; se reporta la reducción relativa del mejor valor limpio respecto al diseño inicial.</a:t>
            </a:r>
          </a:p>
        </p:txBody>
      </p:sp>
      <p:sp>
        <p:nvSpPr>
          <p:cNvPr id="13" name="main-separator">
            <a:extLst xmlns:a="http://schemas.openxmlformats.org/drawingml/2006/main">
              <a:ext uri="{FF2B5EF4-FFF2-40B4-BE49-F238E27FC236}">
                <a16:creationId xmlns:a16="http://schemas.microsoft.com/office/drawing/2014/main" id="{C7336C89-383B-4DE1-BE54-8FD2B545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0" cy="3295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6CC"/>
            </a:solidFill>
            <a:prstDash val="solid"/>
          </a:ln>
        </p:spPr>
      </p:sp>
      <p:sp>
        <p:nvSpPr>
          <p:cNvPr id="14" name="trajectory-title">
            <a:extLst xmlns:a="http://schemas.openxmlformats.org/drawingml/2006/main">
              <a:ext uri="{FF2B5EF4-FFF2-40B4-BE49-F238E27FC236}">
                <a16:creationId xmlns:a16="http://schemas.microsoft.com/office/drawing/2014/main" id="{62F03BB8-D74E-45CA-88EC-DA0EDF23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35204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4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4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Lectura temporal de la búsqueda</a:t>
            </a:r>
          </a:p>
        </p:txBody>
      </p:sp>
      <p:sp>
        <p:nvSpPr>
          <p:cNvPr id="15" name="trajectory-note">
            <a:extLst xmlns:a="http://schemas.openxmlformats.org/drawingml/2006/main">
              <a:ext uri="{FF2B5EF4-FFF2-40B4-BE49-F238E27FC236}">
                <a16:creationId xmlns:a16="http://schemas.microsoft.com/office/drawing/2014/main" id="{D51D2510-FBAC-4EDA-9445-9EB91785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2184" y="1943100"/>
            <a:ext cx="2414016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3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final frente a trayectoria</a:t>
            </a:r>
          </a:p>
        </p:txBody>
      </p:sp>
      <p:sp>
        <p:nvSpPr>
          <p:cNvPr id="16" name="trajectory-rule">
            <a:extLst xmlns:a="http://schemas.openxmlformats.org/drawingml/2006/main">
              <a:ext uri="{FF2B5EF4-FFF2-40B4-BE49-F238E27FC236}">
                <a16:creationId xmlns:a16="http://schemas.microsoft.com/office/drawing/2014/main" id="{003CBE9D-B6AF-40F9-A62B-0CEFC22D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17" name="final-kicker">
            <a:extLst xmlns:a="http://schemas.openxmlformats.org/drawingml/2006/main">
              <a:ext uri="{FF2B5EF4-FFF2-40B4-BE49-F238E27FC236}">
                <a16:creationId xmlns:a16="http://schemas.microsoft.com/office/drawing/2014/main" id="{4A0BFD29-12E1-4B76-8964-83B94412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MEJORA FINAL</a:t>
            </a:r>
          </a:p>
        </p:txBody>
      </p:sp>
      <p:sp>
        <p:nvSpPr>
          <p:cNvPr id="18" name="final-copy">
            <a:extLst xmlns:a="http://schemas.openxmlformats.org/drawingml/2006/main">
              <a:ext uri="{FF2B5EF4-FFF2-40B4-BE49-F238E27FC236}">
                <a16:creationId xmlns:a16="http://schemas.microsoft.com/office/drawing/2014/main" id="{DF7E0250-DDEA-40D7-8398-171A922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23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23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Valor de la mejora relativa al terminar la trayectoria. Resume dónde acaba el procedimiento tras agotar el presupuesto asignado.</a:t>
            </a:r>
          </a:p>
        </p:txBody>
      </p:sp>
      <p:sp>
        <p:nvSpPr>
          <p:cNvPr id="19" name="trajectory-subrule-1">
            <a:extLst xmlns:a="http://schemas.openxmlformats.org/drawingml/2006/main">
              <a:ext uri="{FF2B5EF4-FFF2-40B4-BE49-F238E27FC236}">
                <a16:creationId xmlns:a16="http://schemas.microsoft.com/office/drawing/2014/main" id="{B00337AF-F3D6-4178-A956-81E8F0E8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20" name="accumulated-kicker">
            <a:extLst xmlns:a="http://schemas.openxmlformats.org/drawingml/2006/main">
              <a:ext uri="{FF2B5EF4-FFF2-40B4-BE49-F238E27FC236}">
                <a16:creationId xmlns:a16="http://schemas.microsoft.com/office/drawing/2014/main" id="{60189087-1194-4E24-BCB4-C07E6E0D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MEJORA ACUMULADA</a:t>
            </a:r>
          </a:p>
        </p:txBody>
      </p:sp>
      <p:sp>
        <p:nvSpPr>
          <p:cNvPr id="21" name="accumulated-copy">
            <a:extLst xmlns:a="http://schemas.openxmlformats.org/drawingml/2006/main">
              <a:ext uri="{FF2B5EF4-FFF2-40B4-BE49-F238E27FC236}">
                <a16:creationId xmlns:a16="http://schemas.microsoft.com/office/drawing/2014/main" id="{7DAF144E-7346-475F-B612-F5C264E2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493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23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23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Área bajo la trayectoria normalizada de mejora relativa. Captura si los buenos valores aparecen pronto o solo al final.</a:t>
            </a:r>
          </a:p>
        </p:txBody>
      </p:sp>
      <p:sp>
        <p:nvSpPr>
          <p:cNvPr id="22" name="trajectory-subrule-2">
            <a:extLst xmlns:a="http://schemas.openxmlformats.org/drawingml/2006/main">
              <a:ext uri="{FF2B5EF4-FFF2-40B4-BE49-F238E27FC236}">
                <a16:creationId xmlns:a16="http://schemas.microsoft.com/office/drawing/2014/main" id="{909C022F-47A0-472A-BF73-54BB4735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62475"/>
            <a:ext cx="502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CD6CC"/>
            </a:solidFill>
            <a:prstDash val="solid"/>
          </a:ln>
        </p:spPr>
      </p:sp>
      <p:sp>
        <p:nvSpPr>
          <p:cNvPr id="23" name="ratio-kicker">
            <a:extLst xmlns:a="http://schemas.openxmlformats.org/drawingml/2006/main">
              <a:ext uri="{FF2B5EF4-FFF2-40B4-BE49-F238E27FC236}">
                <a16:creationId xmlns:a16="http://schemas.microsoft.com/office/drawing/2014/main" id="{139713D4-3777-4D5E-A5CC-7BB05668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2917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64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RITMO (RATIO TEMPORAL)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bd10137f34c63"/>
          <a:stretch xmlns:a="http://schemas.openxmlformats.org/drawingml/2006/main"/>
        </p:blipFill>
        <p:spPr>
          <a:xfrm xmlns:a="http://schemas.openxmlformats.org/drawingml/2006/main">
            <a:off x="7089728" y="5038725"/>
            <a:ext cx="1917795" cy="361950"/>
          </a:xfrm>
          <a:prstGeom xmlns:a="http://schemas.openxmlformats.org/drawingml/2006/main" prst="rect">
            <a:avLst/>
          </a:prstGeom>
        </p:spPr>
      </p:pic>
      <p:sp>
        <p:nvSpPr>
          <p:cNvPr id="25" name="ratio-copy">
            <a:extLst xmlns:a="http://schemas.openxmlformats.org/drawingml/2006/main">
              <a:ext uri="{FF2B5EF4-FFF2-40B4-BE49-F238E27FC236}">
                <a16:creationId xmlns:a16="http://schemas.microsoft.com/office/drawing/2014/main" id="{57671813-AA54-43D4-A9C7-385E941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14975"/>
            <a:ext cx="4933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8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Un ratio próximo a uno indica mejora temprana; valores menores sugieren progreso más tardío durante el infill.</a:t>
            </a:r>
          </a:p>
        </p:txBody>
      </p:sp>
      <p:sp>
        <p:nvSpPr>
          <p:cNvPr id="26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D310434C-F548-4B3A-BCC3-44563942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CFC7BA"/>
            </a:solidFill>
            <a:prstDash val="solid"/>
          </a:ln>
        </p:spPr>
      </p:sp>
      <p:sp>
        <p:nvSpPr>
          <p:cNvPr id="27" name="closing">
            <a:extLst xmlns:a="http://schemas.openxmlformats.org/drawingml/2006/main">
              <a:ext uri="{FF2B5EF4-FFF2-40B4-BE49-F238E27FC236}">
                <a16:creationId xmlns:a16="http://schemas.microsoft.com/office/drawing/2014/main" id="{38BEF234-8BD8-470D-A1CF-1A9F38C2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85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85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La mejora final indica el resultado alcanzado; el ritmo describe cuándo se obtuvo esa mejora.</a:t>
            </a:r>
          </a:p>
        </p:txBody>
      </p:sp>
      <p:sp>
        <p:nvSpPr>
          <p:cNvPr id="2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E2B1379-27CF-4F11-BEFE-CECD4F83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91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40030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2026-07-02T19:47:34.8380000Z</dcterms:created>
  <dcterms:modified xsi:type="dcterms:W3CDTF">2026-07-02T19:47:34.8380000Z</dcterms:modified>
</coreProperties>
</file>