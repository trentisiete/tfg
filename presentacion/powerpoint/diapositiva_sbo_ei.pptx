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84c8d64a84607" /><Relationship Type="http://schemas.openxmlformats.org/officeDocument/2006/relationships/extended-properties" Target="/docProps/app.xml" Id="Rcbb78dc5bce741c7" /><Relationship Type="http://schemas.openxmlformats.org/officeDocument/2006/relationships/officeDocument" Target="/ppt/presentation.xml" Id="Rb60be3c13d8d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e385366e641f7"/>
  </p:sldMasterIdLst>
  <p:notesMasterIdLst>
    <p:notesMasterId xmlns:r="http://schemas.openxmlformats.org/officeDocument/2006/relationships" r:id="Ra1c1cf8aecf84bd3"/>
  </p:notesMasterIdLst>
  <p:sldIdLst>
    <p:sldId xmlns:r="http://schemas.openxmlformats.org/officeDocument/2006/relationships" id="256" r:id="Raf073e125fff4c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76ec5bd1345d4" /><Relationship Type="http://schemas.openxmlformats.org/officeDocument/2006/relationships/slideMaster" Target="/ppt/slideMasters/slideMaster1.xml" Id="R54ce385366e641f7" /><Relationship Type="http://schemas.openxmlformats.org/officeDocument/2006/relationships/notesMaster" Target="/ppt/notesMasters/notesMaster1.xml" Id="Ra1c1cf8aecf84bd3" /><Relationship Type="http://schemas.openxmlformats.org/officeDocument/2006/relationships/presProps" Target="/ppt/presProps.xml" Id="R0f4ff065ec63497b" /><Relationship Type="http://schemas.openxmlformats.org/officeDocument/2006/relationships/tableStyles" Target="/ppt/tableStyles.xml" Id="R1b6aa43208a7499b" /><Relationship Type="http://schemas.openxmlformats.org/officeDocument/2006/relationships/slide" Target="/ppt/slides/slide1.xml" Id="Raf073e125fff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4787c1bdd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dc6bcd17984613" /><Relationship Type="http://schemas.openxmlformats.org/officeDocument/2006/relationships/notesMaster" Target="/ppt/notesMasters/notesMaster1.xml" Id="R97fa77318a8140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4020d91a748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c82118b2af4b27" /><Relationship Type="http://schemas.openxmlformats.org/officeDocument/2006/relationships/slideLayout" Target="/ppt/slideLayouts/slideLayout1.xml" Id="R4a12ed59de15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12ed59de15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ee19544ad4d64" /><Relationship Type="http://schemas.openxmlformats.org/officeDocument/2006/relationships/image" Target="/ppt/media/image.png" Id="R73d51a1a140f4c22" /><Relationship Type="http://schemas.openxmlformats.org/officeDocument/2006/relationships/image" Target="/ppt/media/image2.png" Id="R1466afbacc9641a8" /><Relationship Type="http://schemas.openxmlformats.org/officeDocument/2006/relationships/image" Target="/ppt/media/image3.png" Id="R90fd4215154d4004" /><Relationship Type="http://schemas.openxmlformats.org/officeDocument/2006/relationships/image" Target="/ppt/media/image4.png" Id="R2cde9b510c3f40ae" /><Relationship Type="http://schemas.openxmlformats.org/officeDocument/2006/relationships/image" Target="/ppt/media/image5.png" Id="Rd9dc938865e34c9e" /><Relationship Type="http://schemas.openxmlformats.org/officeDocument/2006/relationships/image" Target="/ppt/media/image6.png" Id="Re1dcf206fd154aa4" /><Relationship Type="http://schemas.openxmlformats.org/officeDocument/2006/relationships/image" Target="/ppt/media/image7.png" Id="Rc543fc2abbb24419" /><Relationship Type="http://schemas.openxmlformats.org/officeDocument/2006/relationships/image" Target="/ppt/media/image8.png" Id="R7898bdea41ef43a4" /><Relationship Type="http://schemas.openxmlformats.org/officeDocument/2006/relationships/image" Target="/ppt/media/image9.png" Id="R197f1daf4c6e4ee0" /><Relationship Type="http://schemas.openxmlformats.org/officeDocument/2006/relationships/image" Target="/ppt/media/image10.png" Id="R766996f9b04d46ab" /><Relationship Type="http://schemas.openxmlformats.org/officeDocument/2006/relationships/image" Target="/ppt/media/image11.png" Id="R7cd3bf248be44d23" /><Relationship Type="http://schemas.openxmlformats.org/officeDocument/2006/relationships/notesSlide" Target="/ppt/notesSlides/notesSlide1.xml" Id="Rf0763d1a84fc4d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20C1517-E64B-4719-9B72-2A7A63D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METODOLOGÍA / SBO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EA2806-BADC-4DEA-8856-163D89F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Expected Improvement: de predicción a decisión</a:t>
            </a:r>
          </a:p>
        </p:txBody>
      </p:sp>
      <p:sp>
        <p:nvSpPr>
          <p:cNvPr id="3" name="idea">
            <a:extLst xmlns:a="http://schemas.openxmlformats.org/drawingml/2006/main">
              <a:ext uri="{FF2B5EF4-FFF2-40B4-BE49-F238E27FC236}">
                <a16:creationId xmlns:a16="http://schemas.microsoft.com/office/drawing/2014/main" id="{4D6B9DB7-B8D1-4650-A636-6B78D8F9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EI estima, bajo la posterior actual del GP, cuánto puede mejorar cada candidato respecto al mejor valor observado.</a:t>
            </a:r>
          </a:p>
        </p:txBody>
      </p:sp>
      <p:sp>
        <p:nvSpPr>
          <p:cNvPr id="4" name="idea-rule">
            <a:extLst xmlns:a="http://schemas.openxmlformats.org/drawingml/2006/main">
              <a:ext uri="{FF2B5EF4-FFF2-40B4-BE49-F238E27FC236}">
                <a16:creationId xmlns:a16="http://schemas.microsoft.com/office/drawing/2014/main" id="{5ECA9C71-47BF-469C-91A2-8CCAF4C3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5" name="incumbent-kicker">
            <a:extLst xmlns:a="http://schemas.openxmlformats.org/drawingml/2006/main">
              <a:ext uri="{FF2B5EF4-FFF2-40B4-BE49-F238E27FC236}">
                <a16:creationId xmlns:a16="http://schemas.microsoft.com/office/drawing/2014/main" id="{2AEE28D3-3E2E-4736-A9F5-F919756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Incumbent — mejor valor observado hasta ahora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51a1a140f4c22"/>
          <a:stretch xmlns:a="http://schemas.openxmlformats.org/drawingml/2006/main"/>
        </p:blipFill>
        <p:spPr>
          <a:xfrm xmlns:a="http://schemas.openxmlformats.org/drawingml/2006/main">
            <a:off x="742950" y="2943225"/>
            <a:ext cx="2143125" cy="544833"/>
          </a:xfrm>
          <a:prstGeom xmlns:a="http://schemas.openxmlformats.org/drawingml/2006/main" prst="rect">
            <a:avLst/>
          </a:prstGeom>
        </p:spPr>
      </p:pic>
      <p:sp>
        <p:nvSpPr>
          <p:cNvPr id="7" name="improvement-kicker">
            <a:extLst xmlns:a="http://schemas.openxmlformats.org/drawingml/2006/main">
              <a:ext uri="{FF2B5EF4-FFF2-40B4-BE49-F238E27FC236}">
                <a16:creationId xmlns:a16="http://schemas.microsoft.com/office/drawing/2014/main" id="{035F0728-B3EC-4A43-AD9A-69470EB5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1883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candidato aún es incierto: la mejora es aleatoria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6afbacc9641a8"/>
          <a:stretch xmlns:a="http://schemas.openxmlformats.org/drawingml/2006/main"/>
        </p:blipFill>
        <p:spPr>
          <a:xfrm xmlns:a="http://schemas.openxmlformats.org/drawingml/2006/main">
            <a:off x="742950" y="3811908"/>
            <a:ext cx="2857500" cy="306109"/>
          </a:xfrm>
          <a:prstGeom xmlns:a="http://schemas.openxmlformats.org/drawingml/2006/main" prst="rect">
            <a:avLst/>
          </a:prstGeom>
        </p:spPr>
      </p:pic>
      <p:sp>
        <p:nvSpPr>
          <p:cNvPr id="9" name="ei-kicker">
            <a:extLst xmlns:a="http://schemas.openxmlformats.org/drawingml/2006/main">
              <a:ext uri="{FF2B5EF4-FFF2-40B4-BE49-F238E27FC236}">
                <a16:creationId xmlns:a16="http://schemas.microsoft.com/office/drawing/2014/main" id="{00D4C99F-66EC-4C96-8F6B-05A37EE3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1842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Expected Improvement — mejora esperada bajo la posterior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d4215154d4004"/>
          <a:stretch xmlns:a="http://schemas.openxmlformats.org/drawingml/2006/main"/>
        </p:blipFill>
        <p:spPr>
          <a:xfrm xmlns:a="http://schemas.openxmlformats.org/drawingml/2006/main">
            <a:off x="742950" y="4441867"/>
            <a:ext cx="4305300" cy="319199"/>
          </a:xfrm>
          <a:prstGeom xmlns:a="http://schemas.openxmlformats.org/drawingml/2006/main" prst="rect">
            <a:avLst/>
          </a:prstGeom>
        </p:spPr>
      </p:pic>
      <p:sp>
        <p:nvSpPr>
          <p:cNvPr id="11" name="ei-note">
            <a:extLst xmlns:a="http://schemas.openxmlformats.org/drawingml/2006/main">
              <a:ext uri="{FF2B5EF4-FFF2-40B4-BE49-F238E27FC236}">
                <a16:creationId xmlns:a16="http://schemas.microsoft.com/office/drawing/2014/main" id="{D6F6C109-3534-4C31-AA75-697FF4C4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4892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Φ: CDF normal · φ: densidad normal. El término con Φ empuja a explotación; el término con φ, a exploración.</a:t>
            </a:r>
          </a:p>
        </p:txBody>
      </p:sp>
      <p:sp>
        <p:nvSpPr>
          <p:cNvPr id="12" name="ei-rule">
            <a:extLst xmlns:a="http://schemas.openxmlformats.org/drawingml/2006/main">
              <a:ext uri="{FF2B5EF4-FFF2-40B4-BE49-F238E27FC236}">
                <a16:creationId xmlns:a16="http://schemas.microsoft.com/office/drawing/2014/main" id="{1D3B314D-0B55-4195-9B15-6C576D6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3042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3" name="frase">
            <a:extLst xmlns:a="http://schemas.openxmlformats.org/drawingml/2006/main">
              <a:ext uri="{FF2B5EF4-FFF2-40B4-BE49-F238E27FC236}">
                <a16:creationId xmlns:a16="http://schemas.microsoft.com/office/drawing/2014/main" id="{26BC9724-40F9-44CB-8F96-3AB9EC8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6392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máximo de EI combina una media plausible con incertidumbre; no es simplemente el mínimo de la media predictiva.</a:t>
            </a:r>
          </a:p>
        </p:txBody>
      </p:sp>
      <p:sp>
        <p:nvSpPr>
          <p:cNvPr id="14" name="infill-kicker">
            <a:extLst xmlns:a="http://schemas.openxmlformats.org/drawingml/2006/main">
              <a:ext uri="{FF2B5EF4-FFF2-40B4-BE49-F238E27FC236}">
                <a16:creationId xmlns:a16="http://schemas.microsoft.com/office/drawing/2014/main" id="{5D97CB62-2138-4826-B917-642F7244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2642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Criterio de infill en SBO</a:t>
            </a:r>
          </a:p>
        </p:txBody>
      </p:sp>
      <p:sp>
        <p:nvSpPr>
          <p:cNvPr id="15" name="infill-text">
            <a:extLst xmlns:a="http://schemas.openxmlformats.org/drawingml/2006/main">
              <a:ext uri="{FF2B5EF4-FFF2-40B4-BE49-F238E27FC236}">
                <a16:creationId xmlns:a16="http://schemas.microsoft.com/office/drawing/2014/main" id="{885A7D0B-637E-42C2-88F3-4D6A696E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2667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Evaluar a continuación el candidato que maximiza EI.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e9b510c3f40a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c938865e34c9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cf206fd154aa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3fc2abbb24419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8bdea41ef43a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f1daf4c6e4ee0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996f9b04d46ab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3bf248be44d23"/>
          <a:stretch xmlns:a="http://schemas.openxmlformats.org/drawingml/2006/main"/>
        </p:blipFill>
        <p:spPr>
          <a:xfrm xmlns:a="http://schemas.openxmlformats.org/drawingml/2006/main">
            <a:off x="5676900" y="5600700"/>
            <a:ext cx="5829300" cy="1047452"/>
          </a:xfrm>
          <a:prstGeom xmlns:a="http://schemas.openxmlformats.org/drawingml/2006/main" prst="rect">
            <a:avLst/>
          </a:prstGeom>
        </p:spPr>
      </p:pic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860B3E6-B0A7-42DC-899D-A8051CC2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22535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2026-07-04T00:38:33.3130000Z</dcterms:created>
  <dcterms:modified xsi:type="dcterms:W3CDTF">2026-07-04T00:38:33.3130000Z</dcterms:modified>
</coreProperties>
</file>