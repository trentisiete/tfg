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81dd5c483b471b" /><Relationship Type="http://schemas.openxmlformats.org/officeDocument/2006/relationships/extended-properties" Target="/docProps/app.xml" Id="R97da74f244724620" /><Relationship Type="http://schemas.openxmlformats.org/officeDocument/2006/relationships/officeDocument" Target="/ppt/presentation.xml" Id="R266d3c6889f649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e0fd26ca7c4e97"/>
  </p:sldMasterIdLst>
  <p:notesMasterIdLst>
    <p:notesMasterId xmlns:r="http://schemas.openxmlformats.org/officeDocument/2006/relationships" r:id="R62288a8892cc4f16"/>
  </p:notesMasterIdLst>
  <p:sldIdLst>
    <p:sldId xmlns:r="http://schemas.openxmlformats.org/officeDocument/2006/relationships" id="256" r:id="Rc4342e9843fb414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22f91e3fd643aa" /><Relationship Type="http://schemas.openxmlformats.org/officeDocument/2006/relationships/slideMaster" Target="/ppt/slideMasters/slideMaster1.xml" Id="Rafe0fd26ca7c4e97" /><Relationship Type="http://schemas.openxmlformats.org/officeDocument/2006/relationships/notesMaster" Target="/ppt/notesMasters/notesMaster1.xml" Id="R62288a8892cc4f16" /><Relationship Type="http://schemas.openxmlformats.org/officeDocument/2006/relationships/presProps" Target="/ppt/presProps.xml" Id="Re5b022b054874c75" /><Relationship Type="http://schemas.openxmlformats.org/officeDocument/2006/relationships/tableStyles" Target="/ppt/tableStyles.xml" Id="R2851d2d7db2d4e0b" /><Relationship Type="http://schemas.openxmlformats.org/officeDocument/2006/relationships/slide" Target="/ppt/slides/slide1.xml" Id="Rc4342e9843fb41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a47fd8e0c84c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e87d5c9ba348e0" /><Relationship Type="http://schemas.openxmlformats.org/officeDocument/2006/relationships/notesMaster" Target="/ppt/notesMasters/notesMaster1.xml" Id="R6b0d0c78fe9443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178ab6260a4e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440f9143f8446f" /><Relationship Type="http://schemas.openxmlformats.org/officeDocument/2006/relationships/slideLayout" Target="/ppt/slideLayouts/slideLayout1.xml" Id="R2fc1b337eba042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c1b337eba042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c75e3d4dc41ec" /><Relationship Type="http://schemas.openxmlformats.org/officeDocument/2006/relationships/image" Target="/ppt/media/image.png" Id="R3f664046651241fc" /><Relationship Type="http://schemas.openxmlformats.org/officeDocument/2006/relationships/image" Target="/ppt/media/image2.png" Id="R546f5d08bf0946ed" /><Relationship Type="http://schemas.openxmlformats.org/officeDocument/2006/relationships/image" Target="/ppt/media/image3.png" Id="R986ca6fe58d94f2e" /><Relationship Type="http://schemas.openxmlformats.org/officeDocument/2006/relationships/image" Target="/ppt/media/image4.png" Id="R38e5d930019d4888" /><Relationship Type="http://schemas.openxmlformats.org/officeDocument/2006/relationships/image" Target="/ppt/media/image5.png" Id="R996af81fc3fb49aa" /><Relationship Type="http://schemas.openxmlformats.org/officeDocument/2006/relationships/image" Target="/ppt/media/image6.png" Id="Rbc658e7e4b4f4444" /><Relationship Type="http://schemas.openxmlformats.org/officeDocument/2006/relationships/image" Target="/ppt/media/image7.png" Id="Rb60ba84dbaf74428" /><Relationship Type="http://schemas.openxmlformats.org/officeDocument/2006/relationships/image" Target="/ppt/media/image8.png" Id="Rd863a051d03f4c0c" /><Relationship Type="http://schemas.openxmlformats.org/officeDocument/2006/relationships/image" Target="/ppt/media/image9.png" Id="R6ac517800e264ca7" /><Relationship Type="http://schemas.openxmlformats.org/officeDocument/2006/relationships/image" Target="/ppt/media/image10.png" Id="R0af2cbcfb5f74553" /><Relationship Type="http://schemas.openxmlformats.org/officeDocument/2006/relationships/notesSlide" Target="/ppt/notesSlides/notesSlide1.xml" Id="Rea7dee3c5bd946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0AAE9FB-475A-4E9A-B434-DECB7109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PROCESO GAUSSIANO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C8B9BEB-8C57-4DD9-A381-DA6DBFDA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88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2888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Predicción por condicionamiento gaussiano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35E4B6C-AFFD-4D02-BEFB-7D9BB6DC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350" b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La posterior predictiva se obtiene condicionando la gaussiana conjunta entre observaciones y el valor latente nuevo.</a:t>
            </a:r>
          </a:p>
        </p:txBody>
      </p:sp>
      <p:sp>
        <p:nvSpPr>
          <p:cNvPr id="4" name="vars-accent">
            <a:extLst xmlns:a="http://schemas.openxmlformats.org/drawingml/2006/main">
              <a:ext uri="{FF2B5EF4-FFF2-40B4-BE49-F238E27FC236}">
                <a16:creationId xmlns:a16="http://schemas.microsoft.com/office/drawing/2014/main" id="{736478AE-C65A-481C-8E05-A7FA78CB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400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vars-kicker">
            <a:extLst xmlns:a="http://schemas.openxmlformats.org/drawingml/2006/main">
              <a:ext uri="{FF2B5EF4-FFF2-40B4-BE49-F238E27FC236}">
                <a16:creationId xmlns:a16="http://schemas.microsoft.com/office/drawing/2014/main" id="{2F27CEEC-B1A2-4FB3-80B4-C0A0CB9D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4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4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1. Antes de observar: variables aleatorias</a:t>
            </a:r>
          </a:p>
        </p:txBody>
      </p:sp>
      <p:sp>
        <p:nvSpPr>
          <p:cNvPr id="6" name="y-dot">
            <a:extLst xmlns:a="http://schemas.openxmlformats.org/drawingml/2006/main">
              <a:ext uri="{FF2B5EF4-FFF2-40B4-BE49-F238E27FC236}">
                <a16:creationId xmlns:a16="http://schemas.microsoft.com/office/drawing/2014/main" id="{D0D3CB44-E415-474F-9A97-9FDE7C60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4125"/>
            <a:ext cx="71438" cy="71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664046651241fc"/>
          <a:stretch xmlns:a="http://schemas.openxmlformats.org/drawingml/2006/main"/>
        </p:blipFill>
        <p:spPr>
          <a:xfrm xmlns:a="http://schemas.openxmlformats.org/drawingml/2006/main">
            <a:off x="949452" y="2409825"/>
            <a:ext cx="234696" cy="266700"/>
          </a:xfrm>
          <a:prstGeom xmlns:a="http://schemas.openxmlformats.org/drawingml/2006/main" prst="rect">
            <a:avLst/>
          </a:prstGeom>
        </p:spPr>
      </p:pic>
      <p:sp>
        <p:nvSpPr>
          <p:cNvPr id="8" name="y-def">
            <a:extLst xmlns:a="http://schemas.openxmlformats.org/drawingml/2006/main">
              <a:ext uri="{FF2B5EF4-FFF2-40B4-BE49-F238E27FC236}">
                <a16:creationId xmlns:a16="http://schemas.microsoft.com/office/drawing/2014/main" id="{634C9CF8-F0FE-4481-83FF-7F62F96F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57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1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1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vector aleatorio de observaciones posibles en los puntos conocidos</a:t>
            </a:r>
          </a:p>
        </p:txBody>
      </p:sp>
      <p:sp>
        <p:nvSpPr>
          <p:cNvPr id="9" name="f-dot">
            <a:extLst xmlns:a="http://schemas.openxmlformats.org/drawingml/2006/main">
              <a:ext uri="{FF2B5EF4-FFF2-40B4-BE49-F238E27FC236}">
                <a16:creationId xmlns:a16="http://schemas.microsoft.com/office/drawing/2014/main" id="{E3D2D20E-5C1D-42D3-8603-D0EEF53F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71438" cy="71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f5d08bf0946ed"/>
          <a:stretch xmlns:a="http://schemas.openxmlformats.org/drawingml/2006/main"/>
        </p:blipFill>
        <p:spPr>
          <a:xfrm xmlns:a="http://schemas.openxmlformats.org/drawingml/2006/main">
            <a:off x="933450" y="2699206"/>
            <a:ext cx="876300" cy="221338"/>
          </a:xfrm>
          <a:prstGeom xmlns:a="http://schemas.openxmlformats.org/drawingml/2006/main" prst="rect">
            <a:avLst/>
          </a:prstGeom>
        </p:spPr>
      </p:pic>
      <p:sp>
        <p:nvSpPr>
          <p:cNvPr id="11" name="f-def">
            <a:extLst xmlns:a="http://schemas.openxmlformats.org/drawingml/2006/main">
              <a:ext uri="{FF2B5EF4-FFF2-40B4-BE49-F238E27FC236}">
                <a16:creationId xmlns:a16="http://schemas.microsoft.com/office/drawing/2014/main" id="{35CF1193-F7E5-47DE-9B8F-7B139A08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7336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1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1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valor latente desconocido en una nueva entrada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ca6fe58d94f2e"/>
          <a:stretch xmlns:a="http://schemas.openxmlformats.org/drawingml/2006/main"/>
        </p:blipFill>
        <p:spPr>
          <a:xfrm xmlns:a="http://schemas.openxmlformats.org/drawingml/2006/main">
            <a:off x="4438650" y="2703577"/>
            <a:ext cx="323850" cy="212595"/>
          </a:xfrm>
          <a:prstGeom xmlns:a="http://schemas.openxmlformats.org/drawingml/2006/main" prst="rect">
            <a:avLst/>
          </a:prstGeom>
        </p:spPr>
      </p:pic>
      <p:sp>
        <p:nvSpPr>
          <p:cNvPr id="13" name="joint-frame">
            <a:extLst xmlns:a="http://schemas.openxmlformats.org/drawingml/2006/main">
              <a:ext uri="{FF2B5EF4-FFF2-40B4-BE49-F238E27FC236}">
                <a16:creationId xmlns:a16="http://schemas.microsoft.com/office/drawing/2014/main" id="{1F5CFEA5-01C2-444E-A70A-21C26A32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51054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e5d930019d4888"/>
          <a:stretch xmlns:a="http://schemas.openxmlformats.org/drawingml/2006/main"/>
        </p:blipFill>
        <p:spPr>
          <a:xfrm xmlns:a="http://schemas.openxmlformats.org/drawingml/2006/main">
            <a:off x="914400" y="3186679"/>
            <a:ext cx="4838700" cy="941842"/>
          </a:xfrm>
          <a:prstGeom xmlns:a="http://schemas.openxmlformats.org/drawingml/2006/main" prst="rect">
            <a:avLst/>
          </a:prstGeom>
        </p:spPr>
      </p:pic>
      <p:sp>
        <p:nvSpPr>
          <p:cNvPr id="15" name="left-rule">
            <a:extLst xmlns:a="http://schemas.openxmlformats.org/drawingml/2006/main">
              <a:ext uri="{FF2B5EF4-FFF2-40B4-BE49-F238E27FC236}">
                <a16:creationId xmlns:a16="http://schemas.microsoft.com/office/drawing/2014/main" id="{67F6D73E-7858-4422-955C-62551F9D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16" name="symbol-note-title">
            <a:extLst xmlns:a="http://schemas.openxmlformats.org/drawingml/2006/main">
              <a:ext uri="{FF2B5EF4-FFF2-40B4-BE49-F238E27FC236}">
                <a16:creationId xmlns:a16="http://schemas.microsoft.com/office/drawing/2014/main" id="{C7DBEEB1-CD74-4EA4-8DF3-A65F8822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4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94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Lectura de bloques</a:t>
            </a:r>
          </a:p>
        </p:txBody>
      </p:sp>
      <p:sp>
        <p:nvSpPr>
          <p:cNvPr id="17" name="symbol-note">
            <a:extLst xmlns:a="http://schemas.openxmlformats.org/drawingml/2006/main">
              <a:ext uri="{FF2B5EF4-FFF2-40B4-BE49-F238E27FC236}">
                <a16:creationId xmlns:a16="http://schemas.microsoft.com/office/drawing/2014/main" id="{67965320-4395-402A-B6BC-6D638128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1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1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El bloque de datos recoge covarianzas entre observaciones; el bloque cruzado conecta la nueva entrada con los datos; el ruido solo entra en las observaciones.</a:t>
            </a:r>
          </a:p>
        </p:txBody>
      </p:sp>
      <p:sp>
        <p:nvSpPr>
          <p:cNvPr id="18" name="middle-separator">
            <a:extLst xmlns:a="http://schemas.openxmlformats.org/drawingml/2006/main">
              <a:ext uri="{FF2B5EF4-FFF2-40B4-BE49-F238E27FC236}">
                <a16:creationId xmlns:a16="http://schemas.microsoft.com/office/drawing/2014/main" id="{9A6DBE37-6345-4E07-9F2E-02E6F774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38350"/>
            <a:ext cx="0" cy="3276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4CCC0"/>
            </a:solidFill>
            <a:prstDash val="solid"/>
          </a:ln>
        </p:spPr>
      </p:sp>
      <p:sp>
        <p:nvSpPr>
          <p:cNvPr id="19" name="cond-accent">
            <a:extLst xmlns:a="http://schemas.openxmlformats.org/drawingml/2006/main">
              <a:ext uri="{FF2B5EF4-FFF2-40B4-BE49-F238E27FC236}">
                <a16:creationId xmlns:a16="http://schemas.microsoft.com/office/drawing/2014/main" id="{E17CCFA7-826F-4051-AB46-A46FEB75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00250"/>
            <a:ext cx="400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ond-kicker">
            <a:extLst xmlns:a="http://schemas.openxmlformats.org/drawingml/2006/main">
              <a:ext uri="{FF2B5EF4-FFF2-40B4-BE49-F238E27FC236}">
                <a16:creationId xmlns:a16="http://schemas.microsoft.com/office/drawing/2014/main" id="{DF55373A-87D1-4E03-BA9E-60139621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71700"/>
            <a:ext cx="4619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45" b="1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945" b="1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2. Observamos y condicionamos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6af81fc3fb49aa"/>
          <a:stretch xmlns:a="http://schemas.openxmlformats.org/drawingml/2006/main"/>
        </p:blipFill>
        <p:spPr>
          <a:xfrm xmlns:a="http://schemas.openxmlformats.org/drawingml/2006/main">
            <a:off x="6447334" y="2438400"/>
            <a:ext cx="573681" cy="285750"/>
          </a:xfrm>
          <a:prstGeom xmlns:a="http://schemas.openxmlformats.org/drawingml/2006/main" prst="rect">
            <a:avLst/>
          </a:prstGeom>
        </p:spPr>
      </p:pic>
      <p:sp>
        <p:nvSpPr>
          <p:cNvPr id="22" name="condition-note">
            <a:extLst xmlns:a="http://schemas.openxmlformats.org/drawingml/2006/main">
              <a:ext uri="{FF2B5EF4-FFF2-40B4-BE49-F238E27FC236}">
                <a16:creationId xmlns:a16="http://schemas.microsoft.com/office/drawing/2014/main" id="{FD8C1D2E-91F5-454F-9A13-A68CCF85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955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0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al sustituir la variable aleatoria por la observación realizada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58e7e4b4f4444"/>
          <a:stretch xmlns:a="http://schemas.openxmlformats.org/drawingml/2006/main"/>
        </p:blipFill>
        <p:spPr>
          <a:xfrm xmlns:a="http://schemas.openxmlformats.org/drawingml/2006/main">
            <a:off x="6914216" y="2686050"/>
            <a:ext cx="3221318" cy="400050"/>
          </a:xfrm>
          <a:prstGeom xmlns:a="http://schemas.openxmlformats.org/drawingml/2006/main" prst="rect">
            <a:avLst/>
          </a:prstGeom>
        </p:spPr>
      </p:pic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0ba84dbaf74428"/>
          <a:stretch xmlns:a="http://schemas.openxmlformats.org/drawingml/2006/main"/>
        </p:blipFill>
        <p:spPr>
          <a:xfrm xmlns:a="http://schemas.openxmlformats.org/drawingml/2006/main">
            <a:off x="6397817" y="3143250"/>
            <a:ext cx="4616065" cy="400050"/>
          </a:xfrm>
          <a:prstGeom xmlns:a="http://schemas.openxmlformats.org/drawingml/2006/main" prst="rect">
            <a:avLst/>
          </a:prstGeom>
        </p:spPr>
      </p:pic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3a051d03f4c0c"/>
          <a:stretch xmlns:a="http://schemas.openxmlformats.org/drawingml/2006/main"/>
        </p:blipFill>
        <p:spPr>
          <a:xfrm xmlns:a="http://schemas.openxmlformats.org/drawingml/2006/main">
            <a:off x="6570230" y="3600450"/>
            <a:ext cx="3871191" cy="400050"/>
          </a:xfrm>
          <a:prstGeom xmlns:a="http://schemas.openxmlformats.org/drawingml/2006/main" prst="rect">
            <a:avLst/>
          </a:prstGeom>
        </p:spPr>
      </p:pic>
      <p:sp>
        <p:nvSpPr>
          <p:cNvPr id="26" name="cond-rule">
            <a:extLst xmlns:a="http://schemas.openxmlformats.org/drawingml/2006/main">
              <a:ext uri="{FF2B5EF4-FFF2-40B4-BE49-F238E27FC236}">
                <a16:creationId xmlns:a16="http://schemas.microsoft.com/office/drawing/2014/main" id="{2D32C98B-1ED5-4444-B1B0-7D137D95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7195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27" name="mu-dot">
            <a:extLst xmlns:a="http://schemas.openxmlformats.org/drawingml/2006/main">
              <a:ext uri="{FF2B5EF4-FFF2-40B4-BE49-F238E27FC236}">
                <a16:creationId xmlns:a16="http://schemas.microsoft.com/office/drawing/2014/main" id="{93C758BA-0E7C-46E2-9B53-FF358162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71975"/>
            <a:ext cx="71438" cy="71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u-note">
            <a:extLst xmlns:a="http://schemas.openxmlformats.org/drawingml/2006/main">
              <a:ext uri="{FF2B5EF4-FFF2-40B4-BE49-F238E27FC236}">
                <a16:creationId xmlns:a16="http://schemas.microsoft.com/office/drawing/2014/main" id="{3B17271E-5928-4C52-BD66-FBDBC4F0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05300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7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07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La media posterior desplaza el prior según el residuo observado respecto a la media previa.</a:t>
            </a:r>
          </a:p>
        </p:txBody>
      </p:sp>
      <p:sp>
        <p:nvSpPr>
          <p:cNvPr id="29" name="sigma-dot">
            <a:extLst xmlns:a="http://schemas.openxmlformats.org/drawingml/2006/main">
              <a:ext uri="{FF2B5EF4-FFF2-40B4-BE49-F238E27FC236}">
                <a16:creationId xmlns:a16="http://schemas.microsoft.com/office/drawing/2014/main" id="{49BABE10-882E-4DC8-B5F3-10073BB9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29150"/>
            <a:ext cx="71438" cy="71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igma-note">
            <a:extLst xmlns:a="http://schemas.openxmlformats.org/drawingml/2006/main">
              <a:ext uri="{FF2B5EF4-FFF2-40B4-BE49-F238E27FC236}">
                <a16:creationId xmlns:a16="http://schemas.microsoft.com/office/drawing/2014/main" id="{36CA8ACA-F049-41CD-8604-D98255F7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62475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7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07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La varianza posterior resta la información explicada por las covarianzas cruzadas.</a:t>
            </a:r>
          </a:p>
        </p:txBody>
      </p:sp>
      <p:sp>
        <p:nvSpPr>
          <p:cNvPr id="31" name="kernel-dot">
            <a:extLst xmlns:a="http://schemas.openxmlformats.org/drawingml/2006/main">
              <a:ext uri="{FF2B5EF4-FFF2-40B4-BE49-F238E27FC236}">
                <a16:creationId xmlns:a16="http://schemas.microsoft.com/office/drawing/2014/main" id="{1298E70C-4E32-4CD5-8DC3-FB69B060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86325"/>
            <a:ext cx="71438" cy="71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kernel-note">
            <a:extLst xmlns:a="http://schemas.openxmlformats.org/drawingml/2006/main">
              <a:ext uri="{FF2B5EF4-FFF2-40B4-BE49-F238E27FC236}">
                <a16:creationId xmlns:a16="http://schemas.microsoft.com/office/drawing/2014/main" id="{936C6BD2-D5C1-4A8D-BE4B-4084EC3A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19650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7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07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La influencia de los datos sobre la nueva entrada está mediada por el kernel.</a:t>
            </a:r>
          </a:p>
        </p:txBody>
      </p:sp>
      <p:sp>
        <p:nvSpPr>
          <p:cNvPr id="33" name="posterior-visual-frame">
            <a:extLst xmlns:a="http://schemas.openxmlformats.org/drawingml/2006/main">
              <a:ext uri="{FF2B5EF4-FFF2-40B4-BE49-F238E27FC236}">
                <a16:creationId xmlns:a16="http://schemas.microsoft.com/office/drawing/2014/main" id="{E868B8C3-72CE-42CB-A41A-8251DB9F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3524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517800e264ca7"/>
          <a:stretch xmlns:a="http://schemas.openxmlformats.org/drawingml/2006/main"/>
        </p:blipFill>
        <p:spPr>
          <a:xfrm xmlns:a="http://schemas.openxmlformats.org/drawingml/2006/main">
            <a:off x="1093042" y="5505450"/>
            <a:ext cx="2900265" cy="762000"/>
          </a:xfrm>
          <a:prstGeom xmlns:a="http://schemas.openxmlformats.org/drawingml/2006/main" prst="rect">
            <a:avLst/>
          </a:prstGeom>
        </p:spPr>
      </p:pic>
      <p:sp>
        <p:nvSpPr>
          <p:cNvPr id="35" name="visual-note">
            <a:extLst xmlns:a="http://schemas.openxmlformats.org/drawingml/2006/main">
              <a:ext uri="{FF2B5EF4-FFF2-40B4-BE49-F238E27FC236}">
                <a16:creationId xmlns:a16="http://schemas.microsoft.com/office/drawing/2014/main" id="{673C29C4-5694-405A-A3B0-C773945E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4864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7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Cerca de observaciones relevantes, la incertidumbre baja; lejos de los datos, la predicción vuelve hacia el prior.</a:t>
            </a:r>
          </a:p>
        </p:txBody>
      </p:sp>
      <p:sp>
        <p:nvSpPr>
          <p:cNvPr id="36" name="sbo-note">
            <a:extLst xmlns:a="http://schemas.openxmlformats.org/drawingml/2006/main">
              <a:ext uri="{FF2B5EF4-FFF2-40B4-BE49-F238E27FC236}">
                <a16:creationId xmlns:a16="http://schemas.microsoft.com/office/drawing/2014/main" id="{C5A55E91-AB36-4958-BCD8-127ED9CC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98170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90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990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Para SBO quedan exactamente dos objetos:</a:t>
            </a:r>
          </a:p>
        </p:txBody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2cbcfb5f74553"/>
          <a:stretch xmlns:a="http://schemas.openxmlformats.org/drawingml/2006/main"/>
        </p:blipFill>
        <p:spPr>
          <a:xfrm xmlns:a="http://schemas.openxmlformats.org/drawingml/2006/main">
            <a:off x="7239000" y="5861430"/>
            <a:ext cx="1143000" cy="297691"/>
          </a:xfrm>
          <a:prstGeom xmlns:a="http://schemas.openxmlformats.org/drawingml/2006/main" prst="rect">
            <a:avLst/>
          </a:prstGeom>
        </p:spPr>
      </p:pic>
      <p:sp>
        <p:nvSpPr>
          <p:cNvPr id="38" name="sbo-note-2">
            <a:extLst xmlns:a="http://schemas.openxmlformats.org/drawingml/2006/main">
              <a:ext uri="{FF2B5EF4-FFF2-40B4-BE49-F238E27FC236}">
                <a16:creationId xmlns:a16="http://schemas.microsoft.com/office/drawing/2014/main" id="{4CD63096-52A4-4617-8247-2DB1A6ED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9436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>
                <a:solidFill>
                  <a:srgbClr val="2F7D6D"/>
                </a:solidFill>
                <a:latin typeface="Google Sans"/>
                <a:ea typeface="Google Sans"/>
                <a:cs typeface="Google Sans"/>
              </a:defRPr>
            </a:pPr>
            <a:r>
              <a:rPr sz="938" b="0">
                <a:solidFill>
                  <a:srgbClr val="2F7D6D"/>
                </a:solidFill>
                <a:latin typeface="Google Sans"/>
                <a:ea typeface="Google Sans"/>
                <a:cs typeface="Google Sans"/>
              </a:rPr>
              <a:t>predicción media e incertidumbre para decidir dónde evaluar después.</a:t>
            </a:r>
          </a:p>
        </p:txBody>
      </p:sp>
      <p:sp>
        <p:nvSpPr>
          <p:cNvPr id="39" name="bottom-divider">
            <a:extLst xmlns:a="http://schemas.openxmlformats.org/drawingml/2006/main">
              <a:ext uri="{FF2B5EF4-FFF2-40B4-BE49-F238E27FC236}">
                <a16:creationId xmlns:a16="http://schemas.microsoft.com/office/drawing/2014/main" id="{0A3EC983-B2F2-4C28-A4D2-53C88D8A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4CCC0"/>
            </a:solidFill>
            <a:prstDash val="solid"/>
          </a:ln>
        </p:spPr>
      </p:sp>
      <p:sp>
        <p:nvSpPr>
          <p:cNvPr id="4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868A290-FC98-4D8C-8783-CF57A8C9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1912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917352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2026-07-02T12:40:57.8500000Z</dcterms:created>
  <dcterms:modified xsi:type="dcterms:W3CDTF">2026-07-02T12:40:57.8500000Z</dcterms:modified>
</coreProperties>
</file>