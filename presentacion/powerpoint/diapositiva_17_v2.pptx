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8823e593504d4c" /><Relationship Type="http://schemas.openxmlformats.org/officeDocument/2006/relationships/extended-properties" Target="/docProps/app.xml" Id="R6e0e191cc637400a" /><Relationship Type="http://schemas.openxmlformats.org/officeDocument/2006/relationships/officeDocument" Target="/ppt/presentation.xml" Id="R5063cbdea48b4f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14daf570464f34"/>
  </p:sldMasterIdLst>
  <p:notesMasterIdLst>
    <p:notesMasterId xmlns:r="http://schemas.openxmlformats.org/officeDocument/2006/relationships" r:id="R38ec81450c6a40eb"/>
  </p:notesMasterIdLst>
  <p:sldIdLst>
    <p:sldId xmlns:r="http://schemas.openxmlformats.org/officeDocument/2006/relationships" id="256" r:id="R97feba0cf9c94a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eb9f4e205f473d" /><Relationship Type="http://schemas.openxmlformats.org/officeDocument/2006/relationships/slideMaster" Target="/ppt/slideMasters/slideMaster1.xml" Id="R6014daf570464f34" /><Relationship Type="http://schemas.openxmlformats.org/officeDocument/2006/relationships/notesMaster" Target="/ppt/notesMasters/notesMaster1.xml" Id="R38ec81450c6a40eb" /><Relationship Type="http://schemas.openxmlformats.org/officeDocument/2006/relationships/presProps" Target="/ppt/presProps.xml" Id="R9b292f0278984cdd" /><Relationship Type="http://schemas.openxmlformats.org/officeDocument/2006/relationships/tableStyles" Target="/ppt/tableStyles.xml" Id="R71bb5380c30844aa" /><Relationship Type="http://schemas.openxmlformats.org/officeDocument/2006/relationships/slide" Target="/ppt/slides/slide1.xml" Id="R97feba0cf9c94a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331d9622914c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53d6ea6fd54637" /><Relationship Type="http://schemas.openxmlformats.org/officeDocument/2006/relationships/notesMaster" Target="/ppt/notesMasters/notesMaster1.xml" Id="R60c22e1feb4440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e9ee4550e42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d61ed3fc064faa" /><Relationship Type="http://schemas.openxmlformats.org/officeDocument/2006/relationships/slideLayout" Target="/ppt/slideLayouts/slideLayout1.xml" Id="R0d408c607c144c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408c607c144c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8cdf4f48d42c4" /><Relationship Type="http://schemas.openxmlformats.org/officeDocument/2006/relationships/image" Target="/ppt/media/image.png" Id="R42b1ce75e7df4fc7" /><Relationship Type="http://schemas.openxmlformats.org/officeDocument/2006/relationships/image" Target="/ppt/media/image2.png" Id="Rc6c5228999b04d4c" /><Relationship Type="http://schemas.openxmlformats.org/officeDocument/2006/relationships/notesSlide" Target="/ppt/notesSlides/notesSlide1.xml" Id="R4427af1be57e44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788AC6A-B3A9-4DAF-9A10-18147A9E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BENCHMARKS SINTÉTICOS / RESULTADOS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921151-C1A3-4504-9AA4-49643339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8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68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Resultados sintéticos: mejora y ritmo de búsqueda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C01E6F8-7733-48C1-9343-7A4279B4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6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EI mejora el mejor valor encontrado en los cuatro benchmarks; la dificultad condiciona la intensidad y el momento de la mejora.</a:t>
            </a:r>
          </a:p>
        </p:txBody>
      </p:sp>
      <p:sp>
        <p:nvSpPr>
          <p:cNvPr id="4" name="chart-section-title">
            <a:extLst xmlns:a="http://schemas.openxmlformats.org/drawingml/2006/main">
              <a:ext uri="{FF2B5EF4-FFF2-40B4-BE49-F238E27FC236}">
                <a16:creationId xmlns:a16="http://schemas.microsoft.com/office/drawing/2014/main" id="{8ABD6B32-5875-41D0-B3FD-122BFC2D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4881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Mejora final del incumbent</a:t>
            </a:r>
          </a:p>
        </p:txBody>
      </p:sp>
      <p:sp>
        <p:nvSpPr>
          <p:cNvPr id="5" name="chart-section-note">
            <a:extLst xmlns:a="http://schemas.openxmlformats.org/drawingml/2006/main">
              <a:ext uri="{FF2B5EF4-FFF2-40B4-BE49-F238E27FC236}">
                <a16:creationId xmlns:a16="http://schemas.microsoft.com/office/drawing/2014/main" id="{7635374C-52E9-4BC5-94C2-5B69E6FC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05000"/>
            <a:ext cx="376428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mejor modelo SBO por benchmark</a:t>
            </a:r>
          </a:p>
        </p:txBody>
      </p:sp>
      <p:sp>
        <p:nvSpPr>
          <p:cNvPr id="6" name="chart-section-rule">
            <a:extLst xmlns:a="http://schemas.openxmlformats.org/drawingml/2006/main">
              <a:ext uri="{FF2B5EF4-FFF2-40B4-BE49-F238E27FC236}">
                <a16:creationId xmlns:a16="http://schemas.microsoft.com/office/drawing/2014/main" id="{FD27A370-30EB-4EFF-8284-191ABBF8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1ce75e7df4fc7"/>
          <a:stretch xmlns:a="http://schemas.openxmlformats.org/drawingml/2006/main"/>
        </p:blipFill>
        <p:spPr>
          <a:xfrm xmlns:a="http://schemas.openxmlformats.org/drawingml/2006/main">
            <a:off x="1139026" y="2209800"/>
            <a:ext cx="6723073" cy="2781300"/>
          </a:xfrm>
          <a:prstGeom xmlns:a="http://schemas.openxmlformats.org/drawingml/2006/main" prst="rect">
            <a:avLst/>
          </a:prstGeom>
        </p:spPr>
      </p:pic>
      <p:sp>
        <p:nvSpPr>
          <p:cNvPr id="8" name="metric-note">
            <a:extLst xmlns:a="http://schemas.openxmlformats.org/drawingml/2006/main">
              <a:ext uri="{FF2B5EF4-FFF2-40B4-BE49-F238E27FC236}">
                <a16:creationId xmlns:a16="http://schemas.microsoft.com/office/drawing/2014/main" id="{1B6E1CCA-7251-404E-83DB-7F1E107C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69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Forrester, Branin y Hartmann6: reducción del gap al óptimo. Borehole: reducción relativa del mejor valor limpio.</a:t>
            </a:r>
          </a:p>
        </p:txBody>
      </p:sp>
      <p:sp>
        <p:nvSpPr>
          <p:cNvPr id="9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DAB681CF-DA8E-49CA-BB47-4385812F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190157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3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Síntesis</a:t>
            </a:r>
          </a:p>
        </p:txBody>
      </p:sp>
      <p:sp>
        <p:nvSpPr>
          <p:cNvPr id="10" name="reading-note">
            <a:extLst xmlns:a="http://schemas.openxmlformats.org/drawingml/2006/main">
              <a:ext uri="{FF2B5EF4-FFF2-40B4-BE49-F238E27FC236}">
                <a16:creationId xmlns:a16="http://schemas.microsoft.com/office/drawing/2014/main" id="{4CCFEA1A-1CF2-4453-9E9B-F9E9129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334" y="1905000"/>
            <a:ext cx="1594866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resultado y ritmo</a:t>
            </a:r>
          </a:p>
        </p:txBody>
      </p:sp>
      <p:sp>
        <p:nvSpPr>
          <p:cNvPr id="11" name="reading-rule">
            <a:extLst xmlns:a="http://schemas.openxmlformats.org/drawingml/2006/main">
              <a:ext uri="{FF2B5EF4-FFF2-40B4-BE49-F238E27FC236}">
                <a16:creationId xmlns:a16="http://schemas.microsoft.com/office/drawing/2014/main" id="{2ED40489-855C-49EF-A5DA-C498282C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5265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12" name="branin-label">
            <a:extLst xmlns:a="http://schemas.openxmlformats.org/drawingml/2006/main">
              <a:ext uri="{FF2B5EF4-FFF2-40B4-BE49-F238E27FC236}">
                <a16:creationId xmlns:a16="http://schemas.microsoft.com/office/drawing/2014/main" id="{3BC8E878-2A2D-40BE-9310-5880303E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Branin</a:t>
            </a:r>
          </a:p>
        </p:txBody>
      </p:sp>
      <p:sp>
        <p:nvSpPr>
          <p:cNvPr id="13" name="branin-body">
            <a:extLst xmlns:a="http://schemas.openxmlformats.org/drawingml/2006/main">
              <a:ext uri="{FF2B5EF4-FFF2-40B4-BE49-F238E27FC236}">
                <a16:creationId xmlns:a16="http://schemas.microsoft.com/office/drawing/2014/main" id="{A34FCB94-7E21-4CE7-82B8-3CF7F72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Mayor mejora final del mínimo encontrado.</a:t>
            </a:r>
          </a:p>
        </p:txBody>
      </p:sp>
      <p:sp>
        <p:nvSpPr>
          <p:cNvPr id="14" name="borehole-label">
            <a:extLst xmlns:a="http://schemas.openxmlformats.org/drawingml/2006/main">
              <a:ext uri="{FF2B5EF4-FFF2-40B4-BE49-F238E27FC236}">
                <a16:creationId xmlns:a16="http://schemas.microsoft.com/office/drawing/2014/main" id="{B34BE800-239E-464D-8422-CB3BD6F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Borehole</a:t>
            </a:r>
          </a:p>
        </p:txBody>
      </p:sp>
      <p:sp>
        <p:nvSpPr>
          <p:cNvPr id="15" name="borehole-body">
            <a:extLst xmlns:a="http://schemas.openxmlformats.org/drawingml/2006/main">
              <a:ext uri="{FF2B5EF4-FFF2-40B4-BE49-F238E27FC236}">
                <a16:creationId xmlns:a16="http://schemas.microsoft.com/office/drawing/2014/main" id="{1B7C82C6-12A7-42BD-8626-1DB0DE5F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Mejora fuerte y muy temprana; ratio 0.96.</a:t>
            </a:r>
          </a:p>
        </p:txBody>
      </p:sp>
      <p:sp>
        <p:nvSpPr>
          <p:cNvPr id="16" name="forrester-label">
            <a:extLst xmlns:a="http://schemas.openxmlformats.org/drawingml/2006/main">
              <a:ext uri="{FF2B5EF4-FFF2-40B4-BE49-F238E27FC236}">
                <a16:creationId xmlns:a16="http://schemas.microsoft.com/office/drawing/2014/main" id="{33C1FAF3-A807-4C21-A139-3CB0E9FD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67100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Forrester</a:t>
            </a:r>
          </a:p>
        </p:txBody>
      </p:sp>
      <p:sp>
        <p:nvSpPr>
          <p:cNvPr id="17" name="forrester-body">
            <a:extLst xmlns:a="http://schemas.openxmlformats.org/drawingml/2006/main">
              <a:ext uri="{FF2B5EF4-FFF2-40B4-BE49-F238E27FC236}">
                <a16:creationId xmlns:a16="http://schemas.microsoft.com/office/drawing/2014/main" id="{5D5194D8-50E6-4694-B62C-72C142A0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Mejora alta, pero más tardía.</a:t>
            </a:r>
          </a:p>
        </p:txBody>
      </p:sp>
      <p:sp>
        <p:nvSpPr>
          <p:cNvPr id="18" name="hartmann-label">
            <a:extLst xmlns:a="http://schemas.openxmlformats.org/drawingml/2006/main">
              <a:ext uri="{FF2B5EF4-FFF2-40B4-BE49-F238E27FC236}">
                <a16:creationId xmlns:a16="http://schemas.microsoft.com/office/drawing/2014/main" id="{D75941DA-3348-45AF-9C3F-B0047AB2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Hartmann6</a:t>
            </a:r>
          </a:p>
        </p:txBody>
      </p:sp>
      <p:sp>
        <p:nvSpPr>
          <p:cNvPr id="19" name="hartmann-body">
            <a:extLst xmlns:a="http://schemas.openxmlformats.org/drawingml/2006/main">
              <a:ext uri="{FF2B5EF4-FFF2-40B4-BE49-F238E27FC236}">
                <a16:creationId xmlns:a16="http://schemas.microsoft.com/office/drawing/2014/main" id="{B21F81C3-3747-4436-B7A6-83A0E592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00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Mejora moderada en mayor dimensión.</a:t>
            </a:r>
          </a:p>
        </p:txBody>
      </p:sp>
      <p:sp>
        <p:nvSpPr>
          <p:cNvPr id="20" name="reading-note-rule">
            <a:extLst xmlns:a="http://schemas.openxmlformats.org/drawingml/2006/main">
              <a:ext uri="{FF2B5EF4-FFF2-40B4-BE49-F238E27FC236}">
                <a16:creationId xmlns:a16="http://schemas.microsoft.com/office/drawing/2014/main" id="{EE9EB6DF-155E-4244-A41A-99E203EF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863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21" name="rhythm-note">
            <a:extLst xmlns:a="http://schemas.openxmlformats.org/drawingml/2006/main">
              <a:ext uri="{FF2B5EF4-FFF2-40B4-BE49-F238E27FC236}">
                <a16:creationId xmlns:a16="http://schemas.microsoft.com/office/drawing/2014/main" id="{6B93DB48-71D0-44BB-AD4D-7BD12F5D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7680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10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Ritmo alto = la mejora aparece pronto durante la trayectoria.</a:t>
            </a:r>
          </a:p>
        </p:txBody>
      </p:sp>
      <p:sp>
        <p:nvSpPr>
          <p:cNvPr id="2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C023E261-F236-41D2-AEDA-22C9FB50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5228999b04d4c"/>
          <a:stretch xmlns:a="http://schemas.openxmlformats.org/drawingml/2006/main"/>
        </p:blipFill>
        <p:spPr>
          <a:xfrm xmlns:a="http://schemas.openxmlformats.org/drawingml/2006/main">
            <a:off x="685800" y="5925155"/>
            <a:ext cx="2743200" cy="227390"/>
          </a:xfrm>
          <a:prstGeom xmlns:a="http://schemas.openxmlformats.org/drawingml/2006/main" prst="rect">
            <a:avLst/>
          </a:prstGeom>
        </p:spPr>
      </p:pic>
      <p:sp>
        <p:nvSpPr>
          <p:cNvPr id="24" name="closing">
            <a:extLst xmlns:a="http://schemas.openxmlformats.org/drawingml/2006/main">
              <a:ext uri="{FF2B5EF4-FFF2-40B4-BE49-F238E27FC236}">
                <a16:creationId xmlns:a16="http://schemas.microsoft.com/office/drawing/2014/main" id="{9FB2DBB0-8D62-467F-BF4A-AF56F9B6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8674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1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1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En SBO no basta con reducir error medio: importa encontrar mejores valores con pocas evaluaciones.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72B80B-0943-41F8-9AF5-8E47B61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08765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2026-07-02T20:05:01.8880000Z</dcterms:created>
  <dcterms:modified xsi:type="dcterms:W3CDTF">2026-07-02T20:05:01.8880000Z</dcterms:modified>
</coreProperties>
</file>