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70c32a4b404f7c" /><Relationship Type="http://schemas.openxmlformats.org/officeDocument/2006/relationships/extended-properties" Target="/docProps/app.xml" Id="Rcbfe18ef41a74aa4" /><Relationship Type="http://schemas.openxmlformats.org/officeDocument/2006/relationships/officeDocument" Target="/ppt/presentation.xml" Id="Rea6b0499f7d043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85b6df7c448ab"/>
  </p:sldMasterIdLst>
  <p:notesMasterIdLst>
    <p:notesMasterId xmlns:r="http://schemas.openxmlformats.org/officeDocument/2006/relationships" r:id="R6a1fa67099f145e6"/>
  </p:notesMasterIdLst>
  <p:sldIdLst>
    <p:sldId xmlns:r="http://schemas.openxmlformats.org/officeDocument/2006/relationships" id="256" r:id="Rc337ce4e9b664f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8087cff92424b" /><Relationship Type="http://schemas.openxmlformats.org/officeDocument/2006/relationships/slideMaster" Target="/ppt/slideMasters/slideMaster1.xml" Id="R37a85b6df7c448ab" /><Relationship Type="http://schemas.openxmlformats.org/officeDocument/2006/relationships/notesMaster" Target="/ppt/notesMasters/notesMaster1.xml" Id="R6a1fa67099f145e6" /><Relationship Type="http://schemas.openxmlformats.org/officeDocument/2006/relationships/presProps" Target="/ppt/presProps.xml" Id="Rbe9a57452ec24c7e" /><Relationship Type="http://schemas.openxmlformats.org/officeDocument/2006/relationships/tableStyles" Target="/ppt/tableStyles.xml" Id="Rc49e0ff2ca054d15" /><Relationship Type="http://schemas.openxmlformats.org/officeDocument/2006/relationships/slide" Target="/ppt/slides/slide1.xml" Id="Rc337ce4e9b66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d0b21b51647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3d2ae2b62b4e29" /><Relationship Type="http://schemas.openxmlformats.org/officeDocument/2006/relationships/notesMaster" Target="/ppt/notesMasters/notesMaster1.xml" Id="Re60005859b4d4a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6558c125f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a635f200f42c4" /><Relationship Type="http://schemas.openxmlformats.org/officeDocument/2006/relationships/slideLayout" Target="/ppt/slideLayouts/slideLayout1.xml" Id="R7e8e54b954c1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8e54b954c1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9cebee10949cb" /><Relationship Type="http://schemas.openxmlformats.org/officeDocument/2006/relationships/image" Target="/ppt/media/image.png" Id="Rf4482ac3598d4d1c" /><Relationship Type="http://schemas.openxmlformats.org/officeDocument/2006/relationships/image" Target="/ppt/media/image2.png" Id="R86550ec0b1d74986" /><Relationship Type="http://schemas.openxmlformats.org/officeDocument/2006/relationships/image" Target="/ppt/media/image3.png" Id="R93ac4d42ec454c3a" /><Relationship Type="http://schemas.openxmlformats.org/officeDocument/2006/relationships/notesSlide" Target="/ppt/notesSlides/notesSlide1.xml" Id="Rae86e960fcf343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BA15A1D-35B2-4CDE-8F0D-01DB57F5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BENCHMARKS SINTÉTICOS / MÉTRICAS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90EB24-DB1A-4DFD-9A90-BAE051F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Métricas: predicción y búsqueda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C2C3B3F-0F4C-4A3A-804C-FAD715DC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2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2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análisis separa el ajuste global del sustituto de la mejora del mínimo encontrado.</a:t>
            </a:r>
          </a:p>
        </p:txBody>
      </p:sp>
      <p:sp>
        <p:nvSpPr>
          <p:cNvPr id="4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BF61B69A-8A18-4A7E-BA8C-B19C783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362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Plano predictivo</a:t>
            </a:r>
          </a:p>
        </p:txBody>
      </p:sp>
      <p:sp>
        <p:nvSpPr>
          <p:cNvPr id="5" name="prediction-note">
            <a:extLst xmlns:a="http://schemas.openxmlformats.org/drawingml/2006/main">
              <a:ext uri="{FF2B5EF4-FFF2-40B4-BE49-F238E27FC236}">
                <a16:creationId xmlns:a16="http://schemas.microsoft.com/office/drawing/2014/main" id="{750CFA2B-BBA5-44F4-B475-EFC7B90F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4310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test independiente</a:t>
            </a:r>
          </a:p>
        </p:txBody>
      </p:sp>
      <p:sp>
        <p:nvSpPr>
          <p:cNvPr id="6" name="prediction-rule">
            <a:extLst xmlns:a="http://schemas.openxmlformats.org/drawingml/2006/main">
              <a:ext uri="{FF2B5EF4-FFF2-40B4-BE49-F238E27FC236}">
                <a16:creationId xmlns:a16="http://schemas.microsoft.com/office/drawing/2014/main" id="{F822740C-3F70-4924-AC34-99171D2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7" name="search-title">
            <a:extLst xmlns:a="http://schemas.openxmlformats.org/drawingml/2006/main">
              <a:ext uri="{FF2B5EF4-FFF2-40B4-BE49-F238E27FC236}">
                <a16:creationId xmlns:a16="http://schemas.microsoft.com/office/drawing/2014/main" id="{6A61C6FF-75C7-4922-AD4B-7F11CA0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32362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Plano de optimización</a:t>
            </a:r>
          </a:p>
        </p:txBody>
      </p:sp>
      <p:sp>
        <p:nvSpPr>
          <p:cNvPr id="8" name="search-note">
            <a:extLst xmlns:a="http://schemas.openxmlformats.org/drawingml/2006/main">
              <a:ext uri="{FF2B5EF4-FFF2-40B4-BE49-F238E27FC236}">
                <a16:creationId xmlns:a16="http://schemas.microsoft.com/office/drawing/2014/main" id="{DC0EEB0B-C538-4B28-9DC7-1BB8FF32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trayectoria de infill</a:t>
            </a:r>
          </a:p>
        </p:txBody>
      </p:sp>
      <p:sp>
        <p:nvSpPr>
          <p:cNvPr id="9" name="search-rule">
            <a:extLst xmlns:a="http://schemas.openxmlformats.org/drawingml/2006/main">
              <a:ext uri="{FF2B5EF4-FFF2-40B4-BE49-F238E27FC236}">
                <a16:creationId xmlns:a16="http://schemas.microsoft.com/office/drawing/2014/main" id="{66D57C6B-6C42-4449-B775-4D867E6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0" name="main-separator">
            <a:extLst xmlns:a="http://schemas.openxmlformats.org/drawingml/2006/main">
              <a:ext uri="{FF2B5EF4-FFF2-40B4-BE49-F238E27FC236}">
                <a16:creationId xmlns:a16="http://schemas.microsoft.com/office/drawing/2014/main" id="{5206ADA7-33A1-421C-8509-3D02BAF2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11" name="mae-kicker">
            <a:extLst xmlns:a="http://schemas.openxmlformats.org/drawingml/2006/main">
              <a:ext uri="{FF2B5EF4-FFF2-40B4-BE49-F238E27FC236}">
                <a16:creationId xmlns:a16="http://schemas.microsoft.com/office/drawing/2014/main" id="{F0BD3E8F-2549-4B17-B684-E8B13F5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90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ERROR DEL SUSTITUTO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82ac3598d4d1c"/>
          <a:stretch xmlns:a="http://schemas.openxmlformats.org/drawingml/2006/main"/>
        </p:blipFill>
        <p:spPr>
          <a:xfrm xmlns:a="http://schemas.openxmlformats.org/drawingml/2006/main">
            <a:off x="1724877" y="2743200"/>
            <a:ext cx="1598496" cy="428625"/>
          </a:xfrm>
          <a:prstGeom xmlns:a="http://schemas.openxmlformats.org/drawingml/2006/main" prst="rect">
            <a:avLst/>
          </a:prstGeom>
        </p:spPr>
      </p:pic>
      <p:sp>
        <p:nvSpPr>
          <p:cNvPr id="13" name="mae-copy">
            <a:extLst xmlns:a="http://schemas.openxmlformats.org/drawingml/2006/main">
              <a:ext uri="{FF2B5EF4-FFF2-40B4-BE49-F238E27FC236}">
                <a16:creationId xmlns:a16="http://schemas.microsoft.com/office/drawing/2014/main" id="{31B50E7C-D05F-463E-BAF1-E8A8992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Error absoluto medio de la media predictiva sobre un conjunto de test. Evalúa al GP como aproximador global de la función.</a:t>
            </a:r>
          </a:p>
        </p:txBody>
      </p:sp>
      <p:sp>
        <p:nvSpPr>
          <p:cNvPr id="14" name="prediction-subrule">
            <a:extLst xmlns:a="http://schemas.openxmlformats.org/drawingml/2006/main">
              <a:ext uri="{FF2B5EF4-FFF2-40B4-BE49-F238E27FC236}">
                <a16:creationId xmlns:a16="http://schemas.microsoft.com/office/drawing/2014/main" id="{7D3AEC3D-7013-4D61-B4D1-77D1D5BA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15" name="delta-mae-kicker">
            <a:extLst xmlns:a="http://schemas.openxmlformats.org/drawingml/2006/main">
              <a:ext uri="{FF2B5EF4-FFF2-40B4-BE49-F238E27FC236}">
                <a16:creationId xmlns:a16="http://schemas.microsoft.com/office/drawing/2014/main" id="{338E29DF-500F-463B-BC99-6B448A0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EVOLUCIÓN PREDICTIVA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50ec0b1d74986"/>
          <a:stretch xmlns:a="http://schemas.openxmlformats.org/drawingml/2006/main"/>
        </p:blipFill>
        <p:spPr>
          <a:xfrm xmlns:a="http://schemas.openxmlformats.org/drawingml/2006/main">
            <a:off x="1116600" y="4419600"/>
            <a:ext cx="2148300" cy="419100"/>
          </a:xfrm>
          <a:prstGeom xmlns:a="http://schemas.openxmlformats.org/drawingml/2006/main" prst="rect">
            <a:avLst/>
          </a:prstGeom>
        </p:spPr>
      </p:pic>
      <p:sp>
        <p:nvSpPr>
          <p:cNvPr id="17" name="delta-mae-copy">
            <a:extLst xmlns:a="http://schemas.openxmlformats.org/drawingml/2006/main">
              <a:ext uri="{FF2B5EF4-FFF2-40B4-BE49-F238E27FC236}">
                <a16:creationId xmlns:a16="http://schemas.microsoft.com/office/drawing/2014/main" id="{CAD897A4-A8C4-4CC4-BBBF-3515D06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Reducción relativa del MAE entre el diseño inicial y el final de la trayectoria. Resume si las nuevas observaciones mejoran la predicción media.</a:t>
            </a:r>
          </a:p>
        </p:txBody>
      </p:sp>
      <p:sp>
        <p:nvSpPr>
          <p:cNvPr id="18" name="incumbent-kicker">
            <a:extLst xmlns:a="http://schemas.openxmlformats.org/drawingml/2006/main">
              <a:ext uri="{FF2B5EF4-FFF2-40B4-BE49-F238E27FC236}">
                <a16:creationId xmlns:a16="http://schemas.microsoft.com/office/drawing/2014/main" id="{4B3DA290-66DE-4CA7-A836-F50210B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MEJOR VALOR OBSERVADO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c4d42ec454c3a"/>
          <a:stretch xmlns:a="http://schemas.openxmlformats.org/drawingml/2006/main"/>
        </p:blipFill>
        <p:spPr>
          <a:xfrm xmlns:a="http://schemas.openxmlformats.org/drawingml/2006/main">
            <a:off x="6958293" y="2771775"/>
            <a:ext cx="1361515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incumbent-copy">
            <a:extLst xmlns:a="http://schemas.openxmlformats.org/drawingml/2006/main">
              <a:ext uri="{FF2B5EF4-FFF2-40B4-BE49-F238E27FC236}">
                <a16:creationId xmlns:a16="http://schemas.microsoft.com/office/drawing/2014/main" id="{36D2010D-0658-4E77-BA83-AA2AA36A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Secuencia del mejor valor disponible hasta la iteración t. En los benchmarks de minimización es la referencia que EI intenta mejorar.</a:t>
            </a:r>
          </a:p>
        </p:txBody>
      </p:sp>
      <p:sp>
        <p:nvSpPr>
          <p:cNvPr id="21" name="search-subrule">
            <a:extLst xmlns:a="http://schemas.openxmlformats.org/drawingml/2006/main">
              <a:ext uri="{FF2B5EF4-FFF2-40B4-BE49-F238E27FC236}">
                <a16:creationId xmlns:a16="http://schemas.microsoft.com/office/drawing/2014/main" id="{2605DC5E-00D8-4250-93EC-53C35A4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4335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22" name="search-kicker">
            <a:extLst xmlns:a="http://schemas.openxmlformats.org/drawingml/2006/main">
              <a:ext uri="{FF2B5EF4-FFF2-40B4-BE49-F238E27FC236}">
                <a16:creationId xmlns:a16="http://schemas.microsoft.com/office/drawing/2014/main" id="{5E468F4F-169B-4EE2-A787-3ABA2430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CRITERIO DE ÉXITO EN SBO</a:t>
            </a:r>
          </a:p>
        </p:txBody>
      </p:sp>
      <p:sp>
        <p:nvSpPr>
          <p:cNvPr id="23" name="search-copy">
            <a:extLst xmlns:a="http://schemas.openxmlformats.org/drawingml/2006/main">
              <a:ext uri="{FF2B5EF4-FFF2-40B4-BE49-F238E27FC236}">
                <a16:creationId xmlns:a16="http://schemas.microsoft.com/office/drawing/2014/main" id="{49DCB4DD-8B2C-49EF-B4D9-9D1B8A7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0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0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mejora del incumbent mide si el proceso encuentra valores menores de la función objetivo. No exige que el GP sea el mejor predictor en promedio sobre todo el dominio.</a:t>
            </a:r>
          </a:p>
        </p:txBody>
      </p:sp>
      <p:sp>
        <p:nvSpPr>
          <p:cNvPr id="24" name="search-note">
            <a:extLst xmlns:a="http://schemas.openxmlformats.org/drawingml/2006/main">
              <a:ext uri="{FF2B5EF4-FFF2-40B4-BE49-F238E27FC236}">
                <a16:creationId xmlns:a16="http://schemas.microsoft.com/office/drawing/2014/main" id="{0E862589-D009-429F-9393-429F344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244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Por eso las tablas de resultados distinguen el mejor modelo por MAE del mejor modelo por mínimo encontrado.</a:t>
            </a:r>
          </a:p>
        </p:txBody>
      </p:sp>
      <p:sp>
        <p:nvSpPr>
          <p:cNvPr id="25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15E669B3-476E-409C-A4FA-C9351DE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6" name="closing">
            <a:extLst xmlns:a="http://schemas.openxmlformats.org/drawingml/2006/main">
              <a:ext uri="{FF2B5EF4-FFF2-40B4-BE49-F238E27FC236}">
                <a16:creationId xmlns:a16="http://schemas.microsoft.com/office/drawing/2014/main" id="{0C26D331-86DD-4BEE-940B-09F2C4B8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Un menor error medio y una mejor trayectoria de optimización son objetivos relacionados, pero no equivalentes.</a:t>
            </a:r>
          </a:p>
        </p:txBody>
      </p:sp>
      <p:sp>
        <p:nvSpPr>
          <p:cNvPr id="2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7115442-04E7-46A5-8B1D-E378C7A7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9394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2026-07-02T19:47:34.8310000Z</dcterms:created>
  <dcterms:modified xsi:type="dcterms:W3CDTF">2026-07-02T19:47:34.8310000Z</dcterms:modified>
</coreProperties>
</file>