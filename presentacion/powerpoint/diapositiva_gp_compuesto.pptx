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a37f222b5046e9" /><Relationship Type="http://schemas.openxmlformats.org/officeDocument/2006/relationships/extended-properties" Target="/docProps/app.xml" Id="Ree1e6e4fe64a48ac" /><Relationship Type="http://schemas.openxmlformats.org/officeDocument/2006/relationships/officeDocument" Target="/ppt/presentation.xml" Id="Rb9c75249a56746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c3f619c9e432d"/>
  </p:sldMasterIdLst>
  <p:notesMasterIdLst>
    <p:notesMasterId xmlns:r="http://schemas.openxmlformats.org/officeDocument/2006/relationships" r:id="R2cd5d03252964bfb"/>
  </p:notesMasterIdLst>
  <p:sldIdLst>
    <p:sldId xmlns:r="http://schemas.openxmlformats.org/officeDocument/2006/relationships" id="256" r:id="R25cef4c3e01643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be21782bd47bf" /><Relationship Type="http://schemas.openxmlformats.org/officeDocument/2006/relationships/slideMaster" Target="/ppt/slideMasters/slideMaster1.xml" Id="R5b7c3f619c9e432d" /><Relationship Type="http://schemas.openxmlformats.org/officeDocument/2006/relationships/notesMaster" Target="/ppt/notesMasters/notesMaster1.xml" Id="R2cd5d03252964bfb" /><Relationship Type="http://schemas.openxmlformats.org/officeDocument/2006/relationships/presProps" Target="/ppt/presProps.xml" Id="R490ee54cdad54337" /><Relationship Type="http://schemas.openxmlformats.org/officeDocument/2006/relationships/tableStyles" Target="/ppt/tableStyles.xml" Id="R375289f7f40c451c" /><Relationship Type="http://schemas.openxmlformats.org/officeDocument/2006/relationships/slide" Target="/ppt/slides/slide1.xml" Id="R25cef4c3e01643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7b7629edf3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d9e9fc55934dd3" /><Relationship Type="http://schemas.openxmlformats.org/officeDocument/2006/relationships/notesMaster" Target="/ppt/notesMasters/notesMaster1.xml" Id="Rbb3ca067816e43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8a352341946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8434c3318e46b0" /><Relationship Type="http://schemas.openxmlformats.org/officeDocument/2006/relationships/slideLayout" Target="/ppt/slideLayouts/slideLayout1.xml" Id="R1423148eb8de49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23148eb8de49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562a66f674d01" /><Relationship Type="http://schemas.openxmlformats.org/officeDocument/2006/relationships/image" Target="/ppt/media/image.png" Id="Ra7daf9b851ef47bf" /><Relationship Type="http://schemas.openxmlformats.org/officeDocument/2006/relationships/image" Target="/ppt/media/image2.png" Id="Ra8224bdb775d46a4" /><Relationship Type="http://schemas.openxmlformats.org/officeDocument/2006/relationships/image" Target="/ppt/media/image3.png" Id="Rb44e9a9dd9204e4a" /><Relationship Type="http://schemas.openxmlformats.org/officeDocument/2006/relationships/image" Target="/ppt/media/image4.png" Id="R7191c2a08dfb485e" /><Relationship Type="http://schemas.openxmlformats.org/officeDocument/2006/relationships/notesSlide" Target="/ppt/notesSlides/notesSlide1.xml" Id="R0af0656aabad47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02402536-B734-41C2-95A7-75A11D2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MODELO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823330-BF2D-4C91-92D9-840F497B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GP compuesto: sumar tres hipótesis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30232F1A-D659-4D70-831F-E5D33ED1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La respuesta de las larvas combina tendencia global, variación local y ruido experimental; un solo kernel no captura las tres.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af9b851ef47bf"/>
          <a:stretch xmlns:a="http://schemas.openxmlformats.org/drawingml/2006/main"/>
        </p:blipFill>
        <p:spPr>
          <a:xfrm xmlns:a="http://schemas.openxmlformats.org/drawingml/2006/main">
            <a:off x="1905000" y="1866900"/>
            <a:ext cx="8382000" cy="477774"/>
          </a:xfrm>
          <a:prstGeom xmlns:a="http://schemas.openxmlformats.org/drawingml/2006/main" prst="rect">
            <a:avLst/>
          </a:prstGeom>
        </p:spPr>
      </p:pic>
      <p:sp>
        <p:nvSpPr>
          <p:cNvPr id="5" name="card-lin">
            <a:extLst xmlns:a="http://schemas.openxmlformats.org/drawingml/2006/main">
              <a:ext uri="{FF2B5EF4-FFF2-40B4-BE49-F238E27FC236}">
                <a16:creationId xmlns:a16="http://schemas.microsoft.com/office/drawing/2014/main" id="{3DAAABAD-7E83-45A5-9573-B504EFEB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429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6" name="bar-lin">
            <a:extLst xmlns:a="http://schemas.openxmlformats.org/drawingml/2006/main">
              <a:ext uri="{FF2B5EF4-FFF2-40B4-BE49-F238E27FC236}">
                <a16:creationId xmlns:a16="http://schemas.microsoft.com/office/drawing/2014/main" id="{3A289FD1-27EF-4EB1-82EE-2FFDC352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icker-lin">
            <a:extLst xmlns:a="http://schemas.openxmlformats.org/drawingml/2006/main">
              <a:ext uri="{FF2B5EF4-FFF2-40B4-BE49-F238E27FC236}">
                <a16:creationId xmlns:a16="http://schemas.microsoft.com/office/drawing/2014/main" id="{FB27CCBD-500F-4F1C-AA17-7C670BF6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97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COMPONENTE LINEAL</a:t>
            </a:r>
          </a:p>
        </p:txBody>
      </p:sp>
      <p:sp>
        <p:nvSpPr>
          <p:cNvPr id="8" name="sub-lin">
            <a:extLst xmlns:a="http://schemas.openxmlformats.org/drawingml/2006/main">
              <a:ext uri="{FF2B5EF4-FFF2-40B4-BE49-F238E27FC236}">
                <a16:creationId xmlns:a16="http://schemas.microsoft.com/office/drawing/2014/main" id="{C6AC7F02-B12D-409C-B9B5-1C0EB97D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Tendencia global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24bdb775d46a4"/>
          <a:stretch xmlns:a="http://schemas.openxmlformats.org/drawingml/2006/main"/>
        </p:blipFill>
        <p:spPr>
          <a:xfrm xmlns:a="http://schemas.openxmlformats.org/drawingml/2006/main">
            <a:off x="1209675" y="3619500"/>
            <a:ext cx="2381250" cy="1412328"/>
          </a:xfrm>
          <a:prstGeom xmlns:a="http://schemas.openxmlformats.org/drawingml/2006/main" prst="rect">
            <a:avLst/>
          </a:prstGeom>
        </p:spPr>
      </p:pic>
      <p:sp>
        <p:nvSpPr>
          <p:cNvPr id="10" name="desc-lin">
            <a:extLst xmlns:a="http://schemas.openxmlformats.org/drawingml/2006/main">
              <a:ext uri="{FF2B5EF4-FFF2-40B4-BE49-F238E27FC236}">
                <a16:creationId xmlns:a16="http://schemas.microsoft.com/office/drawing/2014/main" id="{EBD7C2B2-4F14-4F08-83A0-E3CCF902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Cómo cambia la respuesta con la composición y el porcentaje de inclusión.</a:t>
            </a:r>
          </a:p>
        </p:txBody>
      </p:sp>
      <p:sp>
        <p:nvSpPr>
          <p:cNvPr id="11" name="card-mat">
            <a:extLst xmlns:a="http://schemas.openxmlformats.org/drawingml/2006/main">
              <a:ext uri="{FF2B5EF4-FFF2-40B4-BE49-F238E27FC236}">
                <a16:creationId xmlns:a16="http://schemas.microsoft.com/office/drawing/2014/main" id="{15AEE91B-EAA7-4B78-B086-F26DF761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12" name="bar-mat">
            <a:extLst xmlns:a="http://schemas.openxmlformats.org/drawingml/2006/main">
              <a:ext uri="{FF2B5EF4-FFF2-40B4-BE49-F238E27FC236}">
                <a16:creationId xmlns:a16="http://schemas.microsoft.com/office/drawing/2014/main" id="{866BC8A6-CC2D-4055-B9DC-DAE401A8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kicker-mat">
            <a:extLst xmlns:a="http://schemas.openxmlformats.org/drawingml/2006/main">
              <a:ext uri="{FF2B5EF4-FFF2-40B4-BE49-F238E27FC236}">
                <a16:creationId xmlns:a16="http://schemas.microsoft.com/office/drawing/2014/main" id="{D0CA709D-A6DE-4118-B0F3-B6F100C0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8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COMPONENTE MATÉRN 5/2</a:t>
            </a:r>
          </a:p>
        </p:txBody>
      </p:sp>
      <p:sp>
        <p:nvSpPr>
          <p:cNvPr id="14" name="sub-mat">
            <a:extLst xmlns:a="http://schemas.openxmlformats.org/drawingml/2006/main">
              <a:ext uri="{FF2B5EF4-FFF2-40B4-BE49-F238E27FC236}">
                <a16:creationId xmlns:a16="http://schemas.microsoft.com/office/drawing/2014/main" id="{1DB8B67A-B026-405B-BE58-9E6B8365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Variación local suave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e9a9dd9204e4a"/>
          <a:stretch xmlns:a="http://schemas.openxmlformats.org/drawingml/2006/main"/>
        </p:blipFill>
        <p:spPr>
          <a:xfrm xmlns:a="http://schemas.openxmlformats.org/drawingml/2006/main">
            <a:off x="4905375" y="3619500"/>
            <a:ext cx="2381250" cy="1412328"/>
          </a:xfrm>
          <a:prstGeom xmlns:a="http://schemas.openxmlformats.org/drawingml/2006/main" prst="rect">
            <a:avLst/>
          </a:prstGeom>
        </p:spPr>
      </p:pic>
      <p:sp>
        <p:nvSpPr>
          <p:cNvPr id="16" name="desc-mat">
            <a:extLst xmlns:a="http://schemas.openxmlformats.org/drawingml/2006/main">
              <a:ext uri="{FF2B5EF4-FFF2-40B4-BE49-F238E27FC236}">
                <a16:creationId xmlns:a16="http://schemas.microsoft.com/office/drawing/2014/main" id="{15EF4691-D459-4C46-B68C-A895BFF9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292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Desviaciones específicas del subproducto que la recta no recoge.</a:t>
            </a:r>
          </a:p>
        </p:txBody>
      </p:sp>
      <p:sp>
        <p:nvSpPr>
          <p:cNvPr id="17" name="card-wht">
            <a:extLst xmlns:a="http://schemas.openxmlformats.org/drawingml/2006/main">
              <a:ext uri="{FF2B5EF4-FFF2-40B4-BE49-F238E27FC236}">
                <a16:creationId xmlns:a16="http://schemas.microsoft.com/office/drawing/2014/main" id="{E45F9E13-AD10-47E5-B6E1-29C9C8A8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3429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18" name="bar-wht">
            <a:extLst xmlns:a="http://schemas.openxmlformats.org/drawingml/2006/main">
              <a:ext uri="{FF2B5EF4-FFF2-40B4-BE49-F238E27FC236}">
                <a16:creationId xmlns:a16="http://schemas.microsoft.com/office/drawing/2014/main" id="{76934EF1-8AA6-4E49-9266-5B8FD2CF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kicker-wht">
            <a:extLst xmlns:a="http://schemas.openxmlformats.org/drawingml/2006/main">
              <a:ext uri="{FF2B5EF4-FFF2-40B4-BE49-F238E27FC236}">
                <a16:creationId xmlns:a16="http://schemas.microsoft.com/office/drawing/2014/main" id="{AC1EE0FF-CA38-4A6E-AC89-606496D3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97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25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COMPONENTE RUIDO BLANCO</a:t>
            </a:r>
          </a:p>
        </p:txBody>
      </p:sp>
      <p:sp>
        <p:nvSpPr>
          <p:cNvPr id="20" name="sub-wht">
            <a:extLst xmlns:a="http://schemas.openxmlformats.org/drawingml/2006/main">
              <a:ext uri="{FF2B5EF4-FFF2-40B4-BE49-F238E27FC236}">
                <a16:creationId xmlns:a16="http://schemas.microsoft.com/office/drawing/2014/main" id="{69C9E17F-3B08-4D4A-9E60-BBCB08A4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Variabilidad experimental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1c2a08dfb485e"/>
          <a:stretch xmlns:a="http://schemas.openxmlformats.org/drawingml/2006/main"/>
        </p:blipFill>
        <p:spPr>
          <a:xfrm xmlns:a="http://schemas.openxmlformats.org/drawingml/2006/main">
            <a:off x="8601075" y="3619500"/>
            <a:ext cx="2381250" cy="1412328"/>
          </a:xfrm>
          <a:prstGeom xmlns:a="http://schemas.openxmlformats.org/drawingml/2006/main" prst="rect">
            <a:avLst/>
          </a:prstGeom>
        </p:spPr>
      </p:pic>
      <p:sp>
        <p:nvSpPr>
          <p:cNvPr id="22" name="desc-wht">
            <a:extLst xmlns:a="http://schemas.openxmlformats.org/drawingml/2006/main">
              <a:ext uri="{FF2B5EF4-FFF2-40B4-BE49-F238E27FC236}">
                <a16:creationId xmlns:a16="http://schemas.microsoft.com/office/drawing/2014/main" id="{6F662395-100E-4B32-9C85-3C517E32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Ruido de laboratorio no explicado por las covariables disponibles.</a:t>
            </a:r>
          </a:p>
        </p:txBody>
      </p:sp>
      <p:sp>
        <p:nvSpPr>
          <p:cNvPr id="23" name="bottom-rule">
            <a:extLst xmlns:a="http://schemas.openxmlformats.org/drawingml/2006/main">
              <a:ext uri="{FF2B5EF4-FFF2-40B4-BE49-F238E27FC236}">
                <a16:creationId xmlns:a16="http://schemas.microsoft.com/office/drawing/2014/main" id="{4464EBD2-31D5-41A0-98A6-C4627379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24" name="closing-a">
            <a:extLst xmlns:a="http://schemas.openxmlformats.org/drawingml/2006/main">
              <a:ext uri="{FF2B5EF4-FFF2-40B4-BE49-F238E27FC236}">
                <a16:creationId xmlns:a16="http://schemas.microsoft.com/office/drawing/2014/main" id="{F4BC5EC7-48A5-491F-A181-E870A4E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Se adopta como modelo principal:</a:t>
            </a:r>
          </a:p>
        </p:txBody>
      </p:sp>
      <p:sp>
        <p:nvSpPr>
          <p:cNvPr id="25" name="closing-b">
            <a:extLst xmlns:a="http://schemas.openxmlformats.org/drawingml/2006/main">
              <a:ext uri="{FF2B5EF4-FFF2-40B4-BE49-F238E27FC236}">
                <a16:creationId xmlns:a16="http://schemas.microsoft.com/office/drawing/2014/main" id="{38701D83-B99B-4999-B85F-BD7BE02C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817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mejor combinación observada de flexibilidad y robustez.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DBF3BC75-8F30-4104-A4CB-A746506F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88319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2026-07-04T11:45:03.9220000Z</dcterms:created>
  <dcterms:modified xsi:type="dcterms:W3CDTF">2026-07-04T11:45:03.9220000Z</dcterms:modified>
</coreProperties>
</file>