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2db05cacc249e3" /><Relationship Type="http://schemas.openxmlformats.org/officeDocument/2006/relationships/extended-properties" Target="/docProps/app.xml" Id="R918d5d1229ed4c5b" /><Relationship Type="http://schemas.openxmlformats.org/officeDocument/2006/relationships/officeDocument" Target="/ppt/presentation.xml" Id="R8341e9f0a48f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3197cfdff144db"/>
  </p:sldMasterIdLst>
  <p:notesMasterIdLst>
    <p:notesMasterId xmlns:r="http://schemas.openxmlformats.org/officeDocument/2006/relationships" r:id="Re343a2b810c24ba1"/>
  </p:notesMasterIdLst>
  <p:sldIdLst>
    <p:sldId xmlns:r="http://schemas.openxmlformats.org/officeDocument/2006/relationships" id="256" r:id="Re7d5fd68b96f45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8b597743e44fca" /><Relationship Type="http://schemas.openxmlformats.org/officeDocument/2006/relationships/slideMaster" Target="/ppt/slideMasters/slideMaster1.xml" Id="R753197cfdff144db" /><Relationship Type="http://schemas.openxmlformats.org/officeDocument/2006/relationships/notesMaster" Target="/ppt/notesMasters/notesMaster1.xml" Id="Re343a2b810c24ba1" /><Relationship Type="http://schemas.openxmlformats.org/officeDocument/2006/relationships/presProps" Target="/ppt/presProps.xml" Id="R8b60884d82ad4f9e" /><Relationship Type="http://schemas.openxmlformats.org/officeDocument/2006/relationships/tableStyles" Target="/ppt/tableStyles.xml" Id="Rdeca15d25f0440c2" /><Relationship Type="http://schemas.openxmlformats.org/officeDocument/2006/relationships/slide" Target="/ppt/slides/slide1.xml" Id="Re7d5fd68b96f45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3b9b5260fd4e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92d497b8e34771" /><Relationship Type="http://schemas.openxmlformats.org/officeDocument/2006/relationships/notesMaster" Target="/ppt/notesMasters/notesMaster1.xml" Id="R978414f7ff7e49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48dde37a845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a6d7382b0341cd" /><Relationship Type="http://schemas.openxmlformats.org/officeDocument/2006/relationships/slideLayout" Target="/ppt/slideLayouts/slideLayout1.xml" Id="R614fae4cad63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14fae4cad63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71b477ae574cc4" /><Relationship Type="http://schemas.openxmlformats.org/officeDocument/2006/relationships/image" Target="/ppt/media/image.png" Id="R7c88296f32b048c1" /><Relationship Type="http://schemas.openxmlformats.org/officeDocument/2006/relationships/image" Target="/ppt/media/image2.png" Id="R011bfef19ffd429a" /><Relationship Type="http://schemas.openxmlformats.org/officeDocument/2006/relationships/image" Target="/ppt/media/image3.png" Id="Rac311df63c084c6e" /><Relationship Type="http://schemas.openxmlformats.org/officeDocument/2006/relationships/image" Target="/ppt/media/image4.png" Id="Rfc47943dc1ff435f" /><Relationship Type="http://schemas.openxmlformats.org/officeDocument/2006/relationships/image" Target="/ppt/media/image5.png" Id="Rb2b15e9114564512" /><Relationship Type="http://schemas.openxmlformats.org/officeDocument/2006/relationships/image" Target="/ppt/media/image6.png" Id="R1fe680da45a94498" /><Relationship Type="http://schemas.openxmlformats.org/officeDocument/2006/relationships/image" Target="/ppt/media/image7.png" Id="R08d1cabeca5f4bce" /><Relationship Type="http://schemas.openxmlformats.org/officeDocument/2006/relationships/image" Target="/ppt/media/image8.png" Id="R62cd9838ffc940f5" /><Relationship Type="http://schemas.openxmlformats.org/officeDocument/2006/relationships/image" Target="/ppt/media/image9.png" Id="R258e08831c9e4ba9" /><Relationship Type="http://schemas.openxmlformats.org/officeDocument/2006/relationships/notesSlide" Target="/ppt/notesSlides/notesSlide1.xml" Id="Rf770b64ae69f41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8E8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81DFC32-54E4-46B0-98EB-1BFAEA54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METODOLOGÍA / SBO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32C4A69-761B-40C8-8145-0FC07C1A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2475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dilema exploración-explotación</a:t>
            </a:r>
          </a:p>
        </p:txBody>
      </p:sp>
      <p:sp>
        <p:nvSpPr>
          <p:cNvPr id="3" name="idea">
            <a:extLst xmlns:a="http://schemas.openxmlformats.org/drawingml/2006/main">
              <a:ext uri="{FF2B5EF4-FFF2-40B4-BE49-F238E27FC236}">
                <a16:creationId xmlns:a16="http://schemas.microsoft.com/office/drawing/2014/main" id="{99696945-806D-48B7-8F5C-647EFA61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463" b="1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El GP aporta una media y una incertidumbre; decidir la siguiente evaluación exige equilibrar ambas.</a:t>
            </a:r>
          </a:p>
        </p:txBody>
      </p:sp>
      <p:sp>
        <p:nvSpPr>
          <p:cNvPr id="4" name="idea-rule">
            <a:extLst xmlns:a="http://schemas.openxmlformats.org/drawingml/2006/main">
              <a:ext uri="{FF2B5EF4-FFF2-40B4-BE49-F238E27FC236}">
                <a16:creationId xmlns:a16="http://schemas.microsoft.com/office/drawing/2014/main" id="{8A8A243C-08C9-469A-BE20-29D41870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5" name="block-kicker-0">
            <a:extLst xmlns:a="http://schemas.openxmlformats.org/drawingml/2006/main">
              <a:ext uri="{FF2B5EF4-FFF2-40B4-BE49-F238E27FC236}">
                <a16:creationId xmlns:a16="http://schemas.microsoft.com/office/drawing/2014/main" id="{9E50BB9D-497C-4EEF-9E06-2D0D8D05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174C5B"/>
                </a:solidFill>
                <a:latin typeface="Google Sans"/>
                <a:ea typeface="Google Sans"/>
                <a:cs typeface="Google Sans"/>
              </a:rPr>
              <a:t>EXPLOTACIÓN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8296f32b048c1"/>
          <a:stretch xmlns:a="http://schemas.openxmlformats.org/drawingml/2006/main"/>
        </p:blipFill>
        <p:spPr>
          <a:xfrm xmlns:a="http://schemas.openxmlformats.org/drawingml/2006/main">
            <a:off x="742950" y="2914650"/>
            <a:ext cx="2905125" cy="513910"/>
          </a:xfrm>
          <a:prstGeom xmlns:a="http://schemas.openxmlformats.org/drawingml/2006/main" prst="rect">
            <a:avLst/>
          </a:prstGeom>
        </p:spPr>
      </p:pic>
      <p:sp>
        <p:nvSpPr>
          <p:cNvPr id="7" name="block-line-0-0">
            <a:extLst xmlns:a="http://schemas.openxmlformats.org/drawingml/2006/main">
              <a:ext uri="{FF2B5EF4-FFF2-40B4-BE49-F238E27FC236}">
                <a16:creationId xmlns:a16="http://schemas.microsoft.com/office/drawing/2014/main" id="{9EE0D19A-FEBE-47BE-B84E-EEB3C876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286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Prioriza entradas con mejor media predictiva.</a:t>
            </a:r>
          </a:p>
        </p:txBody>
      </p:sp>
      <p:sp>
        <p:nvSpPr>
          <p:cNvPr id="8" name="block-line-0-1">
            <a:extLst xmlns:a="http://schemas.openxmlformats.org/drawingml/2006/main">
              <a:ext uri="{FF2B5EF4-FFF2-40B4-BE49-F238E27FC236}">
                <a16:creationId xmlns:a16="http://schemas.microsoft.com/office/drawing/2014/main" id="{43826449-E5D4-479D-B913-7067AC81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41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Riesgo: refinar una cuenca local demasiado pronto.</a:t>
            </a:r>
          </a:p>
        </p:txBody>
      </p:sp>
      <p:sp>
        <p:nvSpPr>
          <p:cNvPr id="9" name="block-rule-1">
            <a:extLst xmlns:a="http://schemas.openxmlformats.org/drawingml/2006/main">
              <a:ext uri="{FF2B5EF4-FFF2-40B4-BE49-F238E27FC236}">
                <a16:creationId xmlns:a16="http://schemas.microsoft.com/office/drawing/2014/main" id="{D1A7A28A-62B5-4F8C-993C-7E5EBAFD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36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0DAD1"/>
            </a:solidFill>
            <a:prstDash val="solid"/>
          </a:ln>
        </p:spPr>
      </p:sp>
      <p:sp>
        <p:nvSpPr>
          <p:cNvPr id="10" name="block-kicker-1">
            <a:extLst xmlns:a="http://schemas.openxmlformats.org/drawingml/2006/main">
              <a:ext uri="{FF2B5EF4-FFF2-40B4-BE49-F238E27FC236}">
                <a16:creationId xmlns:a16="http://schemas.microsoft.com/office/drawing/2014/main" id="{26331DD9-D281-4546-BA3A-BBCF380F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4860"/>
            <a:ext cx="438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C9822B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C9822B"/>
                </a:solidFill>
                <a:latin typeface="Google Sans"/>
                <a:ea typeface="Google Sans"/>
                <a:cs typeface="Google Sans"/>
              </a:rPr>
              <a:t>EXPLORACIÓN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1bfef19ffd429a"/>
          <a:stretch xmlns:a="http://schemas.openxmlformats.org/drawingml/2006/main"/>
        </p:blipFill>
        <p:spPr>
          <a:xfrm xmlns:a="http://schemas.openxmlformats.org/drawingml/2006/main">
            <a:off x="742950" y="4552510"/>
            <a:ext cx="2952750" cy="515773"/>
          </a:xfrm>
          <a:prstGeom xmlns:a="http://schemas.openxmlformats.org/drawingml/2006/main" prst="rect">
            <a:avLst/>
          </a:prstGeom>
        </p:spPr>
      </p:pic>
      <p:sp>
        <p:nvSpPr>
          <p:cNvPr id="12" name="block-line-1-0">
            <a:extLst xmlns:a="http://schemas.openxmlformats.org/drawingml/2006/main">
              <a:ext uri="{FF2B5EF4-FFF2-40B4-BE49-F238E27FC236}">
                <a16:creationId xmlns:a16="http://schemas.microsoft.com/office/drawing/2014/main" id="{0A3B7BF4-3A83-429B-AC4F-09D0AA59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2582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Prioriza regiones con alta incertidumbre.</a:t>
            </a:r>
          </a:p>
        </p:txBody>
      </p:sp>
      <p:sp>
        <p:nvSpPr>
          <p:cNvPr id="13" name="block-line-1-1">
            <a:extLst xmlns:a="http://schemas.openxmlformats.org/drawingml/2006/main">
              <a:ext uri="{FF2B5EF4-FFF2-40B4-BE49-F238E27FC236}">
                <a16:creationId xmlns:a16="http://schemas.microsoft.com/office/drawing/2014/main" id="{94F79803-A2D8-4168-BFAB-BFD3B7986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2132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3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Riesgo: evaluar zonas poco prometedoras.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11df63c084c6e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7943dc1ff435f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b15e9114564512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680da45a94498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1cabeca5f4bce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d9838ffc940f5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e08831c9e4ba9"/>
          <a:stretch xmlns:a="http://schemas.openxmlformats.org/drawingml/2006/main"/>
        </p:blipFill>
        <p:spPr>
          <a:xfrm xmlns:a="http://schemas.openxmlformats.org/drawingml/2006/main">
            <a:off x="5676900" y="1600349"/>
            <a:ext cx="5829300" cy="3962102"/>
          </a:xfrm>
          <a:prstGeom xmlns:a="http://schemas.openxmlformats.org/drawingml/2006/main" prst="rect">
            <a:avLst/>
          </a:prstGeom>
        </p:spPr>
      </p:pic>
      <p:sp>
        <p:nvSpPr>
          <p:cNvPr id="21" name="fig-caption">
            <a:extLst xmlns:a="http://schemas.openxmlformats.org/drawingml/2006/main">
              <a:ext uri="{FF2B5EF4-FFF2-40B4-BE49-F238E27FC236}">
                <a16:creationId xmlns:a16="http://schemas.microsoft.com/office/drawing/2014/main" id="{72855645-CDE8-439F-984C-6FF72CF5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638800"/>
            <a:ext cx="5829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la función real es solo referencia didáctica: el sustituto decide con la media y la incertidumbre</a:t>
            </a:r>
          </a:p>
        </p:txBody>
      </p:sp>
      <p:sp>
        <p:nvSpPr>
          <p:cNvPr id="22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54A1554-A706-4704-AAA6-93F73953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9605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1F2933"/>
                </a:solidFill>
                <a:latin typeface="Google Sans"/>
                <a:ea typeface="Google Sans"/>
                <a:cs typeface="Google San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50804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2026-07-04T00:38:32.5580000Z</dcterms:created>
  <dcterms:modified xsi:type="dcterms:W3CDTF">2026-07-04T00:38:32.5580000Z</dcterms:modified>
</coreProperties>
</file>