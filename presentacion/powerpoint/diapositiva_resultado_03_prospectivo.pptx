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323f64cff841e8" /><Relationship Type="http://schemas.openxmlformats.org/officeDocument/2006/relationships/extended-properties" Target="/docProps/app.xml" Id="R44971736b5ff40cb" /><Relationship Type="http://schemas.openxmlformats.org/officeDocument/2006/relationships/officeDocument" Target="/ppt/presentation.xml" Id="Re0c2aa8b249b44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a45e1d8cf94de9"/>
  </p:sldMasterIdLst>
  <p:notesMasterIdLst>
    <p:notesMasterId xmlns:r="http://schemas.openxmlformats.org/officeDocument/2006/relationships" r:id="R75d5616837374c3f"/>
  </p:notesMasterIdLst>
  <p:sldIdLst>
    <p:sldId xmlns:r="http://schemas.openxmlformats.org/officeDocument/2006/relationships" id="256" r:id="Re5768699645641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71f5081b074cac" /><Relationship Type="http://schemas.openxmlformats.org/officeDocument/2006/relationships/slideMaster" Target="/ppt/slideMasters/slideMaster1.xml" Id="Rf8a45e1d8cf94de9" /><Relationship Type="http://schemas.openxmlformats.org/officeDocument/2006/relationships/notesMaster" Target="/ppt/notesMasters/notesMaster1.xml" Id="R75d5616837374c3f" /><Relationship Type="http://schemas.openxmlformats.org/officeDocument/2006/relationships/presProps" Target="/ppt/presProps.xml" Id="R1ecfc9f7847544aa" /><Relationship Type="http://schemas.openxmlformats.org/officeDocument/2006/relationships/tableStyles" Target="/ppt/tableStyles.xml" Id="R13e47cdb89164f22" /><Relationship Type="http://schemas.openxmlformats.org/officeDocument/2006/relationships/slide" Target="/ppt/slides/slide1.xml" Id="Re5768699645641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d909e6162444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27624297d14c0f" /><Relationship Type="http://schemas.openxmlformats.org/officeDocument/2006/relationships/notesMaster" Target="/ppt/notesMasters/notesMaster1.xml" Id="R3cb12316b220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0e0dbd7ac44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61916dc3e8402c" /><Relationship Type="http://schemas.openxmlformats.org/officeDocument/2006/relationships/slideLayout" Target="/ppt/slideLayouts/slideLayout1.xml" Id="Ree42e32fc9fb43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2e32fc9fb43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0c1315ad7425c" /><Relationship Type="http://schemas.openxmlformats.org/officeDocument/2006/relationships/notesSlide" Target="/ppt/notesSlides/notesSlide1.xml" Id="R21e6f23ee58c41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F1D56E2C-B356-4B80-A93E-B1D54D0C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· RESULTADOS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F14EFE-92D9-4510-9D62-A01848FF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Resultado 3: candidatos EI para nuevas dietas</a:t>
            </a:r>
          </a:p>
        </p:txBody>
      </p:sp>
      <p:sp>
        <p:nvSpPr>
          <p:cNvPr id="3" name="message">
            <a:extLst xmlns:a="http://schemas.openxmlformats.org/drawingml/2006/main">
              <a:ext uri="{FF2B5EF4-FFF2-40B4-BE49-F238E27FC236}">
                <a16:creationId xmlns:a16="http://schemas.microsoft.com/office/drawing/2014/main" id="{B391D535-07B1-4F0C-8979-55DFA1F2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EI señala candidatos informativos por su incertidumbre; en media todavía no superan al incumbent observado.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0B0E5E4-2411-4D14-A9F4-8A82BEA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25</a:t>
            </a:r>
          </a:p>
        </p:txBody>
      </p:sp>
      <p:sp>
        <p:nvSpPr>
          <p:cNvPr id="5" name="h-obj">
            <a:extLst xmlns:a="http://schemas.openxmlformats.org/drawingml/2006/main">
              <a:ext uri="{FF2B5EF4-FFF2-40B4-BE49-F238E27FC236}">
                <a16:creationId xmlns:a16="http://schemas.microsoft.com/office/drawing/2014/main" id="{823FFCF0-0F43-4084-9B9D-ECA5DF5D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Objetivo</a:t>
            </a:r>
          </a:p>
        </p:txBody>
      </p:sp>
      <p:sp>
        <p:nvSpPr>
          <p:cNvPr id="6" name="h-inc">
            <a:extLst xmlns:a="http://schemas.openxmlformats.org/drawingml/2006/main">
              <a:ext uri="{FF2B5EF4-FFF2-40B4-BE49-F238E27FC236}">
                <a16:creationId xmlns:a16="http://schemas.microsoft.com/office/drawing/2014/main" id="{BE2F5E46-4301-496F-BD7B-FCF54243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098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Incumbent observado</a:t>
            </a:r>
          </a:p>
        </p:txBody>
      </p:sp>
      <p:sp>
        <p:nvSpPr>
          <p:cNvPr id="7" name="h-cand">
            <a:extLst xmlns:a="http://schemas.openxmlformats.org/drawingml/2006/main">
              <a:ext uri="{FF2B5EF4-FFF2-40B4-BE49-F238E27FC236}">
                <a16:creationId xmlns:a16="http://schemas.microsoft.com/office/drawing/2014/main" id="{71AFCA14-3D84-4815-BA72-655D1C8F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Candidato EI</a:t>
            </a:r>
          </a:p>
        </p:txBody>
      </p:sp>
      <p:sp>
        <p:nvSpPr>
          <p:cNvPr id="8" name="h-pred">
            <a:extLst xmlns:a="http://schemas.openxmlformats.org/drawingml/2006/main">
              <a:ext uri="{FF2B5EF4-FFF2-40B4-BE49-F238E27FC236}">
                <a16:creationId xmlns:a16="http://schemas.microsoft.com/office/drawing/2014/main" id="{EEC08647-88FC-4B71-B667-EF40FAE1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Predicción  μ ± σ</a:t>
            </a:r>
          </a:p>
        </p:txBody>
      </p:sp>
      <p:sp>
        <p:nvSpPr>
          <p:cNvPr id="9" name="h-ei">
            <a:extLst xmlns:a="http://schemas.openxmlformats.org/drawingml/2006/main">
              <a:ext uri="{FF2B5EF4-FFF2-40B4-BE49-F238E27FC236}">
                <a16:creationId xmlns:a16="http://schemas.microsoft.com/office/drawing/2014/main" id="{194D05D6-239C-4C32-9EE2-A75731B4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EI</a:t>
            </a:r>
          </a:p>
        </p:txBody>
      </p:sp>
      <p:sp>
        <p:nvSpPr>
          <p:cNvPr id="10" name="h-read">
            <a:extLst xmlns:a="http://schemas.openxmlformats.org/drawingml/2006/main">
              <a:ext uri="{FF2B5EF4-FFF2-40B4-BE49-F238E27FC236}">
                <a16:creationId xmlns:a16="http://schemas.microsoft.com/office/drawing/2014/main" id="{32763BA3-AAA0-4C02-9F2F-A1BB72CE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436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Lectura</a:t>
            </a:r>
          </a:p>
        </p:txBody>
      </p:sp>
      <p:sp>
        <p:nvSpPr>
          <p:cNvPr id="11" name="head-rule">
            <a:extLst xmlns:a="http://schemas.openxmlformats.org/drawingml/2006/main">
              <a:ext uri="{FF2B5EF4-FFF2-40B4-BE49-F238E27FC236}">
                <a16:creationId xmlns:a16="http://schemas.microsoft.com/office/drawing/2014/main" id="{5CC3C2A2-7775-4376-A6E2-BE0290D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4C5B"/>
            </a:solidFill>
            <a:prstDash val="solid"/>
          </a:ln>
        </p:spPr>
      </p:sp>
      <p:sp>
        <p:nvSpPr>
          <p:cNvPr id="12" name="r-obj-0">
            <a:extLst xmlns:a="http://schemas.openxmlformats.org/drawingml/2006/main">
              <a:ext uri="{FF2B5EF4-FFF2-40B4-BE49-F238E27FC236}">
                <a16:creationId xmlns:a16="http://schemas.microsoft.com/office/drawing/2014/main" id="{93EAAA22-0CF8-4C9F-8392-1E023B1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FCR</a:t>
            </a:r>
          </a:p>
        </p:txBody>
      </p:sp>
      <p:sp>
        <p:nvSpPr>
          <p:cNvPr id="13" name="r-inc-d-0">
            <a:extLst xmlns:a="http://schemas.openxmlformats.org/drawingml/2006/main">
              <a:ext uri="{FF2B5EF4-FFF2-40B4-BE49-F238E27FC236}">
                <a16:creationId xmlns:a16="http://schemas.microsoft.com/office/drawing/2014/main" id="{0EF4DE15-55AE-4FBD-BC3C-0D38A015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384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Quinoa30</a:t>
            </a:r>
          </a:p>
        </p:txBody>
      </p:sp>
      <p:sp>
        <p:nvSpPr>
          <p:cNvPr id="14" name="r-inc-v-0">
            <a:extLst xmlns:a="http://schemas.openxmlformats.org/drawingml/2006/main">
              <a:ext uri="{FF2B5EF4-FFF2-40B4-BE49-F238E27FC236}">
                <a16:creationId xmlns:a16="http://schemas.microsoft.com/office/drawing/2014/main" id="{517FD6DD-1FC2-4544-8C42-CD72D308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7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1.543</a:t>
            </a:r>
          </a:p>
        </p:txBody>
      </p:sp>
      <p:sp>
        <p:nvSpPr>
          <p:cNvPr id="15" name="r-cand-0">
            <a:extLst xmlns:a="http://schemas.openxmlformats.org/drawingml/2006/main">
              <a:ext uri="{FF2B5EF4-FFF2-40B4-BE49-F238E27FC236}">
                <a16:creationId xmlns:a16="http://schemas.microsoft.com/office/drawing/2014/main" id="{73B5EB91-12F2-41F5-A589-38419772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Quinoa16</a:t>
            </a:r>
          </a:p>
        </p:txBody>
      </p:sp>
      <p:sp>
        <p:nvSpPr>
          <p:cNvPr id="16" name="r-pred-0">
            <a:extLst xmlns:a="http://schemas.openxmlformats.org/drawingml/2006/main">
              <a:ext uri="{FF2B5EF4-FFF2-40B4-BE49-F238E27FC236}">
                <a16:creationId xmlns:a16="http://schemas.microsoft.com/office/drawing/2014/main" id="{548DC92F-17BD-4195-8D64-C16B6D1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1.726</a:t>
            </a:r>
          </a:p>
        </p:txBody>
      </p:sp>
      <p:sp>
        <p:nvSpPr>
          <p:cNvPr id="17" name="r-pred-s-0">
            <a:extLst xmlns:a="http://schemas.openxmlformats.org/drawingml/2006/main">
              <a:ext uri="{FF2B5EF4-FFF2-40B4-BE49-F238E27FC236}">
                <a16:creationId xmlns:a16="http://schemas.microsoft.com/office/drawing/2014/main" id="{B233F4DA-E3AA-4A24-BE81-6B12E486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± 0.065</a:t>
            </a:r>
          </a:p>
        </p:txBody>
      </p:sp>
      <p:sp>
        <p:nvSpPr>
          <p:cNvPr id="18" name="r-ei-0">
            <a:extLst xmlns:a="http://schemas.openxmlformats.org/drawingml/2006/main">
              <a:ext uri="{FF2B5EF4-FFF2-40B4-BE49-F238E27FC236}">
                <a16:creationId xmlns:a16="http://schemas.microsoft.com/office/drawing/2014/main" id="{12137ED2-DF36-4314-83FB-E2089C51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2.7·10⁻⁵</a:t>
            </a:r>
          </a:p>
        </p:txBody>
      </p:sp>
      <p:sp>
        <p:nvSpPr>
          <p:cNvPr id="19" name="r-read-0">
            <a:extLst xmlns:a="http://schemas.openxmlformats.org/drawingml/2006/main">
              <a:ext uri="{FF2B5EF4-FFF2-40B4-BE49-F238E27FC236}">
                <a16:creationId xmlns:a16="http://schemas.microsoft.com/office/drawing/2014/main" id="{DB61943D-094A-4C0F-B372-42011555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4362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media predicha no mejora al incumbent: candidato exploratorio.</a:t>
            </a:r>
          </a:p>
        </p:txBody>
      </p:sp>
      <p:sp>
        <p:nvSpPr>
          <p:cNvPr id="20" name="row-rule-0">
            <a:extLst xmlns:a="http://schemas.openxmlformats.org/drawingml/2006/main">
              <a:ext uri="{FF2B5EF4-FFF2-40B4-BE49-F238E27FC236}">
                <a16:creationId xmlns:a16="http://schemas.microsoft.com/office/drawing/2014/main" id="{5755D1E6-9A3B-4720-A90E-14B1F0D5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1" name="r-obj-1">
            <a:extLst xmlns:a="http://schemas.openxmlformats.org/drawingml/2006/main">
              <a:ext uri="{FF2B5EF4-FFF2-40B4-BE49-F238E27FC236}">
                <a16:creationId xmlns:a16="http://schemas.microsoft.com/office/drawing/2014/main" id="{90DF651E-E3B6-44C8-8EAE-44053BBE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Quitina</a:t>
            </a:r>
          </a:p>
        </p:txBody>
      </p:sp>
      <p:sp>
        <p:nvSpPr>
          <p:cNvPr id="22" name="r-inc-d-1">
            <a:extLst xmlns:a="http://schemas.openxmlformats.org/drawingml/2006/main">
              <a:ext uri="{FF2B5EF4-FFF2-40B4-BE49-F238E27FC236}">
                <a16:creationId xmlns:a16="http://schemas.microsoft.com/office/drawing/2014/main" id="{E9682583-D597-4950-A27E-7F4E0E2E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290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Orujo70</a:t>
            </a:r>
          </a:p>
        </p:txBody>
      </p:sp>
      <p:sp>
        <p:nvSpPr>
          <p:cNvPr id="23" name="r-inc-v-1">
            <a:extLst xmlns:a="http://schemas.openxmlformats.org/drawingml/2006/main">
              <a:ext uri="{FF2B5EF4-FFF2-40B4-BE49-F238E27FC236}">
                <a16:creationId xmlns:a16="http://schemas.microsoft.com/office/drawing/2014/main" id="{75B78D0B-7D6C-4869-BD00-23EF8147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386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7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15.318 %</a:t>
            </a:r>
          </a:p>
        </p:txBody>
      </p:sp>
      <p:sp>
        <p:nvSpPr>
          <p:cNvPr id="24" name="r-cand-1">
            <a:extLst xmlns:a="http://schemas.openxmlformats.org/drawingml/2006/main">
              <a:ext uri="{FF2B5EF4-FFF2-40B4-BE49-F238E27FC236}">
                <a16:creationId xmlns:a16="http://schemas.microsoft.com/office/drawing/2014/main" id="{F5BFA5C5-0B0A-4499-BB78-E0D546E3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052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Orujo89</a:t>
            </a:r>
          </a:p>
        </p:txBody>
      </p:sp>
      <p:sp>
        <p:nvSpPr>
          <p:cNvPr id="25" name="r-pred-1">
            <a:extLst xmlns:a="http://schemas.openxmlformats.org/drawingml/2006/main">
              <a:ext uri="{FF2B5EF4-FFF2-40B4-BE49-F238E27FC236}">
                <a16:creationId xmlns:a16="http://schemas.microsoft.com/office/drawing/2014/main" id="{923E1C88-F1A7-4B4D-8E1E-1B60F851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12.658</a:t>
            </a:r>
          </a:p>
        </p:txBody>
      </p:sp>
      <p:sp>
        <p:nvSpPr>
          <p:cNvPr id="26" name="r-pred-s-1">
            <a:extLst xmlns:a="http://schemas.openxmlformats.org/drawingml/2006/main">
              <a:ext uri="{FF2B5EF4-FFF2-40B4-BE49-F238E27FC236}">
                <a16:creationId xmlns:a16="http://schemas.microsoft.com/office/drawing/2014/main" id="{4E2C84C8-EC7E-40D3-B78D-8D659E81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243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± 1.061 %</a:t>
            </a:r>
          </a:p>
        </p:txBody>
      </p:sp>
      <p:sp>
        <p:nvSpPr>
          <p:cNvPr id="27" name="r-ei-1">
            <a:extLst xmlns:a="http://schemas.openxmlformats.org/drawingml/2006/main">
              <a:ext uri="{FF2B5EF4-FFF2-40B4-BE49-F238E27FC236}">
                <a16:creationId xmlns:a16="http://schemas.microsoft.com/office/drawing/2014/main" id="{3F792234-39FD-4ED6-AB91-52F995D7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0.002</a:t>
            </a:r>
          </a:p>
        </p:txBody>
      </p:sp>
      <p:sp>
        <p:nvSpPr>
          <p:cNvPr id="28" name="r-read-1">
            <a:extLst xmlns:a="http://schemas.openxmlformats.org/drawingml/2006/main">
              <a:ext uri="{FF2B5EF4-FFF2-40B4-BE49-F238E27FC236}">
                <a16:creationId xmlns:a16="http://schemas.microsoft.com/office/drawing/2014/main" id="{778B55D5-C1BD-427C-B9F9-620DD80D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4362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EI prioriza orujo de alta inclusión, sin superar en media al mejor valor observado.</a:t>
            </a:r>
          </a:p>
        </p:txBody>
      </p:sp>
      <p:sp>
        <p:nvSpPr>
          <p:cNvPr id="29" name="row-rule-1">
            <a:extLst xmlns:a="http://schemas.openxmlformats.org/drawingml/2006/main">
              <a:ext uri="{FF2B5EF4-FFF2-40B4-BE49-F238E27FC236}">
                <a16:creationId xmlns:a16="http://schemas.microsoft.com/office/drawing/2014/main" id="{A6E80636-4849-4AA7-A219-CE7A008B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30" name="r-obj-2">
            <a:extLst xmlns:a="http://schemas.openxmlformats.org/drawingml/2006/main">
              <a:ext uri="{FF2B5EF4-FFF2-40B4-BE49-F238E27FC236}">
                <a16:creationId xmlns:a16="http://schemas.microsoft.com/office/drawing/2014/main" id="{CBCFEB21-E3A8-496C-92DB-A578FC9B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Proteína</a:t>
            </a:r>
          </a:p>
        </p:txBody>
      </p:sp>
      <p:sp>
        <p:nvSpPr>
          <p:cNvPr id="31" name="r-inc-d-2">
            <a:extLst xmlns:a="http://schemas.openxmlformats.org/drawingml/2006/main">
              <a:ext uri="{FF2B5EF4-FFF2-40B4-BE49-F238E27FC236}">
                <a16:creationId xmlns:a16="http://schemas.microsoft.com/office/drawing/2014/main" id="{4ECC93EC-C91B-4568-8A3F-6B4C9302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Orujo50</a:t>
            </a:r>
          </a:p>
        </p:txBody>
      </p:sp>
      <p:sp>
        <p:nvSpPr>
          <p:cNvPr id="32" name="r-inc-v-2">
            <a:extLst xmlns:a="http://schemas.openxmlformats.org/drawingml/2006/main">
              <a:ext uri="{FF2B5EF4-FFF2-40B4-BE49-F238E27FC236}">
                <a16:creationId xmlns:a16="http://schemas.microsoft.com/office/drawing/2014/main" id="{05EB056A-5863-4A78-A2C0-5330290F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292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7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32.147 %</a:t>
            </a:r>
          </a:p>
        </p:txBody>
      </p:sp>
      <p:sp>
        <p:nvSpPr>
          <p:cNvPr id="33" name="r-cand-2">
            <a:extLst xmlns:a="http://schemas.openxmlformats.org/drawingml/2006/main">
              <a:ext uri="{FF2B5EF4-FFF2-40B4-BE49-F238E27FC236}">
                <a16:creationId xmlns:a16="http://schemas.microsoft.com/office/drawing/2014/main" id="{6DD1D9DF-825D-4C2E-85F2-D07CBEF6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958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Orujo31</a:t>
            </a:r>
          </a:p>
        </p:txBody>
      </p:sp>
      <p:sp>
        <p:nvSpPr>
          <p:cNvPr id="34" name="r-pred-2">
            <a:extLst xmlns:a="http://schemas.openxmlformats.org/drawingml/2006/main">
              <a:ext uri="{FF2B5EF4-FFF2-40B4-BE49-F238E27FC236}">
                <a16:creationId xmlns:a16="http://schemas.microsoft.com/office/drawing/2014/main" id="{BE52FC09-4371-49A4-B981-5DD7EC8C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95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30.938</a:t>
            </a:r>
          </a:p>
        </p:txBody>
      </p:sp>
      <p:sp>
        <p:nvSpPr>
          <p:cNvPr id="35" name="r-pred-s-2">
            <a:extLst xmlns:a="http://schemas.openxmlformats.org/drawingml/2006/main">
              <a:ext uri="{FF2B5EF4-FFF2-40B4-BE49-F238E27FC236}">
                <a16:creationId xmlns:a16="http://schemas.microsoft.com/office/drawing/2014/main" id="{721E683F-97F1-4595-B3EA-F8508C27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14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± 0.912 %</a:t>
            </a:r>
          </a:p>
        </p:txBody>
      </p:sp>
      <p:sp>
        <p:nvSpPr>
          <p:cNvPr id="36" name="r-ei-2">
            <a:extLst xmlns:a="http://schemas.openxmlformats.org/drawingml/2006/main">
              <a:ext uri="{FF2B5EF4-FFF2-40B4-BE49-F238E27FC236}">
                <a16:creationId xmlns:a16="http://schemas.microsoft.com/office/drawing/2014/main" id="{9DD0032A-E515-42E4-91EE-CC762CD8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95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0.038</a:t>
            </a:r>
          </a:p>
        </p:txBody>
      </p:sp>
      <p:sp>
        <p:nvSpPr>
          <p:cNvPr id="37" name="r-read-2">
            <a:extLst xmlns:a="http://schemas.openxmlformats.org/drawingml/2006/main">
              <a:ext uri="{FF2B5EF4-FFF2-40B4-BE49-F238E27FC236}">
                <a16:creationId xmlns:a16="http://schemas.microsoft.com/office/drawing/2014/main" id="{4FB117F0-6A37-42BE-87AF-58FC9A95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38700"/>
            <a:ext cx="4362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Zona de orujo no ensayada, pero la media sigue por debajo del incumbent.</a:t>
            </a:r>
          </a:p>
        </p:txBody>
      </p:sp>
      <p:sp>
        <p:nvSpPr>
          <p:cNvPr id="38" name="prudence">
            <a:extLst xmlns:a="http://schemas.openxmlformats.org/drawingml/2006/main">
              <a:ext uri="{FF2B5EF4-FFF2-40B4-BE49-F238E27FC236}">
                <a16:creationId xmlns:a16="http://schemas.microsoft.com/office/drawing/2014/main" id="{988043BD-7FC7-4FF8-9DED-8A0C0342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Candidatos prospectivos no ensayados: hipótesis a validar, no óptimos confirmados.</a:t>
            </a:r>
          </a:p>
        </p:txBody>
      </p:sp>
      <p:sp>
        <p:nvSpPr>
          <p:cNvPr id="3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92F32AE3-57C6-4BF9-8C5C-0841749B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40" name="closing-a">
            <a:extLst xmlns:a="http://schemas.openxmlformats.org/drawingml/2006/main">
              <a:ext uri="{FF2B5EF4-FFF2-40B4-BE49-F238E27FC236}">
                <a16:creationId xmlns:a16="http://schemas.microsoft.com/office/drawing/2014/main" id="{C6E7F788-C897-45B0-87CC-E18EDE0D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7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cierre real del ciclo</a:t>
            </a:r>
          </a:p>
        </p:txBody>
      </p:sp>
      <p:sp>
        <p:nvSpPr>
          <p:cNvPr id="41" name="closing-b">
            <a:extLst xmlns:a="http://schemas.openxmlformats.org/drawingml/2006/main">
              <a:ext uri="{FF2B5EF4-FFF2-40B4-BE49-F238E27FC236}">
                <a16:creationId xmlns:a16="http://schemas.microsoft.com/office/drawing/2014/main" id="{7DAE244E-2805-418E-B1BC-2A46E489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960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sería ensayar el candidato, añadirlo al dataset y reentrenar el GP.</a:t>
            </a:r>
          </a:p>
        </p:txBody>
      </p:sp>
    </p:spTree>
    <p:extLst>
      <p:ext uri="{BB962C8B-B14F-4D97-AF65-F5344CB8AC3E}">
        <p14:creationId xmlns:p14="http://schemas.microsoft.com/office/powerpoint/2010/main" val="683256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2026-07-04T11:54:39.1010000Z</dcterms:created>
  <dcterms:modified xsi:type="dcterms:W3CDTF">2026-07-04T11:54:39.1010000Z</dcterms:modified>
</coreProperties>
</file>